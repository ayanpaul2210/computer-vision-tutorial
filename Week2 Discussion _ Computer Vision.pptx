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Arial Black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ArialBlack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3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42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35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39.png"/><Relationship Id="rId13" Type="http://schemas.openxmlformats.org/officeDocument/2006/relationships/image" Target="../media/image59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30.png"/><Relationship Id="rId9" Type="http://schemas.openxmlformats.org/officeDocument/2006/relationships/image" Target="../media/image43.png"/><Relationship Id="rId5" Type="http://schemas.openxmlformats.org/officeDocument/2006/relationships/image" Target="../media/image32.png"/><Relationship Id="rId6" Type="http://schemas.openxmlformats.org/officeDocument/2006/relationships/image" Target="../media/image56.png"/><Relationship Id="rId7" Type="http://schemas.openxmlformats.org/officeDocument/2006/relationships/image" Target="../media/image33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Relationship Id="rId4" Type="http://schemas.openxmlformats.org/officeDocument/2006/relationships/image" Target="../media/image60.png"/><Relationship Id="rId5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0.png"/><Relationship Id="rId4" Type="http://schemas.openxmlformats.org/officeDocument/2006/relationships/image" Target="../media/image47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58.png"/><Relationship Id="rId6" Type="http://schemas.openxmlformats.org/officeDocument/2006/relationships/image" Target="../media/image46.png"/><Relationship Id="rId7" Type="http://schemas.openxmlformats.org/officeDocument/2006/relationships/image" Target="../media/image62.png"/><Relationship Id="rId8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1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6.png"/><Relationship Id="rId4" Type="http://schemas.openxmlformats.org/officeDocument/2006/relationships/image" Target="../media/image63.png"/><Relationship Id="rId5" Type="http://schemas.openxmlformats.org/officeDocument/2006/relationships/image" Target="../media/image55.png"/><Relationship Id="rId6" Type="http://schemas.openxmlformats.org/officeDocument/2006/relationships/image" Target="../media/image73.png"/><Relationship Id="rId7" Type="http://schemas.openxmlformats.org/officeDocument/2006/relationships/image" Target="../media/image82.png"/><Relationship Id="rId8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85.png"/><Relationship Id="rId6" Type="http://schemas.openxmlformats.org/officeDocument/2006/relationships/image" Target="../media/image70.png"/><Relationship Id="rId7" Type="http://schemas.openxmlformats.org/officeDocument/2006/relationships/image" Target="../media/image7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4.png"/><Relationship Id="rId4" Type="http://schemas.openxmlformats.org/officeDocument/2006/relationships/image" Target="../media/image77.png"/><Relationship Id="rId5" Type="http://schemas.openxmlformats.org/officeDocument/2006/relationships/image" Target="../media/image69.png"/><Relationship Id="rId6" Type="http://schemas.openxmlformats.org/officeDocument/2006/relationships/image" Target="../media/image8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3.png"/><Relationship Id="rId4" Type="http://schemas.openxmlformats.org/officeDocument/2006/relationships/image" Target="../media/image80.png"/><Relationship Id="rId5" Type="http://schemas.openxmlformats.org/officeDocument/2006/relationships/image" Target="../media/image68.png"/><Relationship Id="rId6" Type="http://schemas.openxmlformats.org/officeDocument/2006/relationships/image" Target="../media/image7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86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Week-2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baseline="30000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1" i="0" lang="en-US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 Aug,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0" y="0"/>
            <a:ext cx="3568588" cy="3462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Space and Projective Space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0" y="342339"/>
            <a:ext cx="87511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computer vision,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space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space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mathematical concepts used to represent and manipulate points in images and 3D scenes. </a:t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194" y="2837347"/>
            <a:ext cx="4088646" cy="2218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5573" y="2787193"/>
            <a:ext cx="4459289" cy="221861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/>
          <p:nvPr/>
        </p:nvSpPr>
        <p:spPr>
          <a:xfrm>
            <a:off x="82566" y="980026"/>
            <a:ext cx="2523070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Space (Euclidean Space)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0" y="1402198"/>
            <a:ext cx="458009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space refers to the familiar coordinate space with real-valued coordinates, such as: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2D real space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ℝ² → (x, y)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real space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ℝ³ → (x, y, z)</a:t>
            </a:r>
            <a:endParaRPr/>
          </a:p>
        </p:txBody>
      </p:sp>
      <p:sp>
        <p:nvSpPr>
          <p:cNvPr id="139" name="Google Shape;139;p25"/>
          <p:cNvSpPr txBox="1"/>
          <p:nvPr/>
        </p:nvSpPr>
        <p:spPr>
          <a:xfrm>
            <a:off x="4833965" y="984079"/>
            <a:ext cx="3408801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Space (Homogeneous Space)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4563908" y="1372066"/>
            <a:ext cx="458009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space adds an extra coordinate to represent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points at infinity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enables transformations like perspective projection. Points are represented using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 coordinates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2D projective space: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ℙ² → [x, y, k]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projective space: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ℙ³ → [x, y, z, k]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3488" y="398496"/>
            <a:ext cx="1308459" cy="49523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-1" y="0"/>
            <a:ext cx="3152991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Points and lines in Projective Space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08885"/>
            <a:ext cx="3461173" cy="186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3119516"/>
            <a:ext cx="2941446" cy="1476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 txBox="1"/>
          <p:nvPr/>
        </p:nvSpPr>
        <p:spPr>
          <a:xfrm>
            <a:off x="8467" y="2624097"/>
            <a:ext cx="985520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sp>
        <p:nvSpPr>
          <p:cNvPr id="150" name="Google Shape;150;p26"/>
          <p:cNvSpPr txBox="1"/>
          <p:nvPr/>
        </p:nvSpPr>
        <p:spPr>
          <a:xfrm>
            <a:off x="6593235" y="143687"/>
            <a:ext cx="985520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Duality</a:t>
            </a:r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5447936" y="535561"/>
            <a:ext cx="355382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9525" marR="3810" rtl="0" algn="just">
              <a:lnSpc>
                <a:spcPct val="9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any theorem of 2-dimensional projective geometry there corresponds a dual theorem, which may be derived by interchanging the role of points and lines in the original theorem.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1403" y="1448446"/>
            <a:ext cx="1989184" cy="831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2990" y="2986115"/>
            <a:ext cx="2938413" cy="16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6"/>
          <p:cNvSpPr txBox="1"/>
          <p:nvPr/>
        </p:nvSpPr>
        <p:spPr>
          <a:xfrm>
            <a:off x="3277085" y="2627097"/>
            <a:ext cx="2338009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of Parallel Lines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6931901" y="2571750"/>
            <a:ext cx="1710872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at Infinity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2720" y="2900323"/>
            <a:ext cx="2640494" cy="182519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4186433" y="4570649"/>
            <a:ext cx="4233028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term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canonical system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(or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canonical coordinate system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usually refers to a </a:t>
            </a:r>
            <a:r>
              <a:rPr b="1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standard, fixed reference frame</a:t>
            </a:r>
            <a:r>
              <a:rPr b="0" i="0" lang="en-US" sz="10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is used for simplifying geometry, transformations, and projections. </a:t>
            </a:r>
            <a:endParaRPr b="0" i="0" sz="1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/>
        </p:nvSpPr>
        <p:spPr>
          <a:xfrm>
            <a:off x="27094" y="0"/>
            <a:ext cx="1514446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Vanishing points</a:t>
            </a:r>
            <a:endParaRPr/>
          </a:p>
        </p:txBody>
      </p:sp>
      <p:pic>
        <p:nvPicPr>
          <p:cNvPr id="163" name="Google Shape;1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65" y="329960"/>
            <a:ext cx="4870027" cy="229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392" y="352148"/>
            <a:ext cx="1638854" cy="168688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7"/>
          <p:cNvSpPr txBox="1"/>
          <p:nvPr/>
        </p:nvSpPr>
        <p:spPr>
          <a:xfrm>
            <a:off x="6488335" y="183"/>
            <a:ext cx="1700626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real life example</a:t>
            </a:r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170877" y="2725631"/>
            <a:ext cx="2556139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Conics in Homogenous Space</a:t>
            </a:r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3247062" y="3276802"/>
            <a:ext cx="1951204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Tangent lines to conics</a:t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6562595" y="2138612"/>
            <a:ext cx="1552105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Conics</a:t>
            </a:r>
            <a:endParaRPr/>
          </a:p>
        </p:txBody>
      </p:sp>
      <p:sp>
        <p:nvSpPr>
          <p:cNvPr id="169" name="Google Shape;169;p27"/>
          <p:cNvSpPr txBox="1"/>
          <p:nvPr/>
        </p:nvSpPr>
        <p:spPr>
          <a:xfrm>
            <a:off x="5445150" y="2403470"/>
            <a:ext cx="3786993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 conic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(also called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conic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conic envelope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a conic defined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terms of lines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instead of points.</a:t>
            </a:r>
            <a:endParaRPr/>
          </a:p>
          <a:p>
            <a:pPr indent="-76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represents the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of lines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tangent to a given conic.</a:t>
            </a:r>
            <a:endParaRPr/>
          </a:p>
          <a:p>
            <a:pPr indent="-76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instead of checking if a point lies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conic, we check if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tangent</a:t>
            </a: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it.</a:t>
            </a:r>
            <a:endParaRPr/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6153" y="3371459"/>
            <a:ext cx="2362477" cy="1771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5523" y="4202436"/>
            <a:ext cx="1061383" cy="835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7260" y="3315067"/>
            <a:ext cx="999646" cy="7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809" y="3114686"/>
            <a:ext cx="3170253" cy="182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45338" y="3561465"/>
            <a:ext cx="2476500" cy="15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/>
        </p:nvSpPr>
        <p:spPr>
          <a:xfrm>
            <a:off x="0" y="27657"/>
            <a:ext cx="2379058" cy="2846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transformation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389" y="483701"/>
            <a:ext cx="4017285" cy="136171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174389" y="2016797"/>
            <a:ext cx="1039416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of H</a:t>
            </a:r>
            <a:endParaRPr/>
          </a:p>
        </p:txBody>
      </p:sp>
      <p:pic>
        <p:nvPicPr>
          <p:cNvPr id="182" name="Google Shape;18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82" y="2546264"/>
            <a:ext cx="2822862" cy="1657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4290" y="2515835"/>
            <a:ext cx="3492128" cy="205046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 txBox="1"/>
          <p:nvPr/>
        </p:nvSpPr>
        <p:spPr>
          <a:xfrm>
            <a:off x="3410909" y="2038294"/>
            <a:ext cx="2084638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Estimation of H</a:t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6437065" y="2038294"/>
            <a:ext cx="2581358" cy="50010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of the line under H</a:t>
            </a:r>
            <a:endParaRPr/>
          </a:p>
        </p:txBody>
      </p:sp>
      <p:pic>
        <p:nvPicPr>
          <p:cNvPr id="186" name="Google Shape;18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7065" y="2678412"/>
            <a:ext cx="2687553" cy="135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 title="cv ta 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1975" y="27650"/>
            <a:ext cx="4696449" cy="156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/>
        </p:nvSpPr>
        <p:spPr>
          <a:xfrm>
            <a:off x="1021464" y="88864"/>
            <a:ext cx="2926209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Removing projective distortion</a:t>
            </a:r>
            <a:endParaRPr/>
          </a:p>
        </p:txBody>
      </p:sp>
      <p:pic>
        <p:nvPicPr>
          <p:cNvPr id="193" name="Google Shape;19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71" y="536173"/>
            <a:ext cx="4687796" cy="2611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5132" y="536173"/>
            <a:ext cx="4228868" cy="227814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9"/>
          <p:cNvSpPr txBox="1"/>
          <p:nvPr/>
        </p:nvSpPr>
        <p:spPr>
          <a:xfrm>
            <a:off x="768800" y="3195628"/>
            <a:ext cx="3187744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 Linear Transformation (DLT)</a:t>
            </a:r>
            <a:endParaRPr/>
          </a:p>
        </p:txBody>
      </p:sp>
      <p:pic>
        <p:nvPicPr>
          <p:cNvPr id="196" name="Google Shape;19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248" y="3528119"/>
            <a:ext cx="3414840" cy="161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5132" y="2911110"/>
            <a:ext cx="37338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139432" y="72680"/>
            <a:ext cx="3817573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about Point and line transformation in H 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4944754" y="72680"/>
            <a:ext cx="1237562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pic>
        <p:nvPicPr>
          <p:cNvPr id="204" name="Google Shape;2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3432" y="566441"/>
            <a:ext cx="4275688" cy="1937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30"/>
          <p:cNvGrpSpPr/>
          <p:nvPr/>
        </p:nvGrpSpPr>
        <p:grpSpPr>
          <a:xfrm>
            <a:off x="139432" y="3156882"/>
            <a:ext cx="2964267" cy="1401608"/>
            <a:chOff x="196077" y="3154776"/>
            <a:chExt cx="3760928" cy="1778297"/>
          </a:xfrm>
        </p:grpSpPr>
        <p:pic>
          <p:nvPicPr>
            <p:cNvPr id="206" name="Google Shape;206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077" y="3154776"/>
              <a:ext cx="3327850" cy="17782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30"/>
            <p:cNvPicPr preferRelativeResize="0"/>
            <p:nvPr/>
          </p:nvPicPr>
          <p:blipFill rotWithShape="1">
            <a:blip r:embed="rId5">
              <a:alphaModFix/>
            </a:blip>
            <a:srcRect b="14096" l="0" r="0" t="0"/>
            <a:stretch/>
          </p:blipFill>
          <p:spPr>
            <a:xfrm>
              <a:off x="2794816" y="4463604"/>
              <a:ext cx="1162189" cy="45456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8" name="Google Shape;20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8395" y="3175451"/>
            <a:ext cx="2923921" cy="151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306493" y="2553700"/>
            <a:ext cx="1237562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1</a:t>
            </a:r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3707192" y="2581953"/>
            <a:ext cx="1237562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2</a:t>
            </a:r>
            <a:endParaRPr/>
          </a:p>
        </p:txBody>
      </p:sp>
      <p:sp>
        <p:nvSpPr>
          <p:cNvPr id="211" name="Google Shape;211;p30"/>
          <p:cNvSpPr txBox="1"/>
          <p:nvPr/>
        </p:nvSpPr>
        <p:spPr>
          <a:xfrm>
            <a:off x="6331225" y="2581953"/>
            <a:ext cx="2673342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Computing Vanishing Line</a:t>
            </a:r>
            <a:endParaRPr/>
          </a:p>
        </p:txBody>
      </p:sp>
      <p:pic>
        <p:nvPicPr>
          <p:cNvPr id="212" name="Google Shape;21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5162" y="3092129"/>
            <a:ext cx="2768838" cy="1648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005" y="292271"/>
            <a:ext cx="3810000" cy="22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/>
        </p:nvSpPr>
        <p:spPr>
          <a:xfrm>
            <a:off x="139433" y="72680"/>
            <a:ext cx="2156506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Linear Group</a:t>
            </a:r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69860" y="386824"/>
            <a:ext cx="3063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cascade of transformation can be replaced by a single transformation.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3234231" y="76614"/>
            <a:ext cx="2729663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Subgroups and hierarchy of H</a:t>
            </a:r>
            <a:endParaRPr/>
          </a:p>
        </p:txBody>
      </p:sp>
      <p:pic>
        <p:nvPicPr>
          <p:cNvPr id="221" name="Google Shape;2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7334" y="590376"/>
            <a:ext cx="2959981" cy="1273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328674" y="2025215"/>
            <a:ext cx="1712559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Group</a:t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4146744" y="2058023"/>
            <a:ext cx="1516945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group</a:t>
            </a:r>
            <a:endParaRPr/>
          </a:p>
        </p:txBody>
      </p:sp>
      <p:sp>
        <p:nvSpPr>
          <p:cNvPr id="224" name="Google Shape;224;p31"/>
          <p:cNvSpPr txBox="1"/>
          <p:nvPr/>
        </p:nvSpPr>
        <p:spPr>
          <a:xfrm>
            <a:off x="6439735" y="1840356"/>
            <a:ext cx="1516945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Group</a:t>
            </a:r>
            <a:endParaRPr/>
          </a:p>
        </p:txBody>
      </p:sp>
      <p:grpSp>
        <p:nvGrpSpPr>
          <p:cNvPr id="225" name="Google Shape;225;p31"/>
          <p:cNvGrpSpPr/>
          <p:nvPr/>
        </p:nvGrpSpPr>
        <p:grpSpPr>
          <a:xfrm>
            <a:off x="3627392" y="2441712"/>
            <a:ext cx="2253086" cy="1277689"/>
            <a:chOff x="3329972" y="2420327"/>
            <a:chExt cx="2642152" cy="1498322"/>
          </a:xfrm>
        </p:grpSpPr>
        <p:pic>
          <p:nvPicPr>
            <p:cNvPr id="226" name="Google Shape;22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29972" y="2958142"/>
              <a:ext cx="2642152" cy="96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54750" y="2420327"/>
              <a:ext cx="885235" cy="6185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8" name="Google Shape;228;p31"/>
          <p:cNvGrpSpPr/>
          <p:nvPr/>
        </p:nvGrpSpPr>
        <p:grpSpPr>
          <a:xfrm>
            <a:off x="246039" y="2310701"/>
            <a:ext cx="2306710" cy="1534929"/>
            <a:chOff x="69859" y="2413877"/>
            <a:chExt cx="2771156" cy="1843980"/>
          </a:xfrm>
        </p:grpSpPr>
        <p:pic>
          <p:nvPicPr>
            <p:cNvPr id="229" name="Google Shape;229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859" y="3146366"/>
              <a:ext cx="2771156" cy="11114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77125" y="2413877"/>
              <a:ext cx="976235" cy="7476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1" name="Google Shape;231;p31"/>
          <p:cNvGrpSpPr/>
          <p:nvPr/>
        </p:nvGrpSpPr>
        <p:grpSpPr>
          <a:xfrm>
            <a:off x="6538353" y="2201033"/>
            <a:ext cx="2112033" cy="1328231"/>
            <a:chOff x="6144758" y="2406975"/>
            <a:chExt cx="2642152" cy="1708677"/>
          </a:xfrm>
        </p:grpSpPr>
        <p:pic>
          <p:nvPicPr>
            <p:cNvPr id="232" name="Google Shape;232;p3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44758" y="3063269"/>
              <a:ext cx="2642152" cy="10523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3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588149" y="2406975"/>
              <a:ext cx="901272" cy="6902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4" name="Google Shape;234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7" y="4392708"/>
            <a:ext cx="4073231" cy="72793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1"/>
          <p:cNvSpPr txBox="1"/>
          <p:nvPr/>
        </p:nvSpPr>
        <p:spPr>
          <a:xfrm>
            <a:off x="28136" y="4027524"/>
            <a:ext cx="3569025" cy="28466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Decomposition of projective transformations</a:t>
            </a:r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42078" y="3979770"/>
            <a:ext cx="1914694" cy="116373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6178456" y="3703298"/>
            <a:ext cx="2039502" cy="2846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Rectification</a:t>
            </a:r>
            <a:endParaRPr/>
          </a:p>
        </p:txBody>
      </p:sp>
      <p:pic>
        <p:nvPicPr>
          <p:cNvPr id="238" name="Google Shape;238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038573" y="778295"/>
            <a:ext cx="3111592" cy="88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6039" y="946817"/>
            <a:ext cx="1701800" cy="10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170453" y="127976"/>
            <a:ext cx="2896429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of conics under H</a:t>
            </a:r>
            <a:endParaRPr/>
          </a:p>
        </p:txBody>
      </p:sp>
      <p:pic>
        <p:nvPicPr>
          <p:cNvPr id="245" name="Google Shape;2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453" y="498398"/>
            <a:ext cx="3203926" cy="170245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2"/>
          <p:cNvSpPr txBox="1"/>
          <p:nvPr/>
        </p:nvSpPr>
        <p:spPr>
          <a:xfrm>
            <a:off x="229283" y="2429418"/>
            <a:ext cx="3593692" cy="28466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of angle under Homography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7" name="Google Shape;2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283" y="2774512"/>
            <a:ext cx="4039776" cy="224101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5194258" y="127975"/>
            <a:ext cx="3415668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of dual conics under H</a:t>
            </a:r>
            <a:endParaRPr/>
          </a:p>
        </p:txBody>
      </p:sp>
      <p:pic>
        <p:nvPicPr>
          <p:cNvPr id="249" name="Google Shape;24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1823" y="481956"/>
            <a:ext cx="3083894" cy="191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/>
        </p:nvSpPr>
        <p:spPr>
          <a:xfrm>
            <a:off x="1039751" y="828125"/>
            <a:ext cx="7197300" cy="3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Space and Projective Space</a:t>
            </a:r>
            <a:endParaRPr/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Points and lines in Projective Space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of Parallel Lines and Lines at Infinity</a:t>
            </a:r>
            <a:endParaRPr/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Conics in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Homogeneous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Space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transformation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of points, lines and conics under Homography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of angle under Homography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2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4"/>
          <p:cNvSpPr txBox="1"/>
          <p:nvPr/>
        </p:nvSpPr>
        <p:spPr>
          <a:xfrm>
            <a:off x="33308" y="176635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34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6" name="Google Shape;266;p34"/>
          <p:cNvSpPr txBox="1"/>
          <p:nvPr/>
        </p:nvSpPr>
        <p:spPr>
          <a:xfrm>
            <a:off x="74506" y="447190"/>
            <a:ext cx="9069494" cy="13610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850" l="-279" r="0" t="-18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67" name="Google Shape;26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06" y="2256403"/>
            <a:ext cx="4574260" cy="12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87" y="2032075"/>
            <a:ext cx="2874595" cy="1547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785" y="3706969"/>
            <a:ext cx="3228947" cy="989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"/>
          <p:cNvSpPr txBox="1"/>
          <p:nvPr/>
        </p:nvSpPr>
        <p:spPr>
          <a:xfrm>
            <a:off x="258945" y="632168"/>
            <a:ext cx="8626110" cy="193110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21" l="-587" r="0" t="-13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6"/>
          <p:cNvSpPr txBox="1"/>
          <p:nvPr/>
        </p:nvSpPr>
        <p:spPr>
          <a:xfrm>
            <a:off x="-1" y="451791"/>
            <a:ext cx="9022619" cy="14542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transformation of the line 2x − 5y + 3 = 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2x − y − 4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6x − 15y + 11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4x + y − 5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2x − 0.5y + 4.5 = 0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4572000" y="82579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6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5" name="Google Shape;285;p3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86" name="Google Shape;2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816" y="1229293"/>
            <a:ext cx="1335699" cy="725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99" y="1279917"/>
            <a:ext cx="679450" cy="67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96988" y="1288804"/>
            <a:ext cx="3148688" cy="123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6"/>
          <p:cNvPicPr preferRelativeResize="0"/>
          <p:nvPr/>
        </p:nvPicPr>
        <p:blipFill rotWithShape="1">
          <a:blip r:embed="rId6">
            <a:alphaModFix/>
          </a:blip>
          <a:srcRect b="0" l="0" r="0" t="30020"/>
          <a:stretch/>
        </p:blipFill>
        <p:spPr>
          <a:xfrm>
            <a:off x="43065" y="2357382"/>
            <a:ext cx="4310450" cy="2357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6"/>
          <p:cNvPicPr preferRelativeResize="0"/>
          <p:nvPr/>
        </p:nvPicPr>
        <p:blipFill rotWithShape="1">
          <a:blip r:embed="rId7">
            <a:alphaModFix/>
          </a:blip>
          <a:srcRect b="0" l="38890" r="0" t="33707"/>
          <a:stretch/>
        </p:blipFill>
        <p:spPr>
          <a:xfrm>
            <a:off x="5866562" y="2674589"/>
            <a:ext cx="2147127" cy="685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8351" y="3251735"/>
            <a:ext cx="3576532" cy="1891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56645" y="434473"/>
            <a:ext cx="8833402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transformation of the point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p(2, 0, 1).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p(4, 3,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p(2, 1.5,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p(2, 3, 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</a:t>
            </a:r>
            <a:r>
              <a:rPr b="0" i="1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p(3, 4, 1)</a:t>
            </a:r>
            <a:endParaRPr b="0" i="1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3154117" y="169146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7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2" name="Google Shape;302;p3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03" name="Google Shape;3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8820" y="2256639"/>
            <a:ext cx="3506391" cy="1387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729" y="3909947"/>
            <a:ext cx="2333091" cy="504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733" y="3734866"/>
            <a:ext cx="4546993" cy="810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0" y="173288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3017816" y="4763840"/>
            <a:ext cx="1097835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5" name="Google Shape;315;p3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6" name="Google Shape;316;p38"/>
          <p:cNvSpPr txBox="1"/>
          <p:nvPr/>
        </p:nvSpPr>
        <p:spPr>
          <a:xfrm>
            <a:off x="0" y="432561"/>
            <a:ext cx="8833402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line passing through the points (3, 2) and (6, 0).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−3x + 2y + 1 = 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−2x + 5y + 12 = 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−5x − 2y + 1 = 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2x + 3y − 12 = 0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11" y="2211159"/>
            <a:ext cx="4544907" cy="242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58100" y="2078827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39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7" name="Google Shape;327;p3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8" name="Google Shape;328;p39"/>
          <p:cNvSpPr txBox="1"/>
          <p:nvPr/>
        </p:nvSpPr>
        <p:spPr>
          <a:xfrm>
            <a:off x="58100" y="459194"/>
            <a:ext cx="9027800" cy="145163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869" l="-28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29" name="Google Shape;32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87" y="2571750"/>
            <a:ext cx="3111500" cy="1904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358" y="2286003"/>
            <a:ext cx="2763428" cy="571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64000" y="2857497"/>
            <a:ext cx="3433810" cy="99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9129" y="4035097"/>
            <a:ext cx="2401536" cy="693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45862" y="4096180"/>
            <a:ext cx="2298138" cy="62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5089792" y="542105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4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40"/>
          <p:cNvSpPr txBox="1"/>
          <p:nvPr/>
        </p:nvSpPr>
        <p:spPr>
          <a:xfrm>
            <a:off x="3017816" y="4763840"/>
            <a:ext cx="537908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3" name="Google Shape;343;p4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4" name="Google Shape;344;p40"/>
          <p:cNvSpPr txBox="1"/>
          <p:nvPr/>
        </p:nvSpPr>
        <p:spPr>
          <a:xfrm>
            <a:off x="0" y="446975"/>
            <a:ext cx="8833500" cy="220806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28" l="-57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45" name="Google Shape;34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421426"/>
            <a:ext cx="3333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81" y="2892527"/>
            <a:ext cx="2635250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46191" y="2794848"/>
            <a:ext cx="2769747" cy="184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9839" y="2794847"/>
            <a:ext cx="3134695" cy="208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41"/>
          <p:cNvSpPr txBox="1"/>
          <p:nvPr/>
        </p:nvSpPr>
        <p:spPr>
          <a:xfrm>
            <a:off x="5746950" y="223873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41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41"/>
          <p:cNvSpPr txBox="1"/>
          <p:nvPr/>
        </p:nvSpPr>
        <p:spPr>
          <a:xfrm>
            <a:off x="3017815" y="4763840"/>
            <a:ext cx="16431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c), 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8" name="Google Shape;358;p41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9" name="Google Shape;359;p41"/>
          <p:cNvSpPr txBox="1"/>
          <p:nvPr/>
        </p:nvSpPr>
        <p:spPr>
          <a:xfrm>
            <a:off x="15255" y="448703"/>
            <a:ext cx="432114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are true?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The degree of freedom for similarity group is 4 (1 scale, 2 rotation, 1 translation).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The circular points are fixed points under the projective transformation H if and only if H is a similarity.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conic remains a conic under homography.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Any square matrix can be decomposed as a product of an orthogonal matrix and an upper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triangular matrix.</a:t>
            </a:r>
            <a:endParaRPr/>
          </a:p>
        </p:txBody>
      </p:sp>
      <p:pic>
        <p:nvPicPr>
          <p:cNvPr id="360" name="Google Shape;3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7601" y="701570"/>
            <a:ext cx="3801766" cy="2148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01" y="2208513"/>
            <a:ext cx="3428504" cy="1274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203" y="3483434"/>
            <a:ext cx="3158899" cy="117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5791" y="2981075"/>
            <a:ext cx="3428504" cy="157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42"/>
          <p:cNvSpPr txBox="1"/>
          <p:nvPr/>
        </p:nvSpPr>
        <p:spPr>
          <a:xfrm>
            <a:off x="75108" y="100341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2"/>
          <p:cNvSpPr txBox="1"/>
          <p:nvPr/>
        </p:nvSpPr>
        <p:spPr>
          <a:xfrm>
            <a:off x="3017816" y="4763840"/>
            <a:ext cx="99583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73" name="Google Shape;373;p4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74" name="Google Shape;3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2"/>
          <p:cNvSpPr txBox="1"/>
          <p:nvPr/>
        </p:nvSpPr>
        <p:spPr>
          <a:xfrm>
            <a:off x="75108" y="416690"/>
            <a:ext cx="89937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two lines l = 2x + y − 3 = 0 and m = 3x − 2y + 1 = 0 meet at a point p. Find the Euclidean angle between these two lines. Answer should be in nearest degrees. Discard the decimal values.</a:t>
            </a:r>
            <a:endParaRPr/>
          </a:p>
        </p:txBody>
      </p:sp>
      <p:pic>
        <p:nvPicPr>
          <p:cNvPr id="378" name="Google Shape;378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08" y="1349665"/>
            <a:ext cx="4061802" cy="2585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2"/>
          <p:cNvPicPr preferRelativeResize="0"/>
          <p:nvPr/>
        </p:nvPicPr>
        <p:blipFill rotWithShape="1">
          <a:blip r:embed="rId5">
            <a:alphaModFix/>
          </a:blip>
          <a:srcRect b="0" l="0" r="0" t="9993"/>
          <a:stretch/>
        </p:blipFill>
        <p:spPr>
          <a:xfrm>
            <a:off x="4345862" y="1069987"/>
            <a:ext cx="4220334" cy="2294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3571" y="3578087"/>
            <a:ext cx="4487520" cy="1531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3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34996" y="2153679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43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3"/>
          <p:cNvSpPr txBox="1"/>
          <p:nvPr/>
        </p:nvSpPr>
        <p:spPr>
          <a:xfrm>
            <a:off x="3301082" y="4771806"/>
            <a:ext cx="830651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0" name="Google Shape;390;p43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1" name="Google Shape;391;p43"/>
          <p:cNvSpPr txBox="1"/>
          <p:nvPr/>
        </p:nvSpPr>
        <p:spPr>
          <a:xfrm>
            <a:off x="0" y="312380"/>
            <a:ext cx="9087356" cy="16621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1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92" name="Google Shape;392;p43"/>
          <p:cNvSpPr txBox="1"/>
          <p:nvPr/>
        </p:nvSpPr>
        <p:spPr>
          <a:xfrm>
            <a:off x="3716407" y="2368735"/>
            <a:ext cx="5026428" cy="76963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93" name="Google Shape;39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976" y="2677587"/>
            <a:ext cx="2817743" cy="2007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87722" y="3278325"/>
            <a:ext cx="3872540" cy="1203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44"/>
          <p:cNvSpPr txBox="1"/>
          <p:nvPr/>
        </p:nvSpPr>
        <p:spPr>
          <a:xfrm>
            <a:off x="98191" y="2594692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44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44"/>
          <p:cNvSpPr txBox="1"/>
          <p:nvPr/>
        </p:nvSpPr>
        <p:spPr>
          <a:xfrm>
            <a:off x="3127729" y="4771822"/>
            <a:ext cx="611151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4" name="Google Shape;404;p44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5" name="Google Shape;405;p44"/>
          <p:cNvSpPr txBox="1"/>
          <p:nvPr/>
        </p:nvSpPr>
        <p:spPr>
          <a:xfrm>
            <a:off x="153749" y="432561"/>
            <a:ext cx="7962563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is TRUE about the hierarchy of transformation groups in projective geometry?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arenR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Similarity transformations are more general than affine transformations.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arenR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 transformations preserve the line at infinity but distort parallelism.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arenR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 transformations allow projective distortions like vanishing points.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lphaLcParenR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Projective transformations are the most general, encompassing affine and Euclidean groups.</a:t>
            </a:r>
            <a:endParaRPr/>
          </a:p>
        </p:txBody>
      </p:sp>
      <p:sp>
        <p:nvSpPr>
          <p:cNvPr id="406" name="Google Shape;406;p44"/>
          <p:cNvSpPr txBox="1"/>
          <p:nvPr/>
        </p:nvSpPr>
        <p:spPr>
          <a:xfrm>
            <a:off x="276220" y="3033079"/>
            <a:ext cx="8591559" cy="13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is correct: The projective group includes all other transformation types.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is false: Similarity is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subgroup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affine, hence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general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is false: Affine transformations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 parallelism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is false: Euclidean transformations do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 perspective distortions like vanishing points.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