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Tahoma"/>
      <p:regular r:id="rId33"/>
      <p:bold r:id="rId34"/>
    </p:embeddedFont>
    <p:embeddedFont>
      <p:font typeface="Arial Black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BBF9CA-255D-42E4-BDFC-D55B7BBBADAB}">
  <a:tblStyle styleId="{2EBBF9CA-255D-42E4-BDFC-D55B7BBBADA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Tahoma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6.xml"/><Relationship Id="rId34" Type="http://schemas.openxmlformats.org/officeDocument/2006/relationships/font" Target="fonts/Tahoma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3" name="Google Shape;3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16.png"/><Relationship Id="rId8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0.png"/><Relationship Id="rId4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8.png"/><Relationship Id="rId5" Type="http://schemas.openxmlformats.org/officeDocument/2006/relationships/image" Target="../media/image44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5" Type="http://schemas.openxmlformats.org/officeDocument/2006/relationships/image" Target="../media/image34.png"/><Relationship Id="rId6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56.png"/><Relationship Id="rId5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6.png"/><Relationship Id="rId4" Type="http://schemas.openxmlformats.org/officeDocument/2006/relationships/image" Target="../media/image39.png"/><Relationship Id="rId5" Type="http://schemas.openxmlformats.org/officeDocument/2006/relationships/image" Target="../media/image52.png"/><Relationship Id="rId6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Relationship Id="rId4" Type="http://schemas.openxmlformats.org/officeDocument/2006/relationships/image" Target="../media/image43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Relationship Id="rId7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Relationship Id="rId4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5" Type="http://schemas.openxmlformats.org/officeDocument/2006/relationships/image" Target="../media/image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70.png"/><Relationship Id="rId5" Type="http://schemas.openxmlformats.org/officeDocument/2006/relationships/image" Target="../media/image74.png"/><Relationship Id="rId6" Type="http://schemas.openxmlformats.org/officeDocument/2006/relationships/image" Target="../media/image7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296979" y="128010"/>
            <a:ext cx="4938009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Week-11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r>
              <a:rPr b="1" baseline="30000" lang="en-IN" sz="4100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1" baseline="30000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IN" sz="4100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Sept</a:t>
            </a: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IN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9800"/>
            <a:ext cx="4905950" cy="18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598" y="22827"/>
            <a:ext cx="2011148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dimension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454" y="2688996"/>
            <a:ext cx="3657600" cy="20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963993" y="-1300"/>
            <a:ext cx="4000559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Are We Concerned About Data Dimension</a:t>
            </a:r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9400" y="283363"/>
            <a:ext cx="4289744" cy="253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9400" y="2783519"/>
            <a:ext cx="4029406" cy="149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3172" y="4240293"/>
            <a:ext cx="3741861" cy="903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/>
        </p:nvSpPr>
        <p:spPr>
          <a:xfrm>
            <a:off x="122543" y="79655"/>
            <a:ext cx="2773147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Principal component analysis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0" y="465475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PCA (Principal Component Analysis) reduces dimensionality by finding new orthogonal axes (called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principal components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along which: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has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variance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(spread).</a:t>
            </a:r>
            <a:endParaRPr/>
          </a:p>
          <a:p>
            <a:pPr indent="-889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axes are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uncorrelated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(orthogonal).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PCA transforms the dataset into directions of maximum information while discarding noise/less important directions.</a:t>
            </a:r>
            <a:endParaRPr/>
          </a:p>
        </p:txBody>
      </p:sp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0774" y="0"/>
            <a:ext cx="3447183" cy="195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1209" y="1901542"/>
            <a:ext cx="3999879" cy="326052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47352" y="2070659"/>
            <a:ext cx="2191732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PCA-Algorithm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0" y="2406445"/>
            <a:ext cx="4701209" cy="2755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699" lvl="0" marL="27574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720"/>
              <a:buFont typeface="Noto Sans Symbols"/>
              <a:buChar char="■"/>
            </a:pPr>
            <a:r>
              <a:rPr b="0" i="0" lang="en-IN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Input: 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A set of data points: S={X</a:t>
            </a:r>
            <a:r>
              <a:rPr b="0" baseline="-25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j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=(x</a:t>
            </a:r>
            <a:r>
              <a:rPr b="0" baseline="-25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1j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,x</a:t>
            </a:r>
            <a:r>
              <a:rPr b="0" baseline="-25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2j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,…x</a:t>
            </a:r>
            <a:r>
              <a:rPr b="0" baseline="-25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nj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)| X</a:t>
            </a:r>
            <a:r>
              <a:rPr b="0" baseline="-25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j 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in R</a:t>
            </a:r>
            <a:r>
              <a:rPr b="0" baseline="30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}.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75749" marR="0" rtl="0" algn="l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Clr>
                <a:srgbClr val="3333CC"/>
              </a:buClr>
              <a:buSzPts val="720"/>
              <a:buFont typeface="Noto Sans Symbols"/>
              <a:buChar char="■"/>
            </a:pPr>
            <a:r>
              <a:rPr b="0" i="0" lang="en-IN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Output: 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A set of k eigen vectors: E</a:t>
            </a:r>
            <a:r>
              <a:rPr b="0" baseline="-25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={e</a:t>
            </a:r>
            <a:r>
              <a:rPr b="0" baseline="-25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,e</a:t>
            </a:r>
            <a:r>
              <a:rPr b="0" baseline="-25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,…,e</a:t>
            </a:r>
            <a:r>
              <a:rPr b="0" baseline="-2500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k</a:t>
            </a:r>
            <a:r>
              <a:rPr b="0" i="0" lang="en-IN" sz="1200" u="none" cap="none" strike="noStrik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424" lvl="0" marL="361474" marR="0" rtl="0" algn="l">
              <a:lnSpc>
                <a:spcPct val="100000"/>
              </a:lnSpc>
              <a:spcBef>
                <a:spcPts val="428"/>
              </a:spcBef>
              <a:spcAft>
                <a:spcPts val="0"/>
              </a:spcAft>
              <a:buClr>
                <a:srgbClr val="3333CC"/>
              </a:buClr>
              <a:buSzPts val="817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Compute mean of data points.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424" lvl="0" marL="361474" marR="0" rtl="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3333CC"/>
              </a:buClr>
              <a:buSzPts val="817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Translate all data points to their mean.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424" lvl="0" marL="361474" marR="0" rtl="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3333CC"/>
              </a:buClr>
              <a:buSzPts val="817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Compute covariance matrix of the set.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61950" marR="513874" rtl="0" algn="l">
              <a:lnSpc>
                <a:spcPct val="100699"/>
              </a:lnSpc>
              <a:spcBef>
                <a:spcPts val="401"/>
              </a:spcBef>
              <a:spcAft>
                <a:spcPts val="0"/>
              </a:spcAft>
              <a:buClr>
                <a:srgbClr val="3333CC"/>
              </a:buClr>
              <a:buSzPts val="817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Compute eigen vetcors and eigen values (in increasing order).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61950" marR="13334" rtl="0" algn="l">
              <a:lnSpc>
                <a:spcPct val="100699"/>
              </a:lnSpc>
              <a:spcBef>
                <a:spcPts val="401"/>
              </a:spcBef>
              <a:spcAft>
                <a:spcPts val="0"/>
              </a:spcAft>
              <a:buClr>
                <a:srgbClr val="3333CC"/>
              </a:buClr>
              <a:buSzPts val="817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Choose k such that the fraction of variance accounted for is more than a threshold.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424" lvl="0" marL="361474" marR="0" rtl="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>
                <a:srgbClr val="3333CC"/>
              </a:buClr>
              <a:buSzPts val="817"/>
              <a:buFont typeface="Arial"/>
              <a:buAutoNum type="arabicPeriod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Use those k-components for representing any data point.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2601"/>
            <a:ext cx="4837623" cy="1182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25494"/>
            <a:ext cx="4837623" cy="15373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1118093" y="19878"/>
            <a:ext cx="3296901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Eigenvectors and Eigenvalues?</a:t>
            </a:r>
            <a:endParaRPr/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899" y="2668421"/>
            <a:ext cx="4941534" cy="1640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18995"/>
          <a:stretch/>
        </p:blipFill>
        <p:spPr>
          <a:xfrm>
            <a:off x="56901" y="4366112"/>
            <a:ext cx="4515099" cy="7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6159568" y="1428367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6230688" y="37693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2612" y="314022"/>
            <a:ext cx="3759921" cy="98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30522" y="1854647"/>
            <a:ext cx="3136900" cy="18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/>
        </p:nvSpPr>
        <p:spPr>
          <a:xfrm>
            <a:off x="2991678" y="2441334"/>
            <a:ext cx="1928192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of PCA</a:t>
            </a: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56" y="97895"/>
            <a:ext cx="44831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0" y="-6350"/>
            <a:ext cx="4191000" cy="25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82" y="2705100"/>
            <a:ext cx="44196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44756" y="2753648"/>
            <a:ext cx="45085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4789357" y="2547159"/>
            <a:ext cx="3594865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Fisher Linear Discriminant Analysis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0847" y="2847146"/>
            <a:ext cx="5031886" cy="192363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1388248" y="2488174"/>
            <a:ext cx="1764261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PCA Limitations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0132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3147" y="248684"/>
            <a:ext cx="3111500" cy="17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7233" y="12700"/>
            <a:ext cx="20955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744" y="2831822"/>
            <a:ext cx="42799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939887" y="15108"/>
            <a:ext cx="3393573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Fisher’s Criterion (Objective Function)</a:t>
            </a:r>
            <a:endParaRPr/>
          </a:p>
        </p:txBody>
      </p:sp>
      <p:grpSp>
        <p:nvGrpSpPr>
          <p:cNvPr id="149" name="Google Shape;149;p19"/>
          <p:cNvGrpSpPr/>
          <p:nvPr/>
        </p:nvGrpSpPr>
        <p:grpSpPr>
          <a:xfrm>
            <a:off x="199046" y="482198"/>
            <a:ext cx="4495028" cy="4179103"/>
            <a:chOff x="76972" y="259274"/>
            <a:chExt cx="4495028" cy="4179103"/>
          </a:xfrm>
        </p:grpSpPr>
        <p:pic>
          <p:nvPicPr>
            <p:cNvPr id="150" name="Google Shape;15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72" y="259274"/>
              <a:ext cx="4495028" cy="28442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594" y="3284204"/>
              <a:ext cx="3418798" cy="11541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2" name="Google Shape;15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1597" y="3400960"/>
            <a:ext cx="5033357" cy="1021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9600" y="407684"/>
            <a:ext cx="4724400" cy="26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5641060" y="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1685078" y="-3013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00" y="451929"/>
            <a:ext cx="3708400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4268" y="451929"/>
            <a:ext cx="4432300" cy="24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582" y="3365776"/>
            <a:ext cx="2857500" cy="14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64362" y="3143526"/>
            <a:ext cx="3352800" cy="19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4318" y="3480076"/>
            <a:ext cx="2578100" cy="13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/>
        </p:nvSpPr>
        <p:spPr>
          <a:xfrm>
            <a:off x="201507" y="40581"/>
            <a:ext cx="1956883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Sparse Representation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131488" y="339701"/>
            <a:ext cx="87409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Idea: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 a signal (or data vector) as a linear combination of only a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basis vectors (atoms)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a dictionary, instead of using all basis vectors.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4721717" y="735047"/>
            <a:ext cx="3256279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Exact / Approximate Representation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5125928" y="2813183"/>
            <a:ext cx="2447856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Sparse approximation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89" y="877379"/>
            <a:ext cx="3088790" cy="202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7059" y="1006817"/>
            <a:ext cx="2921000" cy="16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3114333"/>
            <a:ext cx="3657600" cy="20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665869" y="3003078"/>
            <a:ext cx="2447856" cy="2846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Reconstruction given 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8726" y="3350757"/>
            <a:ext cx="3378200" cy="17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258417" y="376472"/>
            <a:ext cx="822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that try to find a good (approximate) sparse solution.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201507" y="40581"/>
            <a:ext cx="1956883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Pursuit Algorithms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91052" y="751765"/>
            <a:ext cx="2145252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 pursuit (MP)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19877"/>
            <a:ext cx="4385289" cy="317382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5562600" y="774689"/>
            <a:ext cx="3167269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Orthogonal Matching Pursuit (OMP)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119877"/>
            <a:ext cx="48006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/>
        </p:nvSpPr>
        <p:spPr>
          <a:xfrm>
            <a:off x="96079" y="0"/>
            <a:ext cx="1891748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Basis Pursuit (BP)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" name="Google Shape;193;p23"/>
          <p:cNvGraphicFramePr/>
          <p:nvPr/>
        </p:nvGraphicFramePr>
        <p:xfrm>
          <a:off x="69573" y="4042090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9B5FF"/>
                    </a:gs>
                    <a:gs pos="35000">
                      <a:srgbClr val="B9CBFF"/>
                    </a:gs>
                    <a:gs pos="100000">
                      <a:srgbClr val="E2E9FF"/>
                    </a:gs>
                  </a:gsLst>
                  <a:lin ang="16200000" scaled="0"/>
                </a:gradFill>
                <a:tableStyleId>{2EBBF9CA-255D-42E4-BDFC-D55B7BBBADAB}</a:tableStyleId>
              </a:tblPr>
              <a:tblGrid>
                <a:gridCol w="762975"/>
                <a:gridCol w="2032475"/>
                <a:gridCol w="1728550"/>
                <a:gridCol w="21029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Strategy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Greedy, picks one atom at a 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Simple, fast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Coefficients not optimal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OMP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Greedy + least squares re-fit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Better accuracy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More computation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Convex optimization (ℓ1)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Best recovery under theory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Slow, heavy for large data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73" y="383078"/>
            <a:ext cx="4461961" cy="341366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6696490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5824224" y="2302664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4224" y="375021"/>
            <a:ext cx="3263900" cy="18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4224" y="2277354"/>
            <a:ext cx="3023526" cy="1818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/>
        </p:nvSpPr>
        <p:spPr>
          <a:xfrm>
            <a:off x="5783247" y="11026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- 4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3735950" y="347548"/>
            <a:ext cx="5296800" cy="21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50">
            <a:spAutoFit/>
          </a:bodyPr>
          <a:lstStyle/>
          <a:p>
            <a:pPr indent="-257175" lvl="0" marL="276225" marR="39052" rtl="0" algn="l">
              <a:lnSpc>
                <a:spcPct val="119611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050"/>
              <a:buFont typeface="Noto Sans Symbols"/>
              <a:buChar char="■"/>
            </a:pPr>
            <a:r>
              <a:rPr b="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Consider a dictionary in a 3-D space consisting of following atoms:</a:t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47199" marR="0" rtl="0" algn="l">
              <a:lnSpc>
                <a:spcPct val="100000"/>
              </a:lnSpc>
              <a:spcBef>
                <a:spcPts val="368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{[ 1 1 1]</a:t>
            </a:r>
            <a:r>
              <a:rPr b="0" baseline="3000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b="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[1 -1	1]</a:t>
            </a:r>
            <a:r>
              <a:rPr b="0" baseline="3000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b="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[-1 -1	1]</a:t>
            </a:r>
            <a:r>
              <a:rPr b="0" baseline="3000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b="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[-1	1	1]</a:t>
            </a:r>
            <a:r>
              <a:rPr b="0" baseline="3000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</a:t>
            </a:r>
            <a:r>
              <a:rPr b="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}</a:t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71438" lvl="0" marL="19050" marR="13334" rtl="0" algn="l">
              <a:lnSpc>
                <a:spcPct val="100099"/>
              </a:lnSpc>
              <a:spcBef>
                <a:spcPts val="413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Derive the best representation of the vector [1 2 3] using 2 atoms of the above dictionary following orthogonal matching pursuit (OMP).</a:t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5" name="Google Shape;2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505200" cy="24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393293" y="2662194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7" name="Google Shape;20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687" y="2631531"/>
            <a:ext cx="3526367" cy="24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8448" y="2567500"/>
            <a:ext cx="3225800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/>
        </p:nvSpPr>
        <p:spPr>
          <a:xfrm>
            <a:off x="879246" y="48860"/>
            <a:ext cx="1956883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	dictionary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52577"/>
            <a:ext cx="39624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 txBox="1"/>
          <p:nvPr/>
        </p:nvSpPr>
        <p:spPr>
          <a:xfrm>
            <a:off x="5714143" y="19878"/>
            <a:ext cx="1429636" cy="2846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1136022" y="2127123"/>
            <a:ext cx="2044736" cy="284663"/>
          </a:xfrm>
          <a:prstGeom prst="rect">
            <a:avLst/>
          </a:prstGeom>
          <a:solidFill>
            <a:srgbClr val="833C0B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4423771" y="2225269"/>
            <a:ext cx="4701208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K-SVD: Forming dictionary for sparse representation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5488" y="333523"/>
            <a:ext cx="3962400" cy="18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5" y="2509931"/>
            <a:ext cx="44704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 rotWithShape="1">
          <a:blip r:embed="rId6">
            <a:alphaModFix/>
          </a:blip>
          <a:srcRect b="30474" l="0" r="0" t="0"/>
          <a:stretch/>
        </p:blipFill>
        <p:spPr>
          <a:xfrm>
            <a:off x="4475675" y="2633569"/>
            <a:ext cx="4597400" cy="1421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/>
        </p:nvSpPr>
        <p:spPr>
          <a:xfrm>
            <a:off x="1" y="59145"/>
            <a:ext cx="1212574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K-SVD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9250"/>
            <a:ext cx="3627783" cy="182431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/>
        </p:nvSpPr>
        <p:spPr>
          <a:xfrm>
            <a:off x="728870" y="2969635"/>
            <a:ext cx="2223052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K-means clustering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254298"/>
            <a:ext cx="4267762" cy="193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2142" y="2753138"/>
            <a:ext cx="4597774" cy="243481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6"/>
          <p:cNvSpPr txBox="1"/>
          <p:nvPr/>
        </p:nvSpPr>
        <p:spPr>
          <a:xfrm>
            <a:off x="4658139" y="48483"/>
            <a:ext cx="3700670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KSVD: Generalization of K-means clustering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7865" y="400958"/>
            <a:ext cx="4578026" cy="1989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138298"/>
            <a:ext cx="4442142" cy="841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/>
          <p:nvPr/>
        </p:nvSpPr>
        <p:spPr>
          <a:xfrm>
            <a:off x="1441174" y="23770"/>
            <a:ext cx="1614487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64" y="578402"/>
            <a:ext cx="5004317" cy="273132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/>
        </p:nvSpPr>
        <p:spPr>
          <a:xfrm>
            <a:off x="6086164" y="29274"/>
            <a:ext cx="1614487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5476460" y="814859"/>
            <a:ext cx="3269974" cy="1756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699" lvl="0" marL="26622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831"/>
              <a:buFont typeface="Noto Sans Symbols"/>
              <a:buChar char="■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Compression.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596"/>
              </a:spcBef>
              <a:spcAft>
                <a:spcPts val="0"/>
              </a:spcAft>
              <a:buClr>
                <a:srgbClr val="3333CC"/>
              </a:buClr>
              <a:buSzPts val="831"/>
              <a:buFont typeface="Noto Sans Symbols"/>
              <a:buChar char="■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Denoising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3333CC"/>
              </a:buClr>
              <a:buSzPts val="831"/>
              <a:buFont typeface="Noto Sans Symbols"/>
              <a:buChar char="■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Deblurring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rgbClr val="3333CC"/>
              </a:buClr>
              <a:buSzPts val="831"/>
              <a:buFont typeface="Noto Sans Symbols"/>
              <a:buChar char="■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Super-resolution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4312" lvl="1" marL="566261" marR="0" rtl="0" algn="l">
              <a:lnSpc>
                <a:spcPct val="100000"/>
              </a:lnSpc>
              <a:spcBef>
                <a:spcPts val="521"/>
              </a:spcBef>
              <a:spcAft>
                <a:spcPts val="0"/>
              </a:spcAft>
              <a:buClr>
                <a:srgbClr val="FF0000"/>
              </a:buClr>
              <a:buSzPts val="750"/>
              <a:buFont typeface="Noto Sans Symbols"/>
              <a:buChar char="■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Mapping of learned dictionaries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6699" lvl="0" marL="266224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3333CC"/>
              </a:buClr>
              <a:buSzPts val="831"/>
              <a:buFont typeface="Noto Sans Symbols"/>
              <a:buChar char="■"/>
            </a:pPr>
            <a:r>
              <a:rPr b="0" i="0" lang="en-IN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Inpainting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1" name="Google Shape;24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50" y="3414241"/>
            <a:ext cx="75565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/>
        </p:nvSpPr>
        <p:spPr>
          <a:xfrm>
            <a:off x="1379617" y="1208450"/>
            <a:ext cx="7197365" cy="25622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Dimension reduction techniques - Principal Component Analysis and Fisher’s Linear Discriminant Analysis</a:t>
            </a:r>
            <a:endParaRPr/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Sparse representation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Pursuit algorithm - Matching pursuit, Orthogonal matching pursuit, and Basis pursuit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Dictionary learning and sparse representation – K-SVD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11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/>
        </p:nvSpPr>
        <p:spPr>
          <a:xfrm>
            <a:off x="0" y="-18731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3017817" y="4763840"/>
            <a:ext cx="6397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6" name="Google Shape;256;p29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7" name="Google Shape;257;p29"/>
          <p:cNvSpPr txBox="1"/>
          <p:nvPr/>
        </p:nvSpPr>
        <p:spPr>
          <a:xfrm>
            <a:off x="0" y="322791"/>
            <a:ext cx="8551604" cy="10973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597" l="-296" r="0" t="-114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58" name="Google Shape;25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947" y="1487489"/>
            <a:ext cx="3278505" cy="321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569798"/>
            <a:ext cx="3766500" cy="331324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9"/>
          <p:cNvSpPr txBox="1"/>
          <p:nvPr/>
        </p:nvSpPr>
        <p:spPr>
          <a:xfrm>
            <a:off x="3017817" y="1192698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/>
          <p:nvPr/>
        </p:nvSpPr>
        <p:spPr>
          <a:xfrm>
            <a:off x="-1" y="1017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30"/>
          <p:cNvSpPr txBox="1"/>
          <p:nvPr/>
        </p:nvSpPr>
        <p:spPr>
          <a:xfrm>
            <a:off x="3921801" y="959145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0"/>
          <p:cNvSpPr txBox="1"/>
          <p:nvPr/>
        </p:nvSpPr>
        <p:spPr>
          <a:xfrm>
            <a:off x="3017817" y="4763840"/>
            <a:ext cx="688336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/>
          </a:p>
        </p:txBody>
      </p:sp>
      <p:cxnSp>
        <p:nvCxnSpPr>
          <p:cNvPr id="270" name="Google Shape;270;p3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1" name="Google Shape;271;p30"/>
          <p:cNvSpPr txBox="1"/>
          <p:nvPr/>
        </p:nvSpPr>
        <p:spPr>
          <a:xfrm>
            <a:off x="0" y="308982"/>
            <a:ext cx="8796043" cy="13003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data points given in question 1, what is the total variance in PCA?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4.65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3.336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12.86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1.33</a:t>
            </a:r>
            <a:endParaRPr/>
          </a:p>
        </p:txBody>
      </p:sp>
      <p:pic>
        <p:nvPicPr>
          <p:cNvPr id="272" name="Google Shape;2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934" y="1367566"/>
            <a:ext cx="6022052" cy="3302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 txBox="1"/>
          <p:nvPr/>
        </p:nvSpPr>
        <p:spPr>
          <a:xfrm>
            <a:off x="0" y="22063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0" y="173288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3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31"/>
          <p:cNvSpPr txBox="1"/>
          <p:nvPr/>
        </p:nvSpPr>
        <p:spPr>
          <a:xfrm>
            <a:off x="3017816" y="4763840"/>
            <a:ext cx="1999246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a), b), c), d)</a:t>
            </a:r>
            <a:endParaRPr/>
          </a:p>
        </p:txBody>
      </p:sp>
      <p:cxnSp>
        <p:nvCxnSpPr>
          <p:cNvPr id="282" name="Google Shape;282;p3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3" name="Google Shape;283;p31"/>
          <p:cNvSpPr txBox="1"/>
          <p:nvPr/>
        </p:nvSpPr>
        <p:spPr>
          <a:xfrm>
            <a:off x="0" y="400436"/>
            <a:ext cx="8833402" cy="13003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are true regarding Principal Component Analysis (PCA)?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It finds the minimum dimensional subspace for representing the 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All principal components are orthogonal to each other.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It provides the direction along which the data have the largest variance.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It computes components along principal axes.</a:t>
            </a:r>
            <a:endParaRPr/>
          </a:p>
        </p:txBody>
      </p:sp>
      <p:pic>
        <p:nvPicPr>
          <p:cNvPr id="284" name="Google Shape;28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5" y="2130052"/>
            <a:ext cx="5488424" cy="260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32"/>
          <p:cNvSpPr txBox="1"/>
          <p:nvPr/>
        </p:nvSpPr>
        <p:spPr>
          <a:xfrm>
            <a:off x="0" y="162589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32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3017816" y="4763840"/>
            <a:ext cx="1097835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4" name="Google Shape;294;p32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5" name="Google Shape;295;p32"/>
          <p:cNvSpPr txBox="1"/>
          <p:nvPr/>
        </p:nvSpPr>
        <p:spPr>
          <a:xfrm>
            <a:off x="60960" y="481707"/>
            <a:ext cx="8833402" cy="8078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LDA is a parametric method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True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False</a:t>
            </a:r>
            <a:endParaRPr/>
          </a:p>
        </p:txBody>
      </p:sp>
      <p:sp>
        <p:nvSpPr>
          <p:cNvPr id="296" name="Google Shape;296;p32"/>
          <p:cNvSpPr txBox="1"/>
          <p:nvPr/>
        </p:nvSpPr>
        <p:spPr>
          <a:xfrm>
            <a:off x="170784" y="2897092"/>
            <a:ext cx="77117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297" name="Google Shape;29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" y="2219658"/>
            <a:ext cx="7772400" cy="20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/>
        </p:nvSpPr>
        <p:spPr>
          <a:xfrm>
            <a:off x="0" y="33411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33"/>
          <p:cNvSpPr txBox="1"/>
          <p:nvPr/>
        </p:nvSpPr>
        <p:spPr>
          <a:xfrm>
            <a:off x="58100" y="185581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33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33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7" name="Google Shape;307;p33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8" name="Google Shape;308;p33"/>
          <p:cNvSpPr txBox="1"/>
          <p:nvPr/>
        </p:nvSpPr>
        <p:spPr>
          <a:xfrm>
            <a:off x="58100" y="422857"/>
            <a:ext cx="9027800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common application of PCA in data preprocessing?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Classification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Segmentation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Dimensionality reduction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Feature selection based on class labels</a:t>
            </a:r>
            <a:endParaRPr/>
          </a:p>
        </p:txBody>
      </p:sp>
      <p:pic>
        <p:nvPicPr>
          <p:cNvPr id="309" name="Google Shape;3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0" y="2363381"/>
            <a:ext cx="7772400" cy="2239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/>
          <p:nvPr/>
        </p:nvSpPr>
        <p:spPr>
          <a:xfrm>
            <a:off x="0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34"/>
          <p:cNvSpPr txBox="1"/>
          <p:nvPr/>
        </p:nvSpPr>
        <p:spPr>
          <a:xfrm>
            <a:off x="5824939" y="34624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34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34"/>
          <p:cNvSpPr txBox="1"/>
          <p:nvPr/>
        </p:nvSpPr>
        <p:spPr>
          <a:xfrm>
            <a:off x="3017815" y="4763840"/>
            <a:ext cx="86636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/>
          </a:p>
        </p:txBody>
      </p:sp>
      <p:cxnSp>
        <p:nvCxnSpPr>
          <p:cNvPr id="319" name="Google Shape;319;p34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0" name="Google Shape;320;p34"/>
          <p:cNvSpPr txBox="1"/>
          <p:nvPr/>
        </p:nvSpPr>
        <p:spPr>
          <a:xfrm>
            <a:off x="0" y="346249"/>
            <a:ext cx="4933491" cy="17662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21" name="Google Shape;32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3283" y="845136"/>
            <a:ext cx="4802166" cy="3426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51" y="2571750"/>
            <a:ext cx="4354484" cy="1750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/>
          <p:nvPr/>
        </p:nvSpPr>
        <p:spPr>
          <a:xfrm>
            <a:off x="0" y="0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35"/>
          <p:cNvSpPr txBox="1"/>
          <p:nvPr/>
        </p:nvSpPr>
        <p:spPr>
          <a:xfrm>
            <a:off x="53808" y="175482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5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3017815" y="4763840"/>
            <a:ext cx="7287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2" name="Google Shape;332;p35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3" name="Google Shape;333;p35"/>
          <p:cNvSpPr txBox="1"/>
          <p:nvPr/>
        </p:nvSpPr>
        <p:spPr>
          <a:xfrm>
            <a:off x="0" y="346249"/>
            <a:ext cx="8885054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is true about the relationship between PCA and LDA?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PCA and LDA both maximize class separability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PCA and LDA both maximize variance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PCA maximizes class separability while LDA maximizes variance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PCA maximizes variance while LDA maximizes class separability</a:t>
            </a:r>
            <a:endParaRPr/>
          </a:p>
        </p:txBody>
      </p:sp>
      <p:pic>
        <p:nvPicPr>
          <p:cNvPr id="334" name="Google Shape;33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01076"/>
            <a:ext cx="6806939" cy="2568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3895547" y="1028780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36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6"/>
          <p:cNvSpPr txBox="1"/>
          <p:nvPr/>
        </p:nvSpPr>
        <p:spPr>
          <a:xfrm>
            <a:off x="3017817" y="4763840"/>
            <a:ext cx="1201258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/>
          </a:p>
        </p:txBody>
      </p:sp>
      <p:cxnSp>
        <p:nvCxnSpPr>
          <p:cNvPr id="344" name="Google Shape;344;p36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45" name="Google Shape;3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6"/>
          <p:cNvSpPr txBox="1"/>
          <p:nvPr/>
        </p:nvSpPr>
        <p:spPr>
          <a:xfrm>
            <a:off x="0" y="348168"/>
            <a:ext cx="9134475" cy="19602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77" r="-137" t="-6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49" name="Google Shape;34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3055" y="1455978"/>
            <a:ext cx="4821420" cy="1766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" y="2885242"/>
            <a:ext cx="4572000" cy="1837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37"/>
          <p:cNvSpPr txBox="1"/>
          <p:nvPr/>
        </p:nvSpPr>
        <p:spPr>
          <a:xfrm>
            <a:off x="102569" y="206521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37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37"/>
          <p:cNvSpPr txBox="1"/>
          <p:nvPr/>
        </p:nvSpPr>
        <p:spPr>
          <a:xfrm>
            <a:off x="3301082" y="4771806"/>
            <a:ext cx="765592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0" name="Google Shape;360;p37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1" name="Google Shape;361;p37"/>
          <p:cNvSpPr txBox="1"/>
          <p:nvPr/>
        </p:nvSpPr>
        <p:spPr>
          <a:xfrm>
            <a:off x="0" y="368446"/>
            <a:ext cx="878655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 is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Greedy Algorithm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Dynamic Programming Algorithm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Divide and Conquer Algorithm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None of these</a:t>
            </a:r>
            <a:endParaRPr/>
          </a:p>
        </p:txBody>
      </p:sp>
      <p:sp>
        <p:nvSpPr>
          <p:cNvPr id="362" name="Google Shape;362;p37"/>
          <p:cNvSpPr txBox="1"/>
          <p:nvPr/>
        </p:nvSpPr>
        <p:spPr>
          <a:xfrm>
            <a:off x="102569" y="2501386"/>
            <a:ext cx="7851902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Orthogonal Matching Pursuit (OMP) is a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algorithm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in sparse approximation.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each step, it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greedily selects the atom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(basis vector) most correlated with the current residual.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it orthogonalizes the residual with respect to the selected atoms.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repeats until a stopping criterion is met (e.g., fixed sparsity or residual norm).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OMP is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dynamic programming or divide &amp; conquer — it’s 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</a:t>
            </a: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 txBox="1"/>
          <p:nvPr/>
        </p:nvSpPr>
        <p:spPr>
          <a:xfrm>
            <a:off x="0" y="14225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38"/>
          <p:cNvSpPr txBox="1"/>
          <p:nvPr/>
        </p:nvSpPr>
        <p:spPr>
          <a:xfrm>
            <a:off x="45716" y="168266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38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38"/>
          <p:cNvSpPr txBox="1"/>
          <p:nvPr/>
        </p:nvSpPr>
        <p:spPr>
          <a:xfrm>
            <a:off x="3127729" y="4771822"/>
            <a:ext cx="62962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2" name="Google Shape;372;p38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3" name="Google Shape;373;p38"/>
          <p:cNvSpPr txBox="1"/>
          <p:nvPr/>
        </p:nvSpPr>
        <p:spPr>
          <a:xfrm>
            <a:off x="45716" y="3246948"/>
            <a:ext cx="470916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38"/>
          <p:cNvSpPr txBox="1"/>
          <p:nvPr/>
        </p:nvSpPr>
        <p:spPr>
          <a:xfrm>
            <a:off x="-13349" y="343353"/>
            <a:ext cx="884423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are true with respect to K-SVD?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It is dictionary learning algorithm for sparse representations.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It is a generalisation of K-means clustering algorithm.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It works on updating dictionary atoms until convergence.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All the above</a:t>
            </a:r>
            <a:endParaRPr/>
          </a:p>
        </p:txBody>
      </p:sp>
      <p:pic>
        <p:nvPicPr>
          <p:cNvPr id="375" name="Google Shape;37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6" y="2072957"/>
            <a:ext cx="6574392" cy="2655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