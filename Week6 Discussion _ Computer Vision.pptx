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Tahoma"/>
      <p:regular r:id="rId42"/>
      <p:bold r:id="rId43"/>
    </p:embeddedFont>
    <p:embeddedFont>
      <p:font typeface="Arial Black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ArialBlack-regular.fntdata"/><Relationship Id="rId21" Type="http://schemas.openxmlformats.org/officeDocument/2006/relationships/slide" Target="slides/slide15.xml"/><Relationship Id="rId43" Type="http://schemas.openxmlformats.org/officeDocument/2006/relationships/font" Target="fonts/Tahoma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75c3cc70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7975c3cc70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75c3cc70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975c3cc70_2_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975c3cc70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975c3cc70_2_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75c3cc70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7975c3cc70_2_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75c3cc70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7975c3cc70_2_1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975c3cc70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7975c3cc70_2_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75c3cc70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7975c3cc70_2_1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975c3cc70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7975c3cc70_2_1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975c3cc70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7975c3cc70_2_1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75c3cc70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7975c3cc70_2_1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975c3cc70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7975c3cc70_2_1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975c3cc70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7975c3cc70_2_1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975c3cc70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7975c3cc70_2_1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975c3cc70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7975c3cc70_2_2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975c3cc70_2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7975c3cc70_2_2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975c3cc70_2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7975c3cc70_2_2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975c3cc70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7975c3cc70_2_2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975c3cc70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7975c3cc70_2_2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975c3cc70_2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7975c3cc70_2_2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975c3cc70_2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7975c3cc70_2_2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975c3cc70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7975c3cc70_2_2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975c3cc70_2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7975c3cc70_2_2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975c3cc70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7975c3cc70_2_2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975c3cc70_2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7975c3cc70_2_2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7975c3cc70_2_3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37975c3cc70_2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75c3cc70_2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7975c3cc70_2_3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7975c3cc70_2_3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7975c3cc70_2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7975c3cc70_2_3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7975c3cc70_2_3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975c3cc70_2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7975c3cc70_2_3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7975c3cc70_2_3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975c3cc70_2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7975c3cc70_2_3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g37975c3cc70_2_3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7975c3cc70_2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g37975c3cc70_2_3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g37975c3cc70_2_3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975c3cc70_2_3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7975c3cc70_2_3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7975c3cc70_2_3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7975c3cc70_2_3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7975c3cc70_2_3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g37975c3cc70_2_3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7975c3cc70_2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7975c3cc70_2_3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7975c3cc70_2_3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7975c3cc70_2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7975c3cc70_2_4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g37975c3cc70_2_4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7975c3cc70_2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7975c3cc70_2_4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g37975c3cc70_2_4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Relationship Id="rId6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68.png"/><Relationship Id="rId5" Type="http://schemas.openxmlformats.org/officeDocument/2006/relationships/image" Target="../media/image44.png"/><Relationship Id="rId6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76.png"/><Relationship Id="rId6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0.png"/><Relationship Id="rId4" Type="http://schemas.openxmlformats.org/officeDocument/2006/relationships/image" Target="../media/image66.png"/><Relationship Id="rId5" Type="http://schemas.openxmlformats.org/officeDocument/2006/relationships/image" Target="../media/image63.png"/><Relationship Id="rId6" Type="http://schemas.openxmlformats.org/officeDocument/2006/relationships/image" Target="../media/image54.png"/><Relationship Id="rId7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51.png"/><Relationship Id="rId9" Type="http://schemas.openxmlformats.org/officeDocument/2006/relationships/image" Target="../media/image77.png"/><Relationship Id="rId5" Type="http://schemas.openxmlformats.org/officeDocument/2006/relationships/image" Target="../media/image72.png"/><Relationship Id="rId6" Type="http://schemas.openxmlformats.org/officeDocument/2006/relationships/image" Target="../media/image56.png"/><Relationship Id="rId7" Type="http://schemas.openxmlformats.org/officeDocument/2006/relationships/image" Target="../media/image59.png"/><Relationship Id="rId8" Type="http://schemas.openxmlformats.org/officeDocument/2006/relationships/image" Target="../media/image7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9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7.png"/><Relationship Id="rId4" Type="http://schemas.openxmlformats.org/officeDocument/2006/relationships/image" Target="../media/image8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Relationship Id="rId5" Type="http://schemas.openxmlformats.org/officeDocument/2006/relationships/image" Target="../media/image78.png"/><Relationship Id="rId6" Type="http://schemas.openxmlformats.org/officeDocument/2006/relationships/image" Target="../media/image71.png"/><Relationship Id="rId7" Type="http://schemas.openxmlformats.org/officeDocument/2006/relationships/image" Target="../media/image84.png"/><Relationship Id="rId8" Type="http://schemas.openxmlformats.org/officeDocument/2006/relationships/image" Target="../media/image8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1.png"/><Relationship Id="rId4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0.png"/><Relationship Id="rId4" Type="http://schemas.openxmlformats.org/officeDocument/2006/relationships/image" Target="../media/image7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2.png"/><Relationship Id="rId4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9.png"/><Relationship Id="rId4" Type="http://schemas.openxmlformats.org/officeDocument/2006/relationships/image" Target="../media/image93.png"/><Relationship Id="rId5" Type="http://schemas.openxmlformats.org/officeDocument/2006/relationships/image" Target="../media/image8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85.png"/><Relationship Id="rId5" Type="http://schemas.openxmlformats.org/officeDocument/2006/relationships/image" Target="../media/image10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1.png"/><Relationship Id="rId4" Type="http://schemas.openxmlformats.org/officeDocument/2006/relationships/image" Target="../media/image88.png"/><Relationship Id="rId5" Type="http://schemas.openxmlformats.org/officeDocument/2006/relationships/image" Target="../media/image100.png"/><Relationship Id="rId6" Type="http://schemas.openxmlformats.org/officeDocument/2006/relationships/image" Target="../media/image10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1.png"/><Relationship Id="rId4" Type="http://schemas.openxmlformats.org/officeDocument/2006/relationships/image" Target="../media/image95.png"/><Relationship Id="rId5" Type="http://schemas.openxmlformats.org/officeDocument/2006/relationships/image" Target="../media/image10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6.png"/><Relationship Id="rId4" Type="http://schemas.openxmlformats.org/officeDocument/2006/relationships/image" Target="../media/image110.png"/><Relationship Id="rId5" Type="http://schemas.openxmlformats.org/officeDocument/2006/relationships/image" Target="../media/image10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7.png"/><Relationship Id="rId4" Type="http://schemas.openxmlformats.org/officeDocument/2006/relationships/image" Target="../media/image104.png"/><Relationship Id="rId5" Type="http://schemas.openxmlformats.org/officeDocument/2006/relationships/image" Target="../media/image9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1.png"/><Relationship Id="rId4" Type="http://schemas.openxmlformats.org/officeDocument/2006/relationships/image" Target="../media/image97.png"/><Relationship Id="rId5" Type="http://schemas.openxmlformats.org/officeDocument/2006/relationships/image" Target="../media/image1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9.png"/><Relationship Id="rId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Week-6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b="1" baseline="30000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Aug,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92782" y="71378"/>
            <a:ext cx="2310553" cy="3462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Detection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1" y="417597"/>
            <a:ext cx="816486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Detection: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find distinctive and repeatable points/regions in an image that can be reliably identified across different images (even if the object is rotated, scaled, or illuminated differently).</a:t>
            </a:r>
            <a:b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points are called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keypoints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 points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Desirable properties of detected features: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Repeatability: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Detected in multiple views of the same scene.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Distinctiveness: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 look different from each other.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Invariance: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Robust to scale, rotation, illumination, and minor affine distortions.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Locality: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Localized to avoid occlusion issues.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645" y="2821087"/>
            <a:ext cx="3075059" cy="1788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1228" y="2905334"/>
            <a:ext cx="2756009" cy="161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0051" y="3050104"/>
            <a:ext cx="3223949" cy="1559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81" y="412204"/>
            <a:ext cx="2958753" cy="1801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92782" y="71378"/>
            <a:ext cx="3546335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eigenvalue/ eigenvector review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8821" y="143045"/>
            <a:ext cx="4028107" cy="234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81" y="3392338"/>
            <a:ext cx="2666611" cy="1679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3664" y="3066488"/>
            <a:ext cx="3010313" cy="2015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7">
            <a:alphaModFix/>
          </a:blip>
          <a:srcRect b="0" l="0" r="0" t="12173"/>
          <a:stretch/>
        </p:blipFill>
        <p:spPr>
          <a:xfrm>
            <a:off x="6027745" y="3392338"/>
            <a:ext cx="3116256" cy="160960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3970867" y="2772291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6904355" y="2781825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373" y="2376338"/>
            <a:ext cx="2540000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5179238" y="34447"/>
            <a:ext cx="2551690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maximum: illustration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7622" y="381981"/>
            <a:ext cx="4070327" cy="169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/>
        </p:nvSpPr>
        <p:spPr>
          <a:xfrm>
            <a:off x="99127" y="33831"/>
            <a:ext cx="3546335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detection: Algorithm</a:t>
            </a:r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5270"/>
            <a:ext cx="2847622" cy="1508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668389" y="2230311"/>
            <a:ext cx="2018168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Harris operator</a:t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" y="2571750"/>
            <a:ext cx="3907856" cy="229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6">
            <a:alphaModFix/>
          </a:blip>
          <a:srcRect b="0" l="0" r="0" t="17654"/>
          <a:stretch/>
        </p:blipFill>
        <p:spPr>
          <a:xfrm>
            <a:off x="3382207" y="2976939"/>
            <a:ext cx="2837248" cy="853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4389" y="2537192"/>
            <a:ext cx="2837248" cy="25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4311093" y="2189469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7230286" y="218965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28" title="cv ta6 2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50025" y="370875"/>
            <a:ext cx="2239900" cy="13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/>
        </p:nvSpPr>
        <p:spPr>
          <a:xfrm>
            <a:off x="4784051" y="327613"/>
            <a:ext cx="416116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Matching: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matching is the process of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corresponding features (keypoints) between two or more images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detection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(find keypoints).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description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(encode keypoints into descriptors/ local statistics).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(compare descriptors to find correspondences).</a:t>
            </a:r>
            <a:endParaRPr/>
          </a:p>
        </p:txBody>
      </p:sp>
      <p:sp>
        <p:nvSpPr>
          <p:cNvPr id="177" name="Google Shape;177;p29"/>
          <p:cNvSpPr txBox="1"/>
          <p:nvPr/>
        </p:nvSpPr>
        <p:spPr>
          <a:xfrm>
            <a:off x="92782" y="435335"/>
            <a:ext cx="447921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Description: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neighborhood around each detected feature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way that is distinctive and invariant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that features from different images can be compared/matched.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Descriptor properties: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Rotation invariance: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Same description if image is rotated.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invariance: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 at different zoom levels.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Robustness: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 under noise, blur, illumination change.</a:t>
            </a:r>
            <a:endParaRPr/>
          </a:p>
        </p:txBody>
      </p:sp>
      <p:sp>
        <p:nvSpPr>
          <p:cNvPr id="178" name="Google Shape;178;p29"/>
          <p:cNvSpPr txBox="1"/>
          <p:nvPr/>
        </p:nvSpPr>
        <p:spPr>
          <a:xfrm>
            <a:off x="92781" y="15358"/>
            <a:ext cx="3654271" cy="3462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Descriptor and Matching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270715" y="2739967"/>
            <a:ext cx="2889928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of Scale invariant detection</a:t>
            </a:r>
            <a:endParaRPr/>
          </a:p>
        </p:txBody>
      </p:sp>
      <p:sp>
        <p:nvSpPr>
          <p:cNvPr id="180" name="Google Shape;180;p29"/>
          <p:cNvSpPr txBox="1"/>
          <p:nvPr/>
        </p:nvSpPr>
        <p:spPr>
          <a:xfrm>
            <a:off x="4760797" y="2739968"/>
            <a:ext cx="3632051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and description: to be invariant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9" y="3124077"/>
            <a:ext cx="35179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0437" y="3201781"/>
            <a:ext cx="5473700" cy="17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/>
        </p:nvSpPr>
        <p:spPr>
          <a:xfrm>
            <a:off x="1234811" y="106097"/>
            <a:ext cx="2333337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invariant detection</a:t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 rotWithShape="1">
          <a:blip r:embed="rId3">
            <a:alphaModFix/>
          </a:blip>
          <a:srcRect b="70827" l="0" r="18572" t="0"/>
          <a:stretch/>
        </p:blipFill>
        <p:spPr>
          <a:xfrm>
            <a:off x="32176" y="2703047"/>
            <a:ext cx="3804328" cy="101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 txBox="1"/>
          <p:nvPr/>
        </p:nvSpPr>
        <p:spPr>
          <a:xfrm>
            <a:off x="610704" y="2331989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644938" y="3883831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0"/>
          <p:cNvPicPr preferRelativeResize="0"/>
          <p:nvPr/>
        </p:nvPicPr>
        <p:blipFill rotWithShape="1">
          <a:blip r:embed="rId3">
            <a:alphaModFix/>
          </a:blip>
          <a:srcRect b="0" l="0" r="0" t="78898"/>
          <a:stretch/>
        </p:blipFill>
        <p:spPr>
          <a:xfrm>
            <a:off x="32176" y="4294530"/>
            <a:ext cx="4746954" cy="74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 rotWithShape="1">
          <a:blip r:embed="rId4">
            <a:alphaModFix/>
          </a:blip>
          <a:srcRect b="0" l="0" r="0" t="53638"/>
          <a:stretch/>
        </p:blipFill>
        <p:spPr>
          <a:xfrm>
            <a:off x="4779130" y="3356437"/>
            <a:ext cx="4275085" cy="173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 b="84743" l="0" r="47306" t="4519"/>
          <a:stretch/>
        </p:blipFill>
        <p:spPr>
          <a:xfrm>
            <a:off x="4572000" y="2571750"/>
            <a:ext cx="2920669" cy="52200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6211974" y="2173388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6419060" y="3041482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060" y="622595"/>
            <a:ext cx="2699706" cy="139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6093558" y="45843"/>
            <a:ext cx="2798221" cy="500107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between LoG and DoG operator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44" y="501522"/>
            <a:ext cx="3810000" cy="16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3201" y="622595"/>
            <a:ext cx="26416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/>
        </p:nvSpPr>
        <p:spPr>
          <a:xfrm>
            <a:off x="3065080" y="43248"/>
            <a:ext cx="3013839" cy="284663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Keypoints – Scale, Location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80" y="2890567"/>
            <a:ext cx="4325514" cy="127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/>
        </p:nvSpPr>
        <p:spPr>
          <a:xfrm>
            <a:off x="2727244" y="2569265"/>
            <a:ext cx="3412108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Invariant Detectors Requirement</a:t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2007" y="2890567"/>
            <a:ext cx="4325513" cy="220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1899" y="538433"/>
            <a:ext cx="41402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2"/>
          <p:cNvPicPr preferRelativeResize="0"/>
          <p:nvPr/>
        </p:nvPicPr>
        <p:blipFill rotWithShape="1">
          <a:blip r:embed="rId3">
            <a:alphaModFix/>
          </a:blip>
          <a:srcRect b="0" l="0" r="0" t="11228"/>
          <a:stretch/>
        </p:blipFill>
        <p:spPr>
          <a:xfrm>
            <a:off x="141322" y="526774"/>
            <a:ext cx="4572000" cy="231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 rotWithShape="1">
          <a:blip r:embed="rId4">
            <a:alphaModFix/>
          </a:blip>
          <a:srcRect b="0" l="0" r="0" t="8397"/>
          <a:stretch/>
        </p:blipFill>
        <p:spPr>
          <a:xfrm>
            <a:off x="4572000" y="526774"/>
            <a:ext cx="4430678" cy="231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3076" y="3134332"/>
            <a:ext cx="4655552" cy="189053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/>
        </p:nvSpPr>
        <p:spPr>
          <a:xfrm>
            <a:off x="748114" y="118630"/>
            <a:ext cx="3412108" cy="284663"/>
          </a:xfrm>
          <a:prstGeom prst="rect">
            <a:avLst/>
          </a:prstGeom>
          <a:solidFill>
            <a:srgbClr val="EB01F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Harris-Laplacian (Mikolajczyk &amp; Schmid)</a:t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5022574" y="131113"/>
            <a:ext cx="3412108" cy="284663"/>
          </a:xfrm>
          <a:prstGeom prst="rect">
            <a:avLst/>
          </a:prstGeom>
          <a:solidFill>
            <a:srgbClr val="EB01F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Scale-Invariant Feature Transform (SIFT)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/>
        </p:nvSpPr>
        <p:spPr>
          <a:xfrm>
            <a:off x="0" y="27988"/>
            <a:ext cx="4964184" cy="284663"/>
          </a:xfrm>
          <a:prstGeom prst="rect">
            <a:avLst/>
          </a:prstGeom>
          <a:solidFill>
            <a:srgbClr val="EB01F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Speeded-Up Robust Features (SURF): Another descriptor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42" y="312651"/>
            <a:ext cx="4533900" cy="162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12289"/>
            <a:ext cx="4572000" cy="14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74" y="2033965"/>
            <a:ext cx="4572000" cy="234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389259"/>
            <a:ext cx="4462779" cy="2532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 rotWithShape="1">
          <a:blip r:embed="rId3">
            <a:alphaModFix/>
          </a:blip>
          <a:srcRect b="0" l="0" r="0" t="7752"/>
          <a:stretch/>
        </p:blipFill>
        <p:spPr>
          <a:xfrm>
            <a:off x="0" y="947775"/>
            <a:ext cx="5289646" cy="414461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/>
        </p:nvSpPr>
        <p:spPr>
          <a:xfrm>
            <a:off x="3319669" y="0"/>
            <a:ext cx="2971800" cy="284663"/>
          </a:xfrm>
          <a:prstGeom prst="rect">
            <a:avLst/>
          </a:prstGeom>
          <a:solidFill>
            <a:srgbClr val="EB01F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 of SURF</a:t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6415" y="1057106"/>
            <a:ext cx="4235381" cy="184619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/>
          <p:nvPr/>
        </p:nvSpPr>
        <p:spPr>
          <a:xfrm>
            <a:off x="347868" y="510452"/>
            <a:ext cx="3657601" cy="284663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Filter Step (Speed-up for Detection)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/>
        </p:nvSpPr>
        <p:spPr>
          <a:xfrm>
            <a:off x="188842" y="36927"/>
            <a:ext cx="4860236" cy="284663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Haar Wavelet Response Step (Orientation + Descriptor)</a:t>
            </a:r>
            <a:endParaRPr/>
          </a:p>
        </p:txBody>
      </p:sp>
      <p:pic>
        <p:nvPicPr>
          <p:cNvPr id="240" name="Google Shape;240;p35"/>
          <p:cNvPicPr preferRelativeResize="0"/>
          <p:nvPr/>
        </p:nvPicPr>
        <p:blipFill rotWithShape="1">
          <a:blip r:embed="rId3">
            <a:alphaModFix/>
          </a:blip>
          <a:srcRect b="-772" l="0" r="0" t="6832"/>
          <a:stretch/>
        </p:blipFill>
        <p:spPr>
          <a:xfrm>
            <a:off x="0" y="420273"/>
            <a:ext cx="5390167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/>
        </p:nvSpPr>
        <p:spPr>
          <a:xfrm>
            <a:off x="6162261" y="108976"/>
            <a:ext cx="2246243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SIFT vs SURF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492322"/>
            <a:ext cx="3810000" cy="16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00" y="2641629"/>
            <a:ext cx="4625285" cy="237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385" y="52853"/>
            <a:ext cx="3616761" cy="2449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6385" y="2501871"/>
            <a:ext cx="4395074" cy="262995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6"/>
          <p:cNvSpPr txBox="1"/>
          <p:nvPr/>
        </p:nvSpPr>
        <p:spPr>
          <a:xfrm>
            <a:off x="197164" y="56446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- 5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197164" y="2287087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36" title="cv ta6 2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93509"/>
            <a:ext cx="3652367" cy="1641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/>
        </p:nvSpPr>
        <p:spPr>
          <a:xfrm>
            <a:off x="3210339" y="0"/>
            <a:ext cx="3667540" cy="284663"/>
          </a:xfrm>
          <a:prstGeom prst="rect">
            <a:avLst/>
          </a:prstGeom>
          <a:solidFill>
            <a:srgbClr val="F5133A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types of detectors and descriptors</a:t>
            </a:r>
            <a:endParaRPr/>
          </a:p>
        </p:txBody>
      </p:sp>
      <p:pic>
        <p:nvPicPr>
          <p:cNvPr id="258" name="Google Shape;258;p37"/>
          <p:cNvPicPr preferRelativeResize="0"/>
          <p:nvPr/>
        </p:nvPicPr>
        <p:blipFill rotWithShape="1">
          <a:blip r:embed="rId3">
            <a:alphaModFix/>
          </a:blip>
          <a:srcRect b="0" l="0" r="0" t="8186"/>
          <a:stretch/>
        </p:blipFill>
        <p:spPr>
          <a:xfrm>
            <a:off x="12818" y="569326"/>
            <a:ext cx="4040886" cy="223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7"/>
          <p:cNvPicPr preferRelativeResize="0"/>
          <p:nvPr/>
        </p:nvPicPr>
        <p:blipFill rotWithShape="1">
          <a:blip r:embed="rId4">
            <a:alphaModFix/>
          </a:blip>
          <a:srcRect b="0" l="0" r="0" t="13585"/>
          <a:stretch/>
        </p:blipFill>
        <p:spPr>
          <a:xfrm>
            <a:off x="4777212" y="722606"/>
            <a:ext cx="4201334" cy="247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7"/>
          <p:cNvPicPr preferRelativeResize="0"/>
          <p:nvPr/>
        </p:nvPicPr>
        <p:blipFill rotWithShape="1">
          <a:blip r:embed="rId5">
            <a:alphaModFix/>
          </a:blip>
          <a:srcRect b="0" l="0" r="0" t="13256"/>
          <a:stretch/>
        </p:blipFill>
        <p:spPr>
          <a:xfrm>
            <a:off x="165453" y="3171110"/>
            <a:ext cx="3888251" cy="197239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7"/>
          <p:cNvSpPr txBox="1"/>
          <p:nvPr/>
        </p:nvSpPr>
        <p:spPr>
          <a:xfrm>
            <a:off x="165453" y="284663"/>
            <a:ext cx="4197826" cy="2538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(Features from Accelerated Segment Test) → Detector</a:t>
            </a:r>
            <a:endParaRPr/>
          </a:p>
        </p:txBody>
      </p:sp>
      <p:sp>
        <p:nvSpPr>
          <p:cNvPr id="262" name="Google Shape;262;p37"/>
          <p:cNvSpPr txBox="1"/>
          <p:nvPr/>
        </p:nvSpPr>
        <p:spPr>
          <a:xfrm>
            <a:off x="4876565" y="315441"/>
            <a:ext cx="3667540" cy="43855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BRIEF (Binary Robust Independent Elementary Features) → Descriptor</a:t>
            </a:r>
            <a:endParaRPr/>
          </a:p>
        </p:txBody>
      </p:sp>
      <p:sp>
        <p:nvSpPr>
          <p:cNvPr id="263" name="Google Shape;263;p37"/>
          <p:cNvSpPr txBox="1"/>
          <p:nvPr/>
        </p:nvSpPr>
        <p:spPr>
          <a:xfrm>
            <a:off x="36208" y="2887025"/>
            <a:ext cx="4694817" cy="2538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ORB (Oriented FAST and Rotated BRIEF) → Detector + Descriptor</a:t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9208" y="3211155"/>
            <a:ext cx="3556000" cy="18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/>
        </p:nvSpPr>
        <p:spPr>
          <a:xfrm>
            <a:off x="1" y="307751"/>
            <a:ext cx="402534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have feature descriptors (from SIFT, SURF, ORB, etc.), we need to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them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two images. The similarity (or dissimilarity) is measured using norms: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159025" y="27232"/>
            <a:ext cx="2623932" cy="284663"/>
          </a:xfrm>
          <a:prstGeom prst="rect">
            <a:avLst/>
          </a:prstGeom>
          <a:solidFill>
            <a:srgbClr val="EA570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of Feature Descriptors</a:t>
            </a:r>
            <a:endParaRPr/>
          </a:p>
        </p:txBody>
      </p:sp>
      <p:sp>
        <p:nvSpPr>
          <p:cNvPr id="271" name="Google Shape;271;p38"/>
          <p:cNvSpPr txBox="1"/>
          <p:nvPr/>
        </p:nvSpPr>
        <p:spPr>
          <a:xfrm>
            <a:off x="4165321" y="478300"/>
            <a:ext cx="4889228" cy="4175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representation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describes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area (region)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 image instead of just a single keypoint.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keypoint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describes a small neighborhood around a corner or blob (e.g., SIFT descriptor = 16×16 patch).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encodes information from an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 region of interest (ROI)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may be irregularly shaped (e.g., a detected object, a segmented part of the image).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“local fingerprint” of a small patch.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“signature” of a larger image region.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</a:t>
            </a:r>
            <a:endParaRPr/>
          </a:p>
          <a:p>
            <a:pPr indent="-256699" lvl="0" marL="266224" marR="0" rtl="0" algn="l">
              <a:lnSpc>
                <a:spcPct val="100000"/>
              </a:lnSpc>
              <a:spcBef>
                <a:spcPts val="578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 descriptors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descriptors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/ Sub-Image global descriptors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5211416" y="27232"/>
            <a:ext cx="2623932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Descriptors</a:t>
            </a:r>
            <a:endParaRPr/>
          </a:p>
        </p:txBody>
      </p:sp>
      <p:pic>
        <p:nvPicPr>
          <p:cNvPr id="273" name="Google Shape;2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8263"/>
            <a:ext cx="4140200" cy="24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/>
        </p:nvSpPr>
        <p:spPr>
          <a:xfrm>
            <a:off x="129208" y="325543"/>
            <a:ext cx="88855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encodes information about the appearance of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 rectangular region of an image).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9"/>
          <p:cNvSpPr txBox="1"/>
          <p:nvPr/>
        </p:nvSpPr>
        <p:spPr>
          <a:xfrm>
            <a:off x="2309190" y="26896"/>
            <a:ext cx="4151244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 Descriptor: Histogram of Gradients (HoG)</a:t>
            </a:r>
            <a:endParaRPr/>
          </a:p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7" y="647304"/>
            <a:ext cx="4300655" cy="177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39703"/>
            <a:ext cx="3689743" cy="271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1574" y="714625"/>
            <a:ext cx="4373217" cy="20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3882" y="2977809"/>
            <a:ext cx="4670118" cy="204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/>
        </p:nvSpPr>
        <p:spPr>
          <a:xfrm>
            <a:off x="3579816" y="87460"/>
            <a:ext cx="1984367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descriptor</a:t>
            </a:r>
            <a:endParaRPr/>
          </a:p>
        </p:txBody>
      </p:sp>
      <p:sp>
        <p:nvSpPr>
          <p:cNvPr id="289" name="Google Shape;289;p40"/>
          <p:cNvSpPr txBox="1"/>
          <p:nvPr/>
        </p:nvSpPr>
        <p:spPr>
          <a:xfrm>
            <a:off x="0" y="372123"/>
            <a:ext cx="89650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numerical representation that captures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of intensity variations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image region.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2953386" y="668776"/>
            <a:ext cx="2708340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density and direction</a:t>
            </a:r>
            <a:endParaRPr/>
          </a:p>
        </p:txBody>
      </p:sp>
      <p:pic>
        <p:nvPicPr>
          <p:cNvPr id="291" name="Google Shape;2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630" y="1033297"/>
            <a:ext cx="4408898" cy="3117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6445" y="1033297"/>
            <a:ext cx="4128651" cy="327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630" y="4231092"/>
            <a:ext cx="3450186" cy="823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4440" y="4610668"/>
            <a:ext cx="4979560" cy="532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/>
        </p:nvSpPr>
        <p:spPr>
          <a:xfrm>
            <a:off x="1041160" y="112185"/>
            <a:ext cx="2708340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Binary Pattern (LBP)</a:t>
            </a:r>
            <a:endParaRPr/>
          </a:p>
        </p:txBody>
      </p:sp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9786"/>
            <a:ext cx="4797633" cy="1477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67" y="2180337"/>
            <a:ext cx="3617556" cy="2443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1"/>
          <p:cNvPicPr preferRelativeResize="0"/>
          <p:nvPr/>
        </p:nvPicPr>
        <p:blipFill rotWithShape="1">
          <a:blip r:embed="rId5">
            <a:alphaModFix/>
          </a:blip>
          <a:srcRect b="24892" l="0" r="0" t="0"/>
          <a:stretch/>
        </p:blipFill>
        <p:spPr>
          <a:xfrm>
            <a:off x="6325214" y="59805"/>
            <a:ext cx="2735927" cy="19234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1"/>
          <p:cNvSpPr txBox="1"/>
          <p:nvPr/>
        </p:nvSpPr>
        <p:spPr>
          <a:xfrm>
            <a:off x="4797633" y="173654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- 6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4" name="Google Shape;304;p41"/>
          <p:cNvGrpSpPr/>
          <p:nvPr/>
        </p:nvGrpSpPr>
        <p:grpSpPr>
          <a:xfrm>
            <a:off x="3886263" y="1977345"/>
            <a:ext cx="4762547" cy="3141613"/>
            <a:chOff x="4684815" y="2246961"/>
            <a:chExt cx="4348399" cy="2868420"/>
          </a:xfrm>
        </p:grpSpPr>
        <p:pic>
          <p:nvPicPr>
            <p:cNvPr id="305" name="Google Shape;305;p41"/>
            <p:cNvPicPr preferRelativeResize="0"/>
            <p:nvPr/>
          </p:nvPicPr>
          <p:blipFill rotWithShape="1">
            <a:blip r:embed="rId6">
              <a:alphaModFix/>
            </a:blip>
            <a:srcRect b="16410" l="0" r="0" t="9889"/>
            <a:stretch/>
          </p:blipFill>
          <p:spPr>
            <a:xfrm>
              <a:off x="4684815" y="2246961"/>
              <a:ext cx="4348399" cy="2868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4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199277" y="2318258"/>
              <a:ext cx="990566" cy="5069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41"/>
          <p:cNvSpPr txBox="1"/>
          <p:nvPr/>
        </p:nvSpPr>
        <p:spPr>
          <a:xfrm>
            <a:off x="3932575" y="1272384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/>
        </p:nvSpPr>
        <p:spPr>
          <a:xfrm>
            <a:off x="156578" y="102246"/>
            <a:ext cx="223875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Co-occurrence Matrix</a:t>
            </a:r>
            <a:endParaRPr/>
          </a:p>
        </p:txBody>
      </p:sp>
      <p:pic>
        <p:nvPicPr>
          <p:cNvPr id="313" name="Google Shape;3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6909"/>
            <a:ext cx="5395524" cy="934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21904"/>
            <a:ext cx="5565913" cy="199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60746" y="3181791"/>
            <a:ext cx="30734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9322" y="3384549"/>
            <a:ext cx="38481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78500" y="3360397"/>
            <a:ext cx="33655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51872" y="0"/>
            <a:ext cx="2755900" cy="21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2215024"/>
            <a:ext cx="23495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14" y="377688"/>
            <a:ext cx="3587332" cy="1247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722" y="2128079"/>
            <a:ext cx="3234982" cy="2924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 rotWithShape="1">
          <a:blip r:embed="rId5">
            <a:alphaModFix/>
          </a:blip>
          <a:srcRect b="5951" l="0" r="0" t="2648"/>
          <a:stretch/>
        </p:blipFill>
        <p:spPr>
          <a:xfrm>
            <a:off x="4316138" y="1780155"/>
            <a:ext cx="4320966" cy="328990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3"/>
          <p:cNvSpPr txBox="1"/>
          <p:nvPr/>
        </p:nvSpPr>
        <p:spPr>
          <a:xfrm>
            <a:off x="364780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- 7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285716" y="1718481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59" y="630030"/>
            <a:ext cx="4314879" cy="3445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3975" y="-18175"/>
            <a:ext cx="4770026" cy="494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/>
          <p:nvPr/>
        </p:nvSpPr>
        <p:spPr>
          <a:xfrm>
            <a:off x="109331" y="78466"/>
            <a:ext cx="223875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Energy Features</a:t>
            </a:r>
            <a:endParaRPr/>
          </a:p>
        </p:txBody>
      </p:sp>
      <p:pic>
        <p:nvPicPr>
          <p:cNvPr id="340" name="Google Shape;3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63129"/>
            <a:ext cx="4899990" cy="1025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31" y="1520687"/>
            <a:ext cx="2969165" cy="317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0072" y="1672995"/>
            <a:ext cx="3225469" cy="3024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7397" y="313770"/>
            <a:ext cx="2667272" cy="146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1454" y="2325526"/>
            <a:ext cx="2933215" cy="1385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60136" y="3786809"/>
            <a:ext cx="2956146" cy="127669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 txBox="1"/>
          <p:nvPr/>
        </p:nvSpPr>
        <p:spPr>
          <a:xfrm>
            <a:off x="6160136" y="-8513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- 8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45"/>
          <p:cNvSpPr txBox="1"/>
          <p:nvPr/>
        </p:nvSpPr>
        <p:spPr>
          <a:xfrm>
            <a:off x="6160136" y="188914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/>
          <p:nvPr/>
        </p:nvSpPr>
        <p:spPr>
          <a:xfrm>
            <a:off x="4432852" y="1041439"/>
            <a:ext cx="4611757" cy="229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50">
            <a:spAutoFit/>
          </a:bodyPr>
          <a:lstStyle/>
          <a:p>
            <a:pPr indent="-257175" lvl="0" marL="266700" marR="383381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Detection of object patches represented by textured patterns.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Segmentation of images.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Classification / Matching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738" marR="220028" rtl="0" algn="l">
              <a:lnSpc>
                <a:spcPct val="178357"/>
              </a:lnSpc>
              <a:spcBef>
                <a:spcPts val="623"/>
              </a:spcBef>
              <a:spcAft>
                <a:spcPts val="0"/>
              </a:spcAft>
              <a:buClr>
                <a:srgbClr val="FF0000"/>
              </a:buClr>
              <a:buSzPts val="750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Generate a Library of labelled feature descriptors.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Clr>
                <a:srgbClr val="FF0000"/>
              </a:buClr>
              <a:buSzPts val="750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Detection of classes (class labels).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0973" lvl="2" marL="866298" marR="0" rtl="0" algn="l">
              <a:lnSpc>
                <a:spcPct val="100000"/>
              </a:lnSpc>
              <a:spcBef>
                <a:spcPts val="458"/>
              </a:spcBef>
              <a:spcAft>
                <a:spcPts val="0"/>
              </a:spcAft>
              <a:buClr>
                <a:srgbClr val="3333CC"/>
              </a:buClr>
              <a:buSzPts val="700"/>
              <a:buFont typeface="Noto Sans Symbols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Matching to the nearest texture descriptor.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655982" y="370810"/>
            <a:ext cx="2703443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Descriptors Comparison</a:t>
            </a:r>
            <a:endParaRPr/>
          </a:p>
        </p:txBody>
      </p:sp>
      <p:sp>
        <p:nvSpPr>
          <p:cNvPr id="354" name="Google Shape;354;p46"/>
          <p:cNvSpPr txBox="1"/>
          <p:nvPr/>
        </p:nvSpPr>
        <p:spPr>
          <a:xfrm>
            <a:off x="4893365" y="426484"/>
            <a:ext cx="2703443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texture descriptors</a:t>
            </a:r>
            <a:endParaRPr/>
          </a:p>
        </p:txBody>
      </p:sp>
      <p:pic>
        <p:nvPicPr>
          <p:cNvPr id="355" name="Google Shape;35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66" y="980541"/>
            <a:ext cx="4114800" cy="24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7"/>
          <p:cNvSpPr txBox="1"/>
          <p:nvPr/>
        </p:nvSpPr>
        <p:spPr>
          <a:xfrm>
            <a:off x="99392" y="299435"/>
            <a:ext cx="87464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numerical representation of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content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image.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image descriptor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vector that represents the entire image as a whole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rather than individual parts or local regions.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3545442" y="1377"/>
            <a:ext cx="2262810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Descriptor</a:t>
            </a:r>
            <a:endParaRPr/>
          </a:p>
        </p:txBody>
      </p:sp>
      <p:sp>
        <p:nvSpPr>
          <p:cNvPr id="362" name="Google Shape;362;p47"/>
          <p:cNvSpPr txBox="1"/>
          <p:nvPr/>
        </p:nvSpPr>
        <p:spPr>
          <a:xfrm>
            <a:off x="705680" y="1139103"/>
            <a:ext cx="247484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Bag of Visual Words (BoVW)</a:t>
            </a:r>
            <a:endParaRPr/>
          </a:p>
        </p:txBody>
      </p:sp>
      <p:pic>
        <p:nvPicPr>
          <p:cNvPr id="363" name="Google Shape;36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581690"/>
            <a:ext cx="4601809" cy="268219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7"/>
          <p:cNvSpPr txBox="1"/>
          <p:nvPr/>
        </p:nvSpPr>
        <p:spPr>
          <a:xfrm>
            <a:off x="5387007" y="979279"/>
            <a:ext cx="3377227" cy="5001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of Locally Aggregated Descriptors (VLAD)</a:t>
            </a:r>
            <a:endParaRPr/>
          </a:p>
        </p:txBody>
      </p:sp>
      <p:pic>
        <p:nvPicPr>
          <p:cNvPr id="365" name="Google Shape;36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005" y="1550505"/>
            <a:ext cx="4473161" cy="298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/>
        </p:nvSpPr>
        <p:spPr>
          <a:xfrm>
            <a:off x="5080018" y="274480"/>
            <a:ext cx="3347365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a global image descriptor</a:t>
            </a:r>
            <a:endParaRPr/>
          </a:p>
        </p:txBody>
      </p:sp>
      <p:sp>
        <p:nvSpPr>
          <p:cNvPr id="371" name="Google Shape;371;p48"/>
          <p:cNvSpPr txBox="1"/>
          <p:nvPr/>
        </p:nvSpPr>
        <p:spPr>
          <a:xfrm>
            <a:off x="557591" y="237273"/>
            <a:ext cx="3347365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Image Descriptors Comparison</a:t>
            </a:r>
            <a:endParaRPr/>
          </a:p>
        </p:txBody>
      </p:sp>
      <p:pic>
        <p:nvPicPr>
          <p:cNvPr id="372" name="Google Shape;37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97" y="726384"/>
            <a:ext cx="4648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2700" y="745434"/>
            <a:ext cx="40513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/>
          <p:nvPr/>
        </p:nvSpPr>
        <p:spPr>
          <a:xfrm>
            <a:off x="1290605" y="941413"/>
            <a:ext cx="7197365" cy="33932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Detection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Harris Operator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Descriptor and Feature Matching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Harris-Laplacian and SIFT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FAST, BRIEF, ORB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Descriptor – Patch Descriptor, Texture Descriptor and Global Image Descriptor </a:t>
            </a:r>
            <a:endParaRPr/>
          </a:p>
        </p:txBody>
      </p:sp>
      <p:sp>
        <p:nvSpPr>
          <p:cNvPr id="379" name="Google Shape;379;p49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6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50"/>
          <p:cNvSpPr txBox="1"/>
          <p:nvPr/>
        </p:nvSpPr>
        <p:spPr>
          <a:xfrm>
            <a:off x="0" y="166680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5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50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b), 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9" name="Google Shape;389;p5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0" name="Google Shape;390;p50"/>
          <p:cNvSpPr txBox="1"/>
          <p:nvPr/>
        </p:nvSpPr>
        <p:spPr>
          <a:xfrm>
            <a:off x="74506" y="375027"/>
            <a:ext cx="9069494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is/are true for SIFT and SURF?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Computation of scale space and histograms of gradient direction are approximated in SURF compared to SIFT.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Integral of images are used in SURF to speed up computation.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Small Gaussians used in SIFT are approximated by box filters in SURF.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Haar wavelet responses are used to accumulate the orientation in SIFT and SURF descriptors.</a:t>
            </a:r>
            <a:endParaRPr/>
          </a:p>
        </p:txBody>
      </p:sp>
      <p:sp>
        <p:nvSpPr>
          <p:cNvPr id="391" name="Google Shape;391;p50"/>
          <p:cNvSpPr txBox="1"/>
          <p:nvPr/>
        </p:nvSpPr>
        <p:spPr>
          <a:xfrm>
            <a:off x="74506" y="3813505"/>
            <a:ext cx="8737721" cy="315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1" y="1988286"/>
            <a:ext cx="4987535" cy="1978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100" y="3218516"/>
            <a:ext cx="4664596" cy="181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/>
          <p:nvPr/>
        </p:nvSpPr>
        <p:spPr>
          <a:xfrm>
            <a:off x="-1" y="-1800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51"/>
          <p:cNvSpPr txBox="1"/>
          <p:nvPr/>
        </p:nvSpPr>
        <p:spPr>
          <a:xfrm>
            <a:off x="-1" y="328249"/>
            <a:ext cx="8796043" cy="15811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67" l="-575" r="-1008" t="-7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01" name="Google Shape;401;p51"/>
          <p:cNvSpPr txBox="1"/>
          <p:nvPr/>
        </p:nvSpPr>
        <p:spPr>
          <a:xfrm>
            <a:off x="0" y="193268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5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51"/>
          <p:cNvSpPr txBox="1"/>
          <p:nvPr/>
        </p:nvSpPr>
        <p:spPr>
          <a:xfrm>
            <a:off x="3017816" y="4763840"/>
            <a:ext cx="71999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d)</a:t>
            </a:r>
            <a:endParaRPr/>
          </a:p>
        </p:txBody>
      </p:sp>
      <p:cxnSp>
        <p:nvCxnSpPr>
          <p:cNvPr id="404" name="Google Shape;404;p5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5" name="Google Shape;405;p51"/>
          <p:cNvSpPr txBox="1"/>
          <p:nvPr/>
        </p:nvSpPr>
        <p:spPr>
          <a:xfrm>
            <a:off x="-1" y="3850863"/>
            <a:ext cx="82100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2326685"/>
            <a:ext cx="5069305" cy="1934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2456" y="2994933"/>
            <a:ext cx="4573311" cy="20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52"/>
          <p:cNvSpPr txBox="1"/>
          <p:nvPr/>
        </p:nvSpPr>
        <p:spPr>
          <a:xfrm>
            <a:off x="0" y="432561"/>
            <a:ext cx="8833402" cy="16059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86" l="-717" r="0" t="-31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5" name="Google Shape;415;p52"/>
          <p:cNvSpPr txBox="1"/>
          <p:nvPr/>
        </p:nvSpPr>
        <p:spPr>
          <a:xfrm>
            <a:off x="80579" y="200200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5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52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8" name="Google Shape;418;p5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9" name="Google Shape;419;p52"/>
          <p:cNvSpPr txBox="1"/>
          <p:nvPr/>
        </p:nvSpPr>
        <p:spPr>
          <a:xfrm>
            <a:off x="100904" y="2340906"/>
            <a:ext cx="8752823" cy="3385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854" l="-434" r="0" t="-107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20" name="Google Shape;42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614" y="2698072"/>
            <a:ext cx="3636907" cy="1947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3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53"/>
          <p:cNvSpPr txBox="1"/>
          <p:nvPr/>
        </p:nvSpPr>
        <p:spPr>
          <a:xfrm>
            <a:off x="60960" y="179681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5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53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0" name="Google Shape;430;p5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1" name="Google Shape;431;p53"/>
          <p:cNvSpPr txBox="1"/>
          <p:nvPr/>
        </p:nvSpPr>
        <p:spPr>
          <a:xfrm>
            <a:off x="60960" y="346249"/>
            <a:ext cx="8833402" cy="14419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53" l="-429" r="0" t="-17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32" name="Google Shape;43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7" y="2189276"/>
            <a:ext cx="2124128" cy="70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5894" y="2272449"/>
            <a:ext cx="3276328" cy="218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3791" y="2261024"/>
            <a:ext cx="3499249" cy="262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4"/>
          <p:cNvSpPr txBox="1"/>
          <p:nvPr/>
        </p:nvSpPr>
        <p:spPr>
          <a:xfrm>
            <a:off x="0" y="2844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54"/>
          <p:cNvSpPr txBox="1"/>
          <p:nvPr/>
        </p:nvSpPr>
        <p:spPr>
          <a:xfrm>
            <a:off x="1836783" y="155393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5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54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4" name="Google Shape;444;p5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5" name="Google Shape;445;p54"/>
          <p:cNvSpPr txBox="1"/>
          <p:nvPr/>
        </p:nvSpPr>
        <p:spPr>
          <a:xfrm>
            <a:off x="0" y="280652"/>
            <a:ext cx="9027800" cy="217016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7" l="-280" r="0" t="-5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46" name="Google Shape;44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8274" y="1950459"/>
            <a:ext cx="3826042" cy="276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437821"/>
            <a:ext cx="4511947" cy="1276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55"/>
          <p:cNvSpPr txBox="1"/>
          <p:nvPr/>
        </p:nvSpPr>
        <p:spPr>
          <a:xfrm>
            <a:off x="0" y="224030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55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55"/>
          <p:cNvSpPr txBox="1"/>
          <p:nvPr/>
        </p:nvSpPr>
        <p:spPr>
          <a:xfrm>
            <a:off x="3017815" y="4763840"/>
            <a:ext cx="86636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7" name="Google Shape;457;p55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8" name="Google Shape;458;p55"/>
          <p:cNvSpPr txBox="1"/>
          <p:nvPr/>
        </p:nvSpPr>
        <p:spPr>
          <a:xfrm>
            <a:off x="37921" y="463668"/>
            <a:ext cx="8833500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an octave in SIFT operator has 10 images, then the scale factor by which each image in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octave differs from the next image is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1.080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1.065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1.071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1.090</a:t>
            </a:r>
            <a:endParaRPr/>
          </a:p>
        </p:txBody>
      </p:sp>
      <p:pic>
        <p:nvPicPr>
          <p:cNvPr id="459" name="Google Shape;4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1" y="2617541"/>
            <a:ext cx="6136105" cy="1787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56"/>
          <p:cNvSpPr txBox="1"/>
          <p:nvPr/>
        </p:nvSpPr>
        <p:spPr>
          <a:xfrm>
            <a:off x="97105" y="204882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5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56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p5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0" name="Google Shape;470;p56"/>
          <p:cNvSpPr txBox="1"/>
          <p:nvPr/>
        </p:nvSpPr>
        <p:spPr>
          <a:xfrm>
            <a:off x="97105" y="453873"/>
            <a:ext cx="8885054" cy="1569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98" l="-284" r="0" t="-7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71" name="Google Shape;47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7428"/>
            <a:ext cx="4474895" cy="124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4895" y="2440954"/>
            <a:ext cx="4474894" cy="1693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7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57"/>
          <p:cNvSpPr txBox="1"/>
          <p:nvPr/>
        </p:nvSpPr>
        <p:spPr>
          <a:xfrm>
            <a:off x="9525" y="167211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5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57"/>
          <p:cNvSpPr txBox="1"/>
          <p:nvPr/>
        </p:nvSpPr>
        <p:spPr>
          <a:xfrm>
            <a:off x="3017816" y="4763840"/>
            <a:ext cx="76116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d)</a:t>
            </a:r>
            <a:endParaRPr/>
          </a:p>
        </p:txBody>
      </p:sp>
      <p:cxnSp>
        <p:nvCxnSpPr>
          <p:cNvPr id="482" name="Google Shape;482;p5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83" name="Google Shape;48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7"/>
          <p:cNvSpPr txBox="1"/>
          <p:nvPr/>
        </p:nvSpPr>
        <p:spPr>
          <a:xfrm>
            <a:off x="9525" y="348673"/>
            <a:ext cx="899378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is/are true for edge and corner detection?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 corner will have low maximal and minimal curvatures.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 corner will have high maximal and minimal curvatures.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An edge will have low maximal curvature, but very high minimal curvature.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An edge will have high maximal curvature, but very low minimal curvature.</a:t>
            </a:r>
            <a:endParaRPr/>
          </a:p>
        </p:txBody>
      </p:sp>
      <p:pic>
        <p:nvPicPr>
          <p:cNvPr id="487" name="Google Shape;48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45842"/>
            <a:ext cx="6676022" cy="1119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6863" y="2991804"/>
            <a:ext cx="4782972" cy="1886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58"/>
          <p:cNvSpPr txBox="1"/>
          <p:nvPr/>
        </p:nvSpPr>
        <p:spPr>
          <a:xfrm>
            <a:off x="94548" y="127962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58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58"/>
          <p:cNvSpPr txBox="1"/>
          <p:nvPr/>
        </p:nvSpPr>
        <p:spPr>
          <a:xfrm>
            <a:off x="3301082" y="4771806"/>
            <a:ext cx="83065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4.20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8" name="Google Shape;498;p58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9" name="Google Shape;499;p58"/>
          <p:cNvSpPr txBox="1"/>
          <p:nvPr/>
        </p:nvSpPr>
        <p:spPr>
          <a:xfrm>
            <a:off x="-1" y="358776"/>
            <a:ext cx="9144000" cy="6037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499" l="-416" r="-970" t="-416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500" name="Google Shape;500;p58"/>
          <p:cNvPicPr preferRelativeResize="0"/>
          <p:nvPr/>
        </p:nvPicPr>
        <p:blipFill rotWithShape="1">
          <a:blip r:embed="rId4">
            <a:alphaModFix/>
          </a:blip>
          <a:srcRect b="11850" l="0" r="14340" t="0"/>
          <a:stretch/>
        </p:blipFill>
        <p:spPr>
          <a:xfrm>
            <a:off x="156410" y="1661852"/>
            <a:ext cx="4833008" cy="154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0174" y="1996657"/>
            <a:ext cx="4117415" cy="3058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59"/>
          <p:cNvSpPr txBox="1"/>
          <p:nvPr/>
        </p:nvSpPr>
        <p:spPr>
          <a:xfrm>
            <a:off x="42643" y="220309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9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59"/>
          <p:cNvSpPr txBox="1"/>
          <p:nvPr/>
        </p:nvSpPr>
        <p:spPr>
          <a:xfrm>
            <a:off x="3127729" y="4771822"/>
            <a:ext cx="845460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1" name="Google Shape;511;p59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2" name="Google Shape;512;p59"/>
          <p:cNvSpPr txBox="1"/>
          <p:nvPr/>
        </p:nvSpPr>
        <p:spPr>
          <a:xfrm>
            <a:off x="42643" y="413110"/>
            <a:ext cx="8844235" cy="14862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83" l="-42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513" name="Google Shape;51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837" y="2594153"/>
            <a:ext cx="5378784" cy="19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