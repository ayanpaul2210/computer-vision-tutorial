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Arial Black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AD62B3-803F-4899-9F28-6A98967D4451}">
  <a:tblStyle styleId="{D2AD62B3-803F-4899-9F28-6A98967D445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1F1A125E-B89F-42EB-A634-BDCA7C2AFEDE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6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alBlack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9" name="Google Shape;49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2" name="Google Shape;51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3" name="Google Shape;54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I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3.png"/><Relationship Id="rId8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10" Type="http://schemas.openxmlformats.org/officeDocument/2006/relationships/image" Target="../media/image30.png"/><Relationship Id="rId9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6.png"/><Relationship Id="rId8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9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Relationship Id="rId7" Type="http://schemas.openxmlformats.org/officeDocument/2006/relationships/image" Target="../media/image35.png"/><Relationship Id="rId8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7.png"/><Relationship Id="rId4" Type="http://schemas.openxmlformats.org/officeDocument/2006/relationships/image" Target="../media/image60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38.png"/><Relationship Id="rId8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48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Relationship Id="rId7" Type="http://schemas.openxmlformats.org/officeDocument/2006/relationships/image" Target="../media/image7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9.png"/><Relationship Id="rId4" Type="http://schemas.openxmlformats.org/officeDocument/2006/relationships/image" Target="../media/image47.png"/><Relationship Id="rId11" Type="http://schemas.openxmlformats.org/officeDocument/2006/relationships/image" Target="../media/image58.png"/><Relationship Id="rId10" Type="http://schemas.openxmlformats.org/officeDocument/2006/relationships/image" Target="../media/image61.png"/><Relationship Id="rId9" Type="http://schemas.openxmlformats.org/officeDocument/2006/relationships/image" Target="../media/image54.png"/><Relationship Id="rId5" Type="http://schemas.openxmlformats.org/officeDocument/2006/relationships/image" Target="../media/image49.png"/><Relationship Id="rId6" Type="http://schemas.openxmlformats.org/officeDocument/2006/relationships/image" Target="../media/image67.png"/><Relationship Id="rId7" Type="http://schemas.openxmlformats.org/officeDocument/2006/relationships/image" Target="../media/image53.png"/><Relationship Id="rId8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56.png"/><Relationship Id="rId5" Type="http://schemas.openxmlformats.org/officeDocument/2006/relationships/image" Target="../media/image65.png"/><Relationship Id="rId6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Relationship Id="rId4" Type="http://schemas.openxmlformats.org/officeDocument/2006/relationships/image" Target="../media/image62.png"/><Relationship Id="rId5" Type="http://schemas.openxmlformats.org/officeDocument/2006/relationships/image" Target="../media/image68.png"/><Relationship Id="rId6" Type="http://schemas.openxmlformats.org/officeDocument/2006/relationships/image" Target="../media/image57.png"/><Relationship Id="rId7" Type="http://schemas.openxmlformats.org/officeDocument/2006/relationships/image" Target="../media/image66.png"/><Relationship Id="rId8" Type="http://schemas.openxmlformats.org/officeDocument/2006/relationships/image" Target="../media/image6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0.png"/><Relationship Id="rId4" Type="http://schemas.openxmlformats.org/officeDocument/2006/relationships/image" Target="../media/image76.png"/><Relationship Id="rId5" Type="http://schemas.openxmlformats.org/officeDocument/2006/relationships/image" Target="../media/image74.png"/><Relationship Id="rId6" Type="http://schemas.openxmlformats.org/officeDocument/2006/relationships/image" Target="../media/image7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Relationship Id="rId4" Type="http://schemas.openxmlformats.org/officeDocument/2006/relationships/image" Target="../media/image77.png"/><Relationship Id="rId5" Type="http://schemas.openxmlformats.org/officeDocument/2006/relationships/image" Target="../media/image80.png"/><Relationship Id="rId6" Type="http://schemas.openxmlformats.org/officeDocument/2006/relationships/image" Target="../media/image86.png"/><Relationship Id="rId7" Type="http://schemas.openxmlformats.org/officeDocument/2006/relationships/image" Target="../media/image83.png"/><Relationship Id="rId8" Type="http://schemas.openxmlformats.org/officeDocument/2006/relationships/image" Target="../media/image10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8.png"/><Relationship Id="rId4" Type="http://schemas.openxmlformats.org/officeDocument/2006/relationships/image" Target="../media/image101.png"/><Relationship Id="rId9" Type="http://schemas.openxmlformats.org/officeDocument/2006/relationships/image" Target="../media/image81.png"/><Relationship Id="rId5" Type="http://schemas.openxmlformats.org/officeDocument/2006/relationships/image" Target="../media/image73.png"/><Relationship Id="rId6" Type="http://schemas.openxmlformats.org/officeDocument/2006/relationships/image" Target="../media/image79.png"/><Relationship Id="rId7" Type="http://schemas.openxmlformats.org/officeDocument/2006/relationships/image" Target="../media/image82.png"/><Relationship Id="rId8" Type="http://schemas.openxmlformats.org/officeDocument/2006/relationships/image" Target="../media/image7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87.png"/><Relationship Id="rId6" Type="http://schemas.openxmlformats.org/officeDocument/2006/relationships/image" Target="../media/image9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5.png"/><Relationship Id="rId4" Type="http://schemas.openxmlformats.org/officeDocument/2006/relationships/image" Target="../media/image90.png"/><Relationship Id="rId5" Type="http://schemas.openxmlformats.org/officeDocument/2006/relationships/image" Target="../media/image100.png"/><Relationship Id="rId6" Type="http://schemas.openxmlformats.org/officeDocument/2006/relationships/image" Target="../media/image9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8.png"/><Relationship Id="rId4" Type="http://schemas.openxmlformats.org/officeDocument/2006/relationships/image" Target="../media/image91.png"/><Relationship Id="rId5" Type="http://schemas.openxmlformats.org/officeDocument/2006/relationships/image" Target="../media/image95.png"/><Relationship Id="rId6" Type="http://schemas.openxmlformats.org/officeDocument/2006/relationships/image" Target="../media/image84.png"/><Relationship Id="rId7" Type="http://schemas.openxmlformats.org/officeDocument/2006/relationships/image" Target="../media/image9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7.png"/><Relationship Id="rId4" Type="http://schemas.openxmlformats.org/officeDocument/2006/relationships/image" Target="../media/image114.png"/><Relationship Id="rId5" Type="http://schemas.openxmlformats.org/officeDocument/2006/relationships/image" Target="../media/image10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0.png"/><Relationship Id="rId4" Type="http://schemas.openxmlformats.org/officeDocument/2006/relationships/image" Target="../media/image92.png"/><Relationship Id="rId5" Type="http://schemas.openxmlformats.org/officeDocument/2006/relationships/image" Target="../media/image103.png"/><Relationship Id="rId6" Type="http://schemas.openxmlformats.org/officeDocument/2006/relationships/image" Target="../media/image9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Relationship Id="rId5" Type="http://schemas.openxmlformats.org/officeDocument/2006/relationships/image" Target="../media/image102.png"/><Relationship Id="rId6" Type="http://schemas.openxmlformats.org/officeDocument/2006/relationships/image" Target="../media/image10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1.png"/><Relationship Id="rId4" Type="http://schemas.openxmlformats.org/officeDocument/2006/relationships/image" Target="../media/image119.png"/><Relationship Id="rId5" Type="http://schemas.openxmlformats.org/officeDocument/2006/relationships/image" Target="../media/image130.png"/><Relationship Id="rId6" Type="http://schemas.openxmlformats.org/officeDocument/2006/relationships/image" Target="../media/image1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7.png"/><Relationship Id="rId4" Type="http://schemas.openxmlformats.org/officeDocument/2006/relationships/image" Target="../media/image115.png"/><Relationship Id="rId11" Type="http://schemas.openxmlformats.org/officeDocument/2006/relationships/image" Target="../media/image133.png"/><Relationship Id="rId10" Type="http://schemas.openxmlformats.org/officeDocument/2006/relationships/image" Target="../media/image123.png"/><Relationship Id="rId9" Type="http://schemas.openxmlformats.org/officeDocument/2006/relationships/image" Target="../media/image131.png"/><Relationship Id="rId5" Type="http://schemas.openxmlformats.org/officeDocument/2006/relationships/image" Target="../media/image117.png"/><Relationship Id="rId6" Type="http://schemas.openxmlformats.org/officeDocument/2006/relationships/image" Target="../media/image125.png"/><Relationship Id="rId7" Type="http://schemas.openxmlformats.org/officeDocument/2006/relationships/image" Target="../media/image118.png"/><Relationship Id="rId8" Type="http://schemas.openxmlformats.org/officeDocument/2006/relationships/image" Target="../media/image1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4.png"/><Relationship Id="rId4" Type="http://schemas.openxmlformats.org/officeDocument/2006/relationships/image" Target="../media/image116.png"/><Relationship Id="rId5" Type="http://schemas.openxmlformats.org/officeDocument/2006/relationships/image" Target="../media/image1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6.png"/><Relationship Id="rId4" Type="http://schemas.openxmlformats.org/officeDocument/2006/relationships/image" Target="../media/image134.png"/><Relationship Id="rId5" Type="http://schemas.openxmlformats.org/officeDocument/2006/relationships/image" Target="../media/image129.png"/><Relationship Id="rId6" Type="http://schemas.openxmlformats.org/officeDocument/2006/relationships/image" Target="../media/image137.png"/><Relationship Id="rId7" Type="http://schemas.openxmlformats.org/officeDocument/2006/relationships/image" Target="../media/image132.png"/><Relationship Id="rId8" Type="http://schemas.openxmlformats.org/officeDocument/2006/relationships/image" Target="../media/image1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0.png"/><Relationship Id="rId4" Type="http://schemas.openxmlformats.org/officeDocument/2006/relationships/image" Target="../media/image1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9.png"/><Relationship Id="rId4" Type="http://schemas.openxmlformats.org/officeDocument/2006/relationships/image" Target="../media/image138.png"/><Relationship Id="rId5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 amt="80000"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2296980" y="128010"/>
            <a:ext cx="4550044" cy="13157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Week-8 (Discussion)</a:t>
            </a:r>
            <a:endParaRPr b="0" i="0" sz="1100" u="none" cap="none" strike="noStrike">
              <a:solidFill>
                <a:srgbClr val="F7CAA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baseline="30000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b="1" i="0" lang="en-IN" sz="4100" u="none" cap="none" strike="noStrike">
                <a:solidFill>
                  <a:srgbClr val="F7CAAC"/>
                </a:solidFill>
                <a:latin typeface="Calibri"/>
                <a:ea typeface="Calibri"/>
                <a:cs typeface="Calibri"/>
                <a:sym typeface="Calibri"/>
              </a:rPr>
              <a:t>Sept, 2025</a:t>
            </a:r>
            <a:endParaRPr b="1" i="0" sz="4100" u="none" cap="none" strike="noStrik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11" y="122195"/>
            <a:ext cx="1477652" cy="147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1774" y="122195"/>
            <a:ext cx="1133573" cy="126960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0" y="1922667"/>
            <a:ext cx="7105200" cy="1915879"/>
          </a:xfrm>
          <a:prstGeom prst="rect">
            <a:avLst/>
          </a:prstGeom>
          <a:solidFill>
            <a:srgbClr val="FBE4D4">
              <a:alpha val="74117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IN" sz="3000" u="none" cap="none" strike="noStrike">
                <a:solidFill>
                  <a:srgbClr val="AC1684"/>
                </a:solidFill>
                <a:latin typeface="Arial Black"/>
                <a:ea typeface="Arial Black"/>
                <a:cs typeface="Arial Black"/>
                <a:sym typeface="Arial Black"/>
              </a:rPr>
              <a:t>Computer Vision</a:t>
            </a:r>
            <a:endParaRPr b="0" i="0" sz="1800" u="none" cap="none" strike="noStrike">
              <a:solidFill>
                <a:srgbClr val="AC1684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Prof. Jayanta Mukhopadhyay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Professor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Computer Science and Engineering Department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AC1684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0" i="0" sz="1400" u="none" cap="none" strike="noStrike">
              <a:solidFill>
                <a:srgbClr val="AC168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" y="3965274"/>
            <a:ext cx="6440864" cy="107375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Ayan Paul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PMRF Research Scholar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IN" sz="150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IIT Kharagpur</a:t>
            </a:r>
            <a:endParaRPr b="1" i="0" sz="1500" u="none" cap="none" strike="noStrike">
              <a:solidFill>
                <a:srgbClr val="FFF2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6084" y="1585053"/>
            <a:ext cx="3777916" cy="355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11303" l="20310" r="22872" t="32608"/>
          <a:stretch/>
        </p:blipFill>
        <p:spPr>
          <a:xfrm>
            <a:off x="198783" y="386819"/>
            <a:ext cx="3081130" cy="1709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0" l="26534" r="26215" t="37495"/>
          <a:stretch/>
        </p:blipFill>
        <p:spPr>
          <a:xfrm>
            <a:off x="3786809" y="71378"/>
            <a:ext cx="3176256" cy="23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5">
            <a:alphaModFix/>
          </a:blip>
          <a:srcRect b="10493" l="25817" r="42293" t="61462"/>
          <a:stretch/>
        </p:blipFill>
        <p:spPr>
          <a:xfrm>
            <a:off x="6498347" y="924340"/>
            <a:ext cx="2051152" cy="101379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2782" y="71378"/>
            <a:ext cx="1631744" cy="3154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color?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66776" y="2315481"/>
            <a:ext cx="2227946" cy="315441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 body Radiators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14"/>
          <p:cNvGrpSpPr/>
          <p:nvPr/>
        </p:nvGrpSpPr>
        <p:grpSpPr>
          <a:xfrm>
            <a:off x="198783" y="2850053"/>
            <a:ext cx="3694027" cy="2015797"/>
            <a:chOff x="92782" y="2740884"/>
            <a:chExt cx="3694027" cy="2015797"/>
          </a:xfrm>
        </p:grpSpPr>
        <p:pic>
          <p:nvPicPr>
            <p:cNvPr id="100" name="Google Shape;100;p14"/>
            <p:cNvPicPr preferRelativeResize="0"/>
            <p:nvPr/>
          </p:nvPicPr>
          <p:blipFill rotWithShape="1">
            <a:blip r:embed="rId6">
              <a:alphaModFix/>
            </a:blip>
            <a:srcRect b="10978" l="17594" r="20639" t="27903"/>
            <a:stretch/>
          </p:blipFill>
          <p:spPr>
            <a:xfrm>
              <a:off x="92782" y="2740884"/>
              <a:ext cx="3624453" cy="20157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14"/>
            <p:cNvSpPr txBox="1"/>
            <p:nvPr/>
          </p:nvSpPr>
          <p:spPr>
            <a:xfrm>
              <a:off x="3279913" y="4214191"/>
              <a:ext cx="506896" cy="542490"/>
            </a:xfrm>
            <a:prstGeom prst="rect">
              <a:avLst/>
            </a:prstGeom>
            <a:solidFill>
              <a:srgbClr val="FBFEF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2" name="Google Shape;102;p14"/>
          <p:cNvPicPr preferRelativeResize="0"/>
          <p:nvPr/>
        </p:nvPicPr>
        <p:blipFill rotWithShape="1">
          <a:blip r:embed="rId7">
            <a:alphaModFix/>
          </a:blip>
          <a:srcRect b="31825" l="22428" r="14634" t="26977"/>
          <a:stretch/>
        </p:blipFill>
        <p:spPr>
          <a:xfrm>
            <a:off x="5574927" y="2906696"/>
            <a:ext cx="2705291" cy="9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339444" y="2483247"/>
            <a:ext cx="3176256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 of Light and Surfaces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8">
            <a:alphaModFix/>
          </a:blip>
          <a:srcRect b="3786" l="22429" r="24786" t="71537"/>
          <a:stretch/>
        </p:blipFill>
        <p:spPr>
          <a:xfrm>
            <a:off x="4760860" y="3933445"/>
            <a:ext cx="4333427" cy="1138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 rotWithShape="1">
          <a:blip r:embed="rId3">
            <a:alphaModFix/>
          </a:blip>
          <a:srcRect b="20472" l="12205" r="25909" t="21716"/>
          <a:stretch/>
        </p:blipFill>
        <p:spPr>
          <a:xfrm>
            <a:off x="0" y="538518"/>
            <a:ext cx="4214191" cy="2212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4">
            <a:alphaModFix/>
          </a:blip>
          <a:srcRect b="563" l="11250" r="13506" t="26823"/>
          <a:stretch/>
        </p:blipFill>
        <p:spPr>
          <a:xfrm>
            <a:off x="4303643" y="366442"/>
            <a:ext cx="4403036" cy="23882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18717" y="51001"/>
            <a:ext cx="2915904" cy="315441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Eye cells –Rods and Cones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100905" y="0"/>
            <a:ext cx="3176256" cy="31544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Rod/ Cone Sensitivity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" name="Google Shape;113;p15"/>
          <p:cNvGraphicFramePr/>
          <p:nvPr/>
        </p:nvGraphicFramePr>
        <p:xfrm>
          <a:off x="0" y="3005145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9B5FF"/>
                    </a:gs>
                    <a:gs pos="35000">
                      <a:srgbClr val="B9CBFF"/>
                    </a:gs>
                    <a:gs pos="100000">
                      <a:srgbClr val="E2E9FF"/>
                    </a:gs>
                  </a:gsLst>
                  <a:lin ang="16200000" scaled="0"/>
                </a:gradFill>
                <a:tableStyleId>{D2AD62B3-803F-4899-9F28-6A98967D4451}</a:tableStyleId>
              </a:tblPr>
              <a:tblGrid>
                <a:gridCol w="1487550"/>
                <a:gridCol w="1487550"/>
                <a:gridCol w="1487550"/>
              </a:tblGrid>
              <a:tr h="24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Rods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4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Night vision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Color &amp; sharp vision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4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Sensitivity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(dim light)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 (bright light)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4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Color Detection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Yes (RGB)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4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Peripheral retina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Central retina (fovea)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4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~120 million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~6 million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4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Slow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14" name="Google Shape;114;p15"/>
          <p:cNvGraphicFramePr/>
          <p:nvPr/>
        </p:nvGraphicFramePr>
        <p:xfrm>
          <a:off x="4825447" y="3068750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BBF7A3"/>
                    </a:gs>
                    <a:gs pos="35000">
                      <a:srgbClr val="CDF8BE"/>
                    </a:gs>
                    <a:gs pos="100000">
                      <a:srgbClr val="ECFDE5"/>
                    </a:gs>
                  </a:gsLst>
                  <a:lin ang="16200000" scaled="0"/>
                </a:gradFill>
                <a:tableStyleId>{1F1A125E-B89F-42EB-A634-BDCA7C2AFEDE}</a:tableStyleId>
              </a:tblPr>
              <a:tblGrid>
                <a:gridCol w="723525"/>
                <a:gridCol w="1129975"/>
                <a:gridCol w="959275"/>
              </a:tblGrid>
              <a:tr h="21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Cone Type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Wavelength Sensitivity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Color Detected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1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~420 nm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Blue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1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~534 nm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Green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~564 nm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115" name="Google Shape;115;p15"/>
          <p:cNvPicPr preferRelativeResize="0"/>
          <p:nvPr/>
        </p:nvPicPr>
        <p:blipFill rotWithShape="1">
          <a:blip r:embed="rId5">
            <a:alphaModFix/>
          </a:blip>
          <a:srcRect b="49185" l="29875" r="25770" t="22445"/>
          <a:stretch/>
        </p:blipFill>
        <p:spPr>
          <a:xfrm>
            <a:off x="6848061" y="4375271"/>
            <a:ext cx="2136912" cy="76822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307496" y="2720482"/>
            <a:ext cx="1848678" cy="284663"/>
          </a:xfrm>
          <a:prstGeom prst="rect">
            <a:avLst/>
          </a:prstGeom>
          <a:solidFill>
            <a:srgbClr val="E500FE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Perception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4919" l="17043" r="15808" t="28560"/>
          <a:stretch/>
        </p:blipFill>
        <p:spPr>
          <a:xfrm>
            <a:off x="0" y="308069"/>
            <a:ext cx="3641322" cy="202758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0" y="23406"/>
            <a:ext cx="1567345" cy="28466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Trichromacy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519531" y="0"/>
            <a:ext cx="2004391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Color Spaces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4" name="Google Shape;124;p16"/>
          <p:cNvGrpSpPr/>
          <p:nvPr/>
        </p:nvGrpSpPr>
        <p:grpSpPr>
          <a:xfrm>
            <a:off x="3952461" y="506550"/>
            <a:ext cx="4699229" cy="1491215"/>
            <a:chOff x="3906080" y="308069"/>
            <a:chExt cx="5138529" cy="1630619"/>
          </a:xfrm>
        </p:grpSpPr>
        <p:pic>
          <p:nvPicPr>
            <p:cNvPr id="125" name="Google Shape;125;p16"/>
            <p:cNvPicPr preferRelativeResize="0"/>
            <p:nvPr/>
          </p:nvPicPr>
          <p:blipFill rotWithShape="1">
            <a:blip r:embed="rId4">
              <a:alphaModFix/>
            </a:blip>
            <a:srcRect b="30532" l="12758" r="2933" t="29521"/>
            <a:stretch/>
          </p:blipFill>
          <p:spPr>
            <a:xfrm>
              <a:off x="3906080" y="309854"/>
              <a:ext cx="3478696" cy="9264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16"/>
            <p:cNvPicPr preferRelativeResize="0"/>
            <p:nvPr/>
          </p:nvPicPr>
          <p:blipFill rotWithShape="1">
            <a:blip r:embed="rId4">
              <a:alphaModFix/>
            </a:blip>
            <a:srcRect b="70914" l="52469" r="17105" t="0"/>
            <a:stretch/>
          </p:blipFill>
          <p:spPr>
            <a:xfrm>
              <a:off x="7394713" y="308069"/>
              <a:ext cx="1649896" cy="8865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6"/>
            <p:cNvPicPr preferRelativeResize="0"/>
            <p:nvPr/>
          </p:nvPicPr>
          <p:blipFill rotWithShape="1">
            <a:blip r:embed="rId4">
              <a:alphaModFix/>
            </a:blip>
            <a:srcRect b="0" l="0" r="26576" t="77782"/>
            <a:stretch/>
          </p:blipFill>
          <p:spPr>
            <a:xfrm>
              <a:off x="3906080" y="1261472"/>
              <a:ext cx="3981726" cy="677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12963" r="0" t="25366"/>
          <a:stretch/>
        </p:blipFill>
        <p:spPr>
          <a:xfrm>
            <a:off x="0" y="2887253"/>
            <a:ext cx="4681331" cy="22562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783672" y="2566825"/>
            <a:ext cx="2498035" cy="284663"/>
          </a:xfrm>
          <a:prstGeom prst="rect">
            <a:avLst/>
          </a:prstGeom>
          <a:solidFill>
            <a:srgbClr val="BF9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Matching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 rotWithShape="1">
          <a:blip r:embed="rId6">
            <a:alphaModFix/>
          </a:blip>
          <a:srcRect b="14271" l="25956" r="53187" t="30999"/>
          <a:stretch/>
        </p:blipFill>
        <p:spPr>
          <a:xfrm>
            <a:off x="6903355" y="2181862"/>
            <a:ext cx="1987826" cy="293178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544378" y="3289981"/>
            <a:ext cx="1146313" cy="71555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 and Subtraction of Colors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22339" l="57473" r="12647" t="33304"/>
          <a:stretch/>
        </p:blipFill>
        <p:spPr>
          <a:xfrm>
            <a:off x="4875142" y="573099"/>
            <a:ext cx="2395331" cy="19986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3250096" y="0"/>
            <a:ext cx="2902226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Color Models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1349006" y="215477"/>
            <a:ext cx="1252330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RGB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881" y="483703"/>
            <a:ext cx="4593498" cy="220852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1349006" y="2707414"/>
            <a:ext cx="1252330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CMY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17"/>
          <p:cNvGrpSpPr/>
          <p:nvPr/>
        </p:nvGrpSpPr>
        <p:grpSpPr>
          <a:xfrm>
            <a:off x="86094" y="2891272"/>
            <a:ext cx="4575358" cy="2188843"/>
            <a:chOff x="86094" y="2891272"/>
            <a:chExt cx="4575358" cy="2188843"/>
          </a:xfrm>
        </p:grpSpPr>
        <p:pic>
          <p:nvPicPr>
            <p:cNvPr id="142" name="Google Shape;142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6094" y="3007260"/>
              <a:ext cx="4575358" cy="20728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7"/>
            <p:cNvPicPr preferRelativeResize="0"/>
            <p:nvPr/>
          </p:nvPicPr>
          <p:blipFill rotWithShape="1">
            <a:blip r:embed="rId6">
              <a:alphaModFix/>
            </a:blip>
            <a:srcRect b="74928" l="51595" r="14410" t="3045"/>
            <a:stretch/>
          </p:blipFill>
          <p:spPr>
            <a:xfrm>
              <a:off x="3204732" y="2891272"/>
              <a:ext cx="1431234" cy="521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7"/>
            <p:cNvPicPr preferRelativeResize="0"/>
            <p:nvPr/>
          </p:nvPicPr>
          <p:blipFill rotWithShape="1">
            <a:blip r:embed="rId6">
              <a:alphaModFix/>
            </a:blip>
            <a:srcRect b="27336" l="55949" r="20678" t="42842"/>
            <a:stretch/>
          </p:blipFill>
          <p:spPr>
            <a:xfrm>
              <a:off x="3690470" y="4148852"/>
              <a:ext cx="940525" cy="67451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7"/>
          <p:cNvSpPr txBox="1"/>
          <p:nvPr/>
        </p:nvSpPr>
        <p:spPr>
          <a:xfrm>
            <a:off x="5990004" y="2583771"/>
            <a:ext cx="1953040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 XYZ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7"/>
          <p:cNvGrpSpPr/>
          <p:nvPr/>
        </p:nvGrpSpPr>
        <p:grpSpPr>
          <a:xfrm>
            <a:off x="4875142" y="3007260"/>
            <a:ext cx="4182764" cy="1731301"/>
            <a:chOff x="4875142" y="3007260"/>
            <a:chExt cx="4182764" cy="1731301"/>
          </a:xfrm>
        </p:grpSpPr>
        <p:pic>
          <p:nvPicPr>
            <p:cNvPr id="147" name="Google Shape;147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875142" y="3007260"/>
              <a:ext cx="4182764" cy="1731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7"/>
            <p:cNvPicPr preferRelativeResize="0"/>
            <p:nvPr/>
          </p:nvPicPr>
          <p:blipFill rotWithShape="1">
            <a:blip r:embed="rId8">
              <a:alphaModFix/>
            </a:blip>
            <a:srcRect b="4520" l="15587" r="19080" t="75277"/>
            <a:stretch/>
          </p:blipFill>
          <p:spPr>
            <a:xfrm>
              <a:off x="5401110" y="3872910"/>
              <a:ext cx="3603331" cy="62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/>
          <p:cNvPicPr preferRelativeResize="0"/>
          <p:nvPr/>
        </p:nvPicPr>
        <p:blipFill rotWithShape="1">
          <a:blip r:embed="rId3">
            <a:alphaModFix/>
          </a:blip>
          <a:srcRect b="7727" l="60069" r="14297" t="4734"/>
          <a:stretch/>
        </p:blipFill>
        <p:spPr>
          <a:xfrm>
            <a:off x="2733912" y="564069"/>
            <a:ext cx="1325073" cy="2543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4">
            <a:alphaModFix/>
          </a:blip>
          <a:srcRect b="10096" l="12948" r="12358" t="29860"/>
          <a:stretch/>
        </p:blipFill>
        <p:spPr>
          <a:xfrm>
            <a:off x="5277679" y="440981"/>
            <a:ext cx="3511520" cy="158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980682" y="0"/>
            <a:ext cx="2338988" cy="28466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 Chromaticity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18"/>
          <p:cNvPicPr preferRelativeResize="0"/>
          <p:nvPr/>
        </p:nvPicPr>
        <p:blipFill rotWithShape="1">
          <a:blip r:embed="rId5">
            <a:alphaModFix/>
          </a:blip>
          <a:srcRect b="87791" l="0" r="16965" t="0"/>
          <a:stretch/>
        </p:blipFill>
        <p:spPr>
          <a:xfrm>
            <a:off x="0" y="317895"/>
            <a:ext cx="4798851" cy="246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 rotWithShape="1">
          <a:blip r:embed="rId3">
            <a:alphaModFix/>
          </a:blip>
          <a:srcRect b="21497" l="12463" r="45728" t="29806"/>
          <a:stretch/>
        </p:blipFill>
        <p:spPr>
          <a:xfrm>
            <a:off x="104684" y="597301"/>
            <a:ext cx="2439733" cy="159718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84575" y="13276"/>
            <a:ext cx="2338988" cy="284663"/>
          </a:xfrm>
          <a:prstGeom prst="rect">
            <a:avLst/>
          </a:prstGeom>
          <a:solidFill>
            <a:srgbClr val="7F6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 Chromaticity Chart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36838" y="2261174"/>
            <a:ext cx="1862587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 Chart Hue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6">
            <a:alphaModFix/>
          </a:blip>
          <a:srcRect b="18396" l="13324" r="11347" t="32039"/>
          <a:stretch/>
        </p:blipFill>
        <p:spPr>
          <a:xfrm>
            <a:off x="0" y="2591269"/>
            <a:ext cx="2769690" cy="1024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 rotWithShape="1">
          <a:blip r:embed="rId7">
            <a:alphaModFix/>
          </a:blip>
          <a:srcRect b="7183" l="11034" r="11565" t="31563"/>
          <a:stretch/>
        </p:blipFill>
        <p:spPr>
          <a:xfrm>
            <a:off x="5277679" y="2261174"/>
            <a:ext cx="2769691" cy="1231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5922657" y="1954473"/>
            <a:ext cx="1862587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 Chart Saturation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18"/>
          <p:cNvPicPr preferRelativeResize="0"/>
          <p:nvPr/>
        </p:nvPicPr>
        <p:blipFill rotWithShape="1">
          <a:blip r:embed="rId8">
            <a:alphaModFix/>
          </a:blip>
          <a:srcRect b="0" l="12320" r="12320" t="27325"/>
          <a:stretch/>
        </p:blipFill>
        <p:spPr>
          <a:xfrm>
            <a:off x="2733912" y="3515192"/>
            <a:ext cx="2827084" cy="1532403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3352133" y="3066076"/>
            <a:ext cx="1862587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Reproducibility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9">
            <a:alphaModFix/>
          </a:blip>
          <a:srcRect b="0" l="13866" r="12449" t="33071"/>
          <a:stretch/>
        </p:blipFill>
        <p:spPr>
          <a:xfrm>
            <a:off x="6086406" y="3645370"/>
            <a:ext cx="2827084" cy="1443331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030537" y="3360707"/>
            <a:ext cx="2938822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Saturation Desaturation Operation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 rotWithShape="1">
          <a:blip r:embed="rId10">
            <a:alphaModFix/>
          </a:blip>
          <a:srcRect b="6058" l="12522" r="17281" t="28156"/>
          <a:stretch/>
        </p:blipFill>
        <p:spPr>
          <a:xfrm>
            <a:off x="179064" y="3893813"/>
            <a:ext cx="2372460" cy="124968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65355" y="3609150"/>
            <a:ext cx="2305852" cy="28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Desaturation using CG law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/>
          <p:cNvPicPr preferRelativeResize="0"/>
          <p:nvPr/>
        </p:nvPicPr>
        <p:blipFill rotWithShape="1">
          <a:blip r:embed="rId3">
            <a:alphaModFix/>
          </a:blip>
          <a:srcRect b="17273" l="13286" r="53157" t="28630"/>
          <a:stretch/>
        </p:blipFill>
        <p:spPr>
          <a:xfrm>
            <a:off x="192079" y="3634083"/>
            <a:ext cx="1648463" cy="14936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19"/>
          <p:cNvGrpSpPr/>
          <p:nvPr/>
        </p:nvGrpSpPr>
        <p:grpSpPr>
          <a:xfrm>
            <a:off x="4648560" y="494652"/>
            <a:ext cx="4048896" cy="1653209"/>
            <a:chOff x="4418441" y="121133"/>
            <a:chExt cx="3420062" cy="1396449"/>
          </a:xfrm>
        </p:grpSpPr>
        <p:pic>
          <p:nvPicPr>
            <p:cNvPr id="175" name="Google Shape;175;p19"/>
            <p:cNvPicPr preferRelativeResize="0"/>
            <p:nvPr/>
          </p:nvPicPr>
          <p:blipFill rotWithShape="1">
            <a:blip r:embed="rId4">
              <a:alphaModFix/>
            </a:blip>
            <a:srcRect b="10262" l="14136" r="23561" t="28384"/>
            <a:stretch/>
          </p:blipFill>
          <p:spPr>
            <a:xfrm>
              <a:off x="5315609" y="121133"/>
              <a:ext cx="2522894" cy="13964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9"/>
            <p:cNvPicPr preferRelativeResize="0"/>
            <p:nvPr/>
          </p:nvPicPr>
          <p:blipFill rotWithShape="1">
            <a:blip r:embed="rId4">
              <a:alphaModFix/>
            </a:blip>
            <a:srcRect b="76309" l="51374" r="13037" t="2730"/>
            <a:stretch/>
          </p:blipFill>
          <p:spPr>
            <a:xfrm>
              <a:off x="4425735" y="437321"/>
              <a:ext cx="1441174" cy="4770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4">
              <a:alphaModFix/>
            </a:blip>
            <a:srcRect b="74836" l="20506" r="57159" t="15336"/>
            <a:stretch/>
          </p:blipFill>
          <p:spPr>
            <a:xfrm>
              <a:off x="4418441" y="170829"/>
              <a:ext cx="904462" cy="22362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8" name="Google Shape;178;p19"/>
          <p:cNvPicPr preferRelativeResize="0"/>
          <p:nvPr/>
        </p:nvPicPr>
        <p:blipFill rotWithShape="1">
          <a:blip r:embed="rId5">
            <a:alphaModFix/>
          </a:blip>
          <a:srcRect b="16308" l="13638" r="13033" t="34073"/>
          <a:stretch/>
        </p:blipFill>
        <p:spPr>
          <a:xfrm>
            <a:off x="5814822" y="3912460"/>
            <a:ext cx="3137099" cy="11931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4199374" y="2052034"/>
            <a:ext cx="3230896" cy="1849262"/>
            <a:chOff x="2429503" y="276639"/>
            <a:chExt cx="4540250" cy="2698474"/>
          </a:xfrm>
        </p:grpSpPr>
        <p:pic>
          <p:nvPicPr>
            <p:cNvPr id="180" name="Google Shape;180;p19"/>
            <p:cNvPicPr preferRelativeResize="0"/>
            <p:nvPr/>
          </p:nvPicPr>
          <p:blipFill rotWithShape="1">
            <a:blip r:embed="rId6">
              <a:alphaModFix/>
            </a:blip>
            <a:srcRect b="29890" l="17961" r="0" t="3505"/>
            <a:stretch/>
          </p:blipFill>
          <p:spPr>
            <a:xfrm>
              <a:off x="2520888" y="276639"/>
              <a:ext cx="4448865" cy="20300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9"/>
            <p:cNvPicPr preferRelativeResize="0"/>
            <p:nvPr/>
          </p:nvPicPr>
          <p:blipFill rotWithShape="1">
            <a:blip r:embed="rId7">
              <a:alphaModFix/>
            </a:blip>
            <a:srcRect b="7526" l="18842" r="38453" t="70299"/>
            <a:stretch/>
          </p:blipFill>
          <p:spPr>
            <a:xfrm>
              <a:off x="2429503" y="2299251"/>
              <a:ext cx="2315817" cy="6758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9"/>
            <p:cNvSpPr txBox="1"/>
            <p:nvPr/>
          </p:nvSpPr>
          <p:spPr>
            <a:xfrm>
              <a:off x="5655365" y="1786763"/>
              <a:ext cx="1314388" cy="622856"/>
            </a:xfrm>
            <a:prstGeom prst="rect">
              <a:avLst/>
            </a:prstGeom>
            <a:solidFill>
              <a:srgbClr val="FBFEF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19"/>
          <p:cNvSpPr txBox="1"/>
          <p:nvPr/>
        </p:nvSpPr>
        <p:spPr>
          <a:xfrm>
            <a:off x="1301708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983357" y="3525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7086" l="47340" r="13075" t="28631"/>
          <a:stretch/>
        </p:blipFill>
        <p:spPr>
          <a:xfrm>
            <a:off x="2169789" y="3436098"/>
            <a:ext cx="1829053" cy="16694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9"/>
          <p:cNvGrpSpPr/>
          <p:nvPr/>
        </p:nvGrpSpPr>
        <p:grpSpPr>
          <a:xfrm>
            <a:off x="-30476" y="448225"/>
            <a:ext cx="4294881" cy="2987873"/>
            <a:chOff x="-30476" y="448225"/>
            <a:chExt cx="4473266" cy="3139601"/>
          </a:xfrm>
        </p:grpSpPr>
        <p:pic>
          <p:nvPicPr>
            <p:cNvPr id="187" name="Google Shape;187;p19"/>
            <p:cNvPicPr preferRelativeResize="0"/>
            <p:nvPr/>
          </p:nvPicPr>
          <p:blipFill rotWithShape="1">
            <a:blip r:embed="rId8">
              <a:alphaModFix/>
            </a:blip>
            <a:srcRect b="8044" l="13013" r="12313" t="29673"/>
            <a:stretch/>
          </p:blipFill>
          <p:spPr>
            <a:xfrm>
              <a:off x="29313" y="448225"/>
              <a:ext cx="4413477" cy="20690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9"/>
            <p:cNvPicPr preferRelativeResize="0"/>
            <p:nvPr/>
          </p:nvPicPr>
          <p:blipFill rotWithShape="1">
            <a:blip r:embed="rId9">
              <a:alphaModFix/>
            </a:blip>
            <a:srcRect b="22998" l="18965" r="20736" t="29056"/>
            <a:stretch/>
          </p:blipFill>
          <p:spPr>
            <a:xfrm>
              <a:off x="240318" y="2411118"/>
              <a:ext cx="2632993" cy="11767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9" name="Google Shape;189;p19"/>
            <p:cNvSpPr txBox="1"/>
            <p:nvPr/>
          </p:nvSpPr>
          <p:spPr>
            <a:xfrm>
              <a:off x="-30476" y="2411117"/>
              <a:ext cx="41794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(b)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/>
        </p:nvSpPr>
        <p:spPr>
          <a:xfrm>
            <a:off x="3803095" y="105522"/>
            <a:ext cx="1830159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Color Spaces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5301418" y="593939"/>
            <a:ext cx="3345782" cy="2873714"/>
            <a:chOff x="1577786" y="0"/>
            <a:chExt cx="5988428" cy="5143500"/>
          </a:xfrm>
        </p:grpSpPr>
        <p:pic>
          <p:nvPicPr>
            <p:cNvPr id="196" name="Google Shape;19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77786" y="0"/>
              <a:ext cx="5988428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0"/>
            <p:cNvPicPr preferRelativeResize="0"/>
            <p:nvPr/>
          </p:nvPicPr>
          <p:blipFill rotWithShape="1">
            <a:blip r:embed="rId4">
              <a:alphaModFix/>
            </a:blip>
            <a:srcRect b="60774" l="58217" r="5940" t="0"/>
            <a:stretch/>
          </p:blipFill>
          <p:spPr>
            <a:xfrm>
              <a:off x="5446644" y="425774"/>
              <a:ext cx="1798984" cy="11066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0"/>
            <p:cNvPicPr preferRelativeResize="0"/>
            <p:nvPr/>
          </p:nvPicPr>
          <p:blipFill rotWithShape="1">
            <a:blip r:embed="rId4">
              <a:alphaModFix/>
            </a:blip>
            <a:srcRect b="4355" l="14433" r="47422" t="39244"/>
            <a:stretch/>
          </p:blipFill>
          <p:spPr>
            <a:xfrm>
              <a:off x="1577786" y="1858615"/>
              <a:ext cx="2774556" cy="23058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20"/>
          <p:cNvSpPr txBox="1"/>
          <p:nvPr/>
        </p:nvSpPr>
        <p:spPr>
          <a:xfrm>
            <a:off x="6113973" y="142493"/>
            <a:ext cx="2070055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 L*a*b*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5">
            <a:alphaModFix/>
          </a:blip>
          <a:srcRect b="19540" l="14947" r="11766" t="27345"/>
          <a:stretch/>
        </p:blipFill>
        <p:spPr>
          <a:xfrm>
            <a:off x="179281" y="754104"/>
            <a:ext cx="4246544" cy="17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1032066" y="452640"/>
            <a:ext cx="2070055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Uniform Ellipses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184466" y="2750125"/>
            <a:ext cx="1917655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YIQ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53860" y="3128364"/>
            <a:ext cx="4505288" cy="1969962"/>
            <a:chOff x="53860" y="3128364"/>
            <a:chExt cx="4505288" cy="1969962"/>
          </a:xfrm>
        </p:grpSpPr>
        <p:pic>
          <p:nvPicPr>
            <p:cNvPr id="204" name="Google Shape;204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3860" y="3500823"/>
              <a:ext cx="3591081" cy="15975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5" name="Google Shape;205;p20"/>
            <p:cNvGrpSpPr/>
            <p:nvPr/>
          </p:nvGrpSpPr>
          <p:grpSpPr>
            <a:xfrm>
              <a:off x="2021434" y="3128364"/>
              <a:ext cx="2537714" cy="934014"/>
              <a:chOff x="4419677" y="4164312"/>
              <a:chExt cx="2537714" cy="934014"/>
            </a:xfrm>
          </p:grpSpPr>
          <p:pic>
            <p:nvPicPr>
              <p:cNvPr id="206" name="Google Shape;206;p20"/>
              <p:cNvPicPr preferRelativeResize="0"/>
              <p:nvPr/>
            </p:nvPicPr>
            <p:blipFill rotWithShape="1">
              <a:blip r:embed="rId7">
                <a:alphaModFix/>
              </a:blip>
              <a:srcRect b="4119" l="17993" r="15758" t="52246"/>
              <a:stretch/>
            </p:blipFill>
            <p:spPr>
              <a:xfrm>
                <a:off x="4419677" y="4164312"/>
                <a:ext cx="2415209" cy="89411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7" name="Google Shape;207;p20"/>
              <p:cNvSpPr txBox="1"/>
              <p:nvPr/>
            </p:nvSpPr>
            <p:spPr>
              <a:xfrm>
                <a:off x="6387184" y="4626512"/>
                <a:ext cx="570207" cy="471814"/>
              </a:xfrm>
              <a:prstGeom prst="rect">
                <a:avLst/>
              </a:prstGeom>
              <a:solidFill>
                <a:srgbClr val="FBFEF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08" name="Google Shape;208;p20"/>
            <p:cNvPicPr preferRelativeResize="0"/>
            <p:nvPr/>
          </p:nvPicPr>
          <p:blipFill rotWithShape="1">
            <a:blip r:embed="rId7">
              <a:alphaModFix/>
            </a:blip>
            <a:srcRect b="48016" l="34041" r="30837" t="28943"/>
            <a:stretch/>
          </p:blipFill>
          <p:spPr>
            <a:xfrm>
              <a:off x="179281" y="4311697"/>
              <a:ext cx="1493676" cy="55072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20"/>
          <p:cNvSpPr txBox="1"/>
          <p:nvPr/>
        </p:nvSpPr>
        <p:spPr>
          <a:xfrm>
            <a:off x="4559148" y="3108380"/>
            <a:ext cx="2070055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YCbCr Model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8">
            <a:alphaModFix/>
          </a:blip>
          <a:srcRect b="0" l="16076" r="15009" t="27502"/>
          <a:stretch/>
        </p:blipFill>
        <p:spPr>
          <a:xfrm>
            <a:off x="4559148" y="3492428"/>
            <a:ext cx="2699787" cy="1596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/>
        </p:nvSpPr>
        <p:spPr>
          <a:xfrm>
            <a:off x="5731288" y="56620"/>
            <a:ext cx="2607644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Non-linear Colour Spaces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21"/>
          <p:cNvGrpSpPr/>
          <p:nvPr/>
        </p:nvGrpSpPr>
        <p:grpSpPr>
          <a:xfrm>
            <a:off x="962980" y="624109"/>
            <a:ext cx="8046512" cy="4373737"/>
            <a:chOff x="292420" y="769762"/>
            <a:chExt cx="8046512" cy="4373737"/>
          </a:xfrm>
        </p:grpSpPr>
        <p:pic>
          <p:nvPicPr>
            <p:cNvPr id="217" name="Google Shape;217;p21"/>
            <p:cNvPicPr preferRelativeResize="0"/>
            <p:nvPr/>
          </p:nvPicPr>
          <p:blipFill rotWithShape="1">
            <a:blip r:embed="rId3">
              <a:alphaModFix/>
            </a:blip>
            <a:srcRect b="6249" l="21737" r="16819" t="20278"/>
            <a:stretch/>
          </p:blipFill>
          <p:spPr>
            <a:xfrm>
              <a:off x="4422912" y="769762"/>
              <a:ext cx="3101010" cy="20841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1"/>
            <p:cNvPicPr preferRelativeResize="0"/>
            <p:nvPr/>
          </p:nvPicPr>
          <p:blipFill rotWithShape="1">
            <a:blip r:embed="rId4">
              <a:alphaModFix/>
            </a:blip>
            <a:srcRect b="7351" l="15677" r="12876" t="30513"/>
            <a:stretch/>
          </p:blipFill>
          <p:spPr>
            <a:xfrm>
              <a:off x="4283765" y="3052777"/>
              <a:ext cx="4055167" cy="1982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420" y="2629924"/>
              <a:ext cx="3722989" cy="2513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0" name="Google Shape;220;p21"/>
          <p:cNvSpPr txBox="1"/>
          <p:nvPr/>
        </p:nvSpPr>
        <p:spPr>
          <a:xfrm>
            <a:off x="399627" y="56620"/>
            <a:ext cx="2949037" cy="284663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Opponent Color Processing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21"/>
          <p:cNvPicPr preferRelativeResize="0"/>
          <p:nvPr/>
        </p:nvPicPr>
        <p:blipFill rotWithShape="1">
          <a:blip r:embed="rId6">
            <a:alphaModFix/>
          </a:blip>
          <a:srcRect b="7569" l="13977" r="12805" t="28239"/>
          <a:stretch/>
        </p:blipFill>
        <p:spPr>
          <a:xfrm>
            <a:off x="0" y="352098"/>
            <a:ext cx="2415210" cy="1190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 rotWithShape="1">
          <a:blip r:embed="rId7">
            <a:alphaModFix/>
          </a:blip>
          <a:srcRect b="2605" l="12562" r="15018" t="32507"/>
          <a:stretch/>
        </p:blipFill>
        <p:spPr>
          <a:xfrm>
            <a:off x="2415209" y="413191"/>
            <a:ext cx="2636741" cy="132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6390874" y="481778"/>
            <a:ext cx="1583475" cy="2846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HSV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466" y="566321"/>
            <a:ext cx="8001000" cy="450760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3245126" y="208723"/>
            <a:ext cx="2653748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 of Color Models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/>
          <p:cNvPicPr preferRelativeResize="0"/>
          <p:nvPr/>
        </p:nvPicPr>
        <p:blipFill rotWithShape="1">
          <a:blip r:embed="rId3">
            <a:alphaModFix/>
          </a:blip>
          <a:srcRect b="65359" l="0" r="0" t="0"/>
          <a:stretch/>
        </p:blipFill>
        <p:spPr>
          <a:xfrm>
            <a:off x="0" y="303530"/>
            <a:ext cx="4729432" cy="373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13841"/>
          <a:stretch/>
        </p:blipFill>
        <p:spPr>
          <a:xfrm>
            <a:off x="1033" y="982225"/>
            <a:ext cx="2932043" cy="175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4926" y="299070"/>
            <a:ext cx="4392592" cy="327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/>
          <p:cNvPicPr preferRelativeResize="0"/>
          <p:nvPr/>
        </p:nvPicPr>
        <p:blipFill rotWithShape="1">
          <a:blip r:embed="rId6">
            <a:alphaModFix/>
          </a:blip>
          <a:srcRect b="0" l="0" r="0" t="20587"/>
          <a:stretch/>
        </p:blipFill>
        <p:spPr>
          <a:xfrm>
            <a:off x="4947699" y="1019217"/>
            <a:ext cx="2526453" cy="116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1301708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1230588" y="697562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6127708" y="14407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5985468" y="648068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985375"/>
            <a:ext cx="3190240" cy="93386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1301708" y="2698438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- 4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4" name="Google Shape;24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52578" y="2516610"/>
            <a:ext cx="3409567" cy="1832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89411" y="2854980"/>
            <a:ext cx="3058107" cy="122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2240" y="3942440"/>
            <a:ext cx="3000587" cy="120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104273" y="4615087"/>
            <a:ext cx="1969249" cy="22488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5384335" y="2170741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695" y="358988"/>
            <a:ext cx="4473492" cy="641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07" y="1391110"/>
            <a:ext cx="4473493" cy="185840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1301708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- 5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4"/>
          <p:cNvSpPr txBox="1"/>
          <p:nvPr/>
        </p:nvSpPr>
        <p:spPr>
          <a:xfrm>
            <a:off x="1230588" y="1106447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1052" y="253322"/>
            <a:ext cx="4702948" cy="3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7343" y="1008696"/>
            <a:ext cx="3858311" cy="32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5611707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- 6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5611707" y="67359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614" y="334378"/>
            <a:ext cx="2953173" cy="857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7" y="1290032"/>
            <a:ext cx="2602677" cy="384979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301708" y="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- 7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58801" y="907088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9" name="Google Shape;26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6378" y="428869"/>
            <a:ext cx="4341221" cy="66838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5965855" y="22469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- 8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1" name="Google Shape;271;p25"/>
          <p:cNvPicPr preferRelativeResize="0"/>
          <p:nvPr/>
        </p:nvPicPr>
        <p:blipFill rotWithShape="1">
          <a:blip r:embed="rId6">
            <a:alphaModFix/>
          </a:blip>
          <a:srcRect b="2671" l="0" r="0" t="13397"/>
          <a:stretch/>
        </p:blipFill>
        <p:spPr>
          <a:xfrm>
            <a:off x="4396378" y="1490591"/>
            <a:ext cx="2667241" cy="117306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5894735" y="115159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09046" y="2987426"/>
            <a:ext cx="3698758" cy="89980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3524068" y="2681292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- 10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25"/>
          <p:cNvPicPr preferRelativeResize="0"/>
          <p:nvPr/>
        </p:nvPicPr>
        <p:blipFill rotWithShape="1">
          <a:blip r:embed="rId8">
            <a:alphaModFix/>
          </a:blip>
          <a:srcRect b="63822" l="0" r="0" t="0"/>
          <a:stretch/>
        </p:blipFill>
        <p:spPr>
          <a:xfrm>
            <a:off x="2785400" y="4210999"/>
            <a:ext cx="3240197" cy="8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5"/>
          <p:cNvPicPr preferRelativeResize="0"/>
          <p:nvPr/>
        </p:nvPicPr>
        <p:blipFill rotWithShape="1">
          <a:blip r:embed="rId8">
            <a:alphaModFix/>
          </a:blip>
          <a:srcRect b="34461" l="0" r="38152" t="37045"/>
          <a:stretch/>
        </p:blipFill>
        <p:spPr>
          <a:xfrm>
            <a:off x="6684359" y="3056990"/>
            <a:ext cx="2124096" cy="751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/>
          <p:cNvPicPr preferRelativeResize="0"/>
          <p:nvPr/>
        </p:nvPicPr>
        <p:blipFill rotWithShape="1">
          <a:blip r:embed="rId8">
            <a:alphaModFix/>
          </a:blip>
          <a:srcRect b="0" l="0" r="38385" t="66290"/>
          <a:stretch/>
        </p:blipFill>
        <p:spPr>
          <a:xfrm>
            <a:off x="6445068" y="4027986"/>
            <a:ext cx="2602678" cy="109304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5"/>
          <p:cNvSpPr txBox="1"/>
          <p:nvPr/>
        </p:nvSpPr>
        <p:spPr>
          <a:xfrm>
            <a:off x="3524071" y="3887219"/>
            <a:ext cx="1344600" cy="284700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28" y="441905"/>
            <a:ext cx="4566479" cy="337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721" y="1232747"/>
            <a:ext cx="4186977" cy="391075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/>
        </p:nvSpPr>
        <p:spPr>
          <a:xfrm>
            <a:off x="1481908" y="2332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- 11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1481908" y="792259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5965855" y="22469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- 12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5965855" y="724873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9" name="Google Shape;28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97703" y="329898"/>
            <a:ext cx="4302294" cy="284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6507" y="1124825"/>
            <a:ext cx="4497493" cy="3324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7"/>
          <p:cNvPicPr preferRelativeResize="0"/>
          <p:nvPr/>
        </p:nvPicPr>
        <p:blipFill rotWithShape="1">
          <a:blip r:embed="rId3">
            <a:alphaModFix/>
          </a:blip>
          <a:srcRect b="8932" l="20013" r="12865" t="23098"/>
          <a:stretch/>
        </p:blipFill>
        <p:spPr>
          <a:xfrm>
            <a:off x="149711" y="419947"/>
            <a:ext cx="2891515" cy="164578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7"/>
          <p:cNvSpPr txBox="1"/>
          <p:nvPr/>
        </p:nvSpPr>
        <p:spPr>
          <a:xfrm>
            <a:off x="664485" y="54187"/>
            <a:ext cx="1733275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Constancy</a:t>
            </a:r>
            <a:endParaRPr/>
          </a:p>
        </p:txBody>
      </p:sp>
      <p:pic>
        <p:nvPicPr>
          <p:cNvPr id="297" name="Google Shape;297;p27"/>
          <p:cNvPicPr preferRelativeResize="0"/>
          <p:nvPr/>
        </p:nvPicPr>
        <p:blipFill rotWithShape="1">
          <a:blip r:embed="rId4">
            <a:alphaModFix/>
          </a:blip>
          <a:srcRect b="0" l="18236" r="11694" t="28663"/>
          <a:stretch/>
        </p:blipFill>
        <p:spPr>
          <a:xfrm>
            <a:off x="3062155" y="419947"/>
            <a:ext cx="2876158" cy="16457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7"/>
          <p:cNvPicPr preferRelativeResize="0"/>
          <p:nvPr/>
        </p:nvPicPr>
        <p:blipFill rotWithShape="1">
          <a:blip r:embed="rId5">
            <a:alphaModFix/>
          </a:blip>
          <a:srcRect b="25640" l="15988" r="6322" t="29249"/>
          <a:stretch/>
        </p:blipFill>
        <p:spPr>
          <a:xfrm>
            <a:off x="129042" y="2793105"/>
            <a:ext cx="2804160" cy="915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/>
          <p:cNvPicPr preferRelativeResize="0"/>
          <p:nvPr/>
        </p:nvPicPr>
        <p:blipFill rotWithShape="1">
          <a:blip r:embed="rId6">
            <a:alphaModFix/>
          </a:blip>
          <a:srcRect b="0" l="13858" r="13196" t="27778"/>
          <a:stretch/>
        </p:blipFill>
        <p:spPr>
          <a:xfrm>
            <a:off x="2846496" y="2793105"/>
            <a:ext cx="3259110" cy="18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 txBox="1"/>
          <p:nvPr/>
        </p:nvSpPr>
        <p:spPr>
          <a:xfrm>
            <a:off x="929989" y="2316161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- 13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7"/>
          <p:cNvSpPr txBox="1"/>
          <p:nvPr/>
        </p:nvSpPr>
        <p:spPr>
          <a:xfrm>
            <a:off x="3405593" y="2287087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2" name="Google Shape;302;p27"/>
          <p:cNvPicPr preferRelativeResize="0"/>
          <p:nvPr/>
        </p:nvPicPr>
        <p:blipFill rotWithShape="1">
          <a:blip r:embed="rId7">
            <a:alphaModFix/>
          </a:blip>
          <a:srcRect b="0" l="11846" r="2253" t="29796"/>
          <a:stretch/>
        </p:blipFill>
        <p:spPr>
          <a:xfrm>
            <a:off x="6042892" y="536745"/>
            <a:ext cx="3074326" cy="141218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6407462" y="49728"/>
            <a:ext cx="2345186" cy="4385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 and Gray Assumption Color Constancy</a:t>
            </a:r>
            <a:endParaRPr/>
          </a:p>
        </p:txBody>
      </p:sp>
      <p:pic>
        <p:nvPicPr>
          <p:cNvPr id="304" name="Google Shape;304;p27"/>
          <p:cNvPicPr preferRelativeResize="0"/>
          <p:nvPr/>
        </p:nvPicPr>
        <p:blipFill rotWithShape="1">
          <a:blip r:embed="rId8">
            <a:alphaModFix/>
          </a:blip>
          <a:srcRect b="0" l="15742" r="13025" t="30898"/>
          <a:stretch/>
        </p:blipFill>
        <p:spPr>
          <a:xfrm>
            <a:off x="6082840" y="2685009"/>
            <a:ext cx="2932118" cy="159875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7"/>
          <p:cNvSpPr txBox="1"/>
          <p:nvPr/>
        </p:nvSpPr>
        <p:spPr>
          <a:xfrm>
            <a:off x="6297505" y="2204607"/>
            <a:ext cx="2345186" cy="25388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Edge-based Color Constancy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798983"/>
            <a:ext cx="2584135" cy="22789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p28"/>
          <p:cNvGrpSpPr/>
          <p:nvPr/>
        </p:nvGrpSpPr>
        <p:grpSpPr>
          <a:xfrm>
            <a:off x="176696" y="410818"/>
            <a:ext cx="4901319" cy="1278833"/>
            <a:chOff x="176696" y="410818"/>
            <a:chExt cx="5794892" cy="1429202"/>
          </a:xfrm>
        </p:grpSpPr>
        <p:pic>
          <p:nvPicPr>
            <p:cNvPr id="312" name="Google Shape;312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6696" y="410818"/>
              <a:ext cx="3993117" cy="990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28"/>
            <p:cNvPicPr preferRelativeResize="0"/>
            <p:nvPr/>
          </p:nvPicPr>
          <p:blipFill rotWithShape="1">
            <a:blip r:embed="rId5">
              <a:alphaModFix/>
            </a:blip>
            <a:srcRect b="69065" l="0" r="0" t="0"/>
            <a:stretch/>
          </p:blipFill>
          <p:spPr>
            <a:xfrm>
              <a:off x="176696" y="1401417"/>
              <a:ext cx="5794892" cy="4386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4" name="Google Shape;31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05373" y="3044661"/>
            <a:ext cx="2554022" cy="2066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37769" y="404787"/>
            <a:ext cx="5006231" cy="1661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07109" y="2066488"/>
            <a:ext cx="2173246" cy="2080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6084" y="3374425"/>
            <a:ext cx="2552186" cy="176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8"/>
          <p:cNvSpPr txBox="1"/>
          <p:nvPr/>
        </p:nvSpPr>
        <p:spPr>
          <a:xfrm>
            <a:off x="903107" y="38490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</a:t>
            </a:r>
            <a:r>
              <a:rPr b="1" lang="en-I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8"/>
          <p:cNvSpPr txBox="1"/>
          <p:nvPr/>
        </p:nvSpPr>
        <p:spPr>
          <a:xfrm>
            <a:off x="1193132" y="1735738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8"/>
          <p:cNvSpPr txBox="1"/>
          <p:nvPr/>
        </p:nvSpPr>
        <p:spPr>
          <a:xfrm>
            <a:off x="6305158" y="2128580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8"/>
          <p:cNvSpPr txBox="1"/>
          <p:nvPr/>
        </p:nvSpPr>
        <p:spPr>
          <a:xfrm>
            <a:off x="6044951" y="58031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</a:t>
            </a:r>
            <a:r>
              <a:rPr b="1" lang="en-I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9"/>
          <p:cNvPicPr preferRelativeResize="0"/>
          <p:nvPr/>
        </p:nvPicPr>
        <p:blipFill rotWithShape="1">
          <a:blip r:embed="rId3">
            <a:alphaModFix/>
          </a:blip>
          <a:srcRect b="0" l="15133" r="16249" t="26459"/>
          <a:stretch/>
        </p:blipFill>
        <p:spPr>
          <a:xfrm>
            <a:off x="89452" y="476250"/>
            <a:ext cx="3478695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 rotWithShape="1">
          <a:blip r:embed="rId4">
            <a:alphaModFix/>
          </a:blip>
          <a:srcRect b="0" l="11055" r="13951" t="27130"/>
          <a:stretch/>
        </p:blipFill>
        <p:spPr>
          <a:xfrm>
            <a:off x="4204252" y="338849"/>
            <a:ext cx="3916018" cy="2138749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664485" y="54187"/>
            <a:ext cx="1733275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Transfer</a:t>
            </a:r>
            <a:endParaRPr/>
          </a:p>
        </p:txBody>
      </p:sp>
      <p:pic>
        <p:nvPicPr>
          <p:cNvPr id="329" name="Google Shape;329;p29"/>
          <p:cNvPicPr preferRelativeResize="0"/>
          <p:nvPr/>
        </p:nvPicPr>
        <p:blipFill rotWithShape="1">
          <a:blip r:embed="rId5">
            <a:alphaModFix/>
          </a:blip>
          <a:srcRect b="0" l="22177" r="15691" t="11872"/>
          <a:stretch/>
        </p:blipFill>
        <p:spPr>
          <a:xfrm>
            <a:off x="546653" y="2768526"/>
            <a:ext cx="2911082" cy="2320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9"/>
          <p:cNvPicPr preferRelativeResize="0"/>
          <p:nvPr/>
        </p:nvPicPr>
        <p:blipFill rotWithShape="1">
          <a:blip r:embed="rId6">
            <a:alphaModFix/>
          </a:blip>
          <a:srcRect b="0" l="15283" r="15856" t="13025"/>
          <a:stretch/>
        </p:blipFill>
        <p:spPr>
          <a:xfrm>
            <a:off x="4572000" y="2768526"/>
            <a:ext cx="3150705" cy="2236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0"/>
          <p:cNvPicPr preferRelativeResize="0"/>
          <p:nvPr/>
        </p:nvPicPr>
        <p:blipFill rotWithShape="1">
          <a:blip r:embed="rId3">
            <a:alphaModFix/>
          </a:blip>
          <a:srcRect b="8178" l="19758" r="25624" t="28529"/>
          <a:stretch/>
        </p:blipFill>
        <p:spPr>
          <a:xfrm>
            <a:off x="50191" y="437322"/>
            <a:ext cx="2961861" cy="1929112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0"/>
          <p:cNvSpPr txBox="1"/>
          <p:nvPr/>
        </p:nvSpPr>
        <p:spPr>
          <a:xfrm>
            <a:off x="664485" y="54187"/>
            <a:ext cx="1733275" cy="2846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Demosaicing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7" name="Google Shape;337;p30"/>
          <p:cNvGrpSpPr/>
          <p:nvPr/>
        </p:nvGrpSpPr>
        <p:grpSpPr>
          <a:xfrm>
            <a:off x="4081832" y="419053"/>
            <a:ext cx="3379305" cy="1864508"/>
            <a:chOff x="3240651" y="437322"/>
            <a:chExt cx="3379305" cy="1864508"/>
          </a:xfrm>
        </p:grpSpPr>
        <p:pic>
          <p:nvPicPr>
            <p:cNvPr id="338" name="Google Shape;338;p30"/>
            <p:cNvPicPr preferRelativeResize="0"/>
            <p:nvPr/>
          </p:nvPicPr>
          <p:blipFill rotWithShape="1">
            <a:blip r:embed="rId4">
              <a:alphaModFix/>
            </a:blip>
            <a:srcRect b="31773" l="16679" r="21006" t="28118"/>
            <a:stretch/>
          </p:blipFill>
          <p:spPr>
            <a:xfrm>
              <a:off x="3240651" y="437322"/>
              <a:ext cx="3379305" cy="12225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30"/>
            <p:cNvPicPr preferRelativeResize="0"/>
            <p:nvPr/>
          </p:nvPicPr>
          <p:blipFill rotWithShape="1">
            <a:blip r:embed="rId4">
              <a:alphaModFix/>
            </a:blip>
            <a:srcRect b="8889" l="17593" r="20089" t="71413"/>
            <a:stretch/>
          </p:blipFill>
          <p:spPr>
            <a:xfrm>
              <a:off x="3240651" y="1659835"/>
              <a:ext cx="3379305" cy="6003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30"/>
            <p:cNvSpPr txBox="1"/>
            <p:nvPr/>
          </p:nvSpPr>
          <p:spPr>
            <a:xfrm>
              <a:off x="6113555" y="1994053"/>
              <a:ext cx="506401" cy="307777"/>
            </a:xfrm>
            <a:prstGeom prst="rect">
              <a:avLst/>
            </a:prstGeom>
            <a:solidFill>
              <a:srgbClr val="FBFEF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41" name="Google Shape;341;p30"/>
          <p:cNvPicPr preferRelativeResize="0"/>
          <p:nvPr/>
        </p:nvPicPr>
        <p:blipFill rotWithShape="1">
          <a:blip r:embed="rId5">
            <a:alphaModFix/>
          </a:blip>
          <a:srcRect b="4043" l="17388" r="0" t="26137"/>
          <a:stretch/>
        </p:blipFill>
        <p:spPr>
          <a:xfrm>
            <a:off x="108280" y="2882348"/>
            <a:ext cx="3973552" cy="188751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0"/>
          <p:cNvSpPr txBox="1"/>
          <p:nvPr/>
        </p:nvSpPr>
        <p:spPr>
          <a:xfrm>
            <a:off x="886953" y="2508306"/>
            <a:ext cx="2264245" cy="284663"/>
          </a:xfrm>
          <a:prstGeom prst="rect">
            <a:avLst/>
          </a:prstGeom>
          <a:solidFill>
            <a:srgbClr val="77D3E8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Bilinear Interpolation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3911762" y="2440623"/>
            <a:ext cx="3820881" cy="284663"/>
          </a:xfrm>
          <a:prstGeom prst="rect">
            <a:avLst/>
          </a:prstGeom>
          <a:solidFill>
            <a:srgbClr val="77D3E8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Averaging Red Blue Hues Interpolation</a:t>
            </a:r>
            <a:endParaRPr/>
          </a:p>
        </p:txBody>
      </p:sp>
      <p:grpSp>
        <p:nvGrpSpPr>
          <p:cNvPr id="344" name="Google Shape;344;p30"/>
          <p:cNvGrpSpPr/>
          <p:nvPr/>
        </p:nvGrpSpPr>
        <p:grpSpPr>
          <a:xfrm>
            <a:off x="4572000" y="2766079"/>
            <a:ext cx="3269974" cy="2104095"/>
            <a:chOff x="4572000" y="2766079"/>
            <a:chExt cx="3269974" cy="2104095"/>
          </a:xfrm>
        </p:grpSpPr>
        <p:grpSp>
          <p:nvGrpSpPr>
            <p:cNvPr id="345" name="Google Shape;345;p30"/>
            <p:cNvGrpSpPr/>
            <p:nvPr/>
          </p:nvGrpSpPr>
          <p:grpSpPr>
            <a:xfrm>
              <a:off x="4572000" y="2766079"/>
              <a:ext cx="3160643" cy="2104095"/>
              <a:chOff x="4572000" y="2766079"/>
              <a:chExt cx="3160643" cy="2104095"/>
            </a:xfrm>
          </p:grpSpPr>
          <p:pic>
            <p:nvPicPr>
              <p:cNvPr id="346" name="Google Shape;346;p30"/>
              <p:cNvPicPr preferRelativeResize="0"/>
              <p:nvPr/>
            </p:nvPicPr>
            <p:blipFill rotWithShape="1">
              <a:blip r:embed="rId6">
                <a:alphaModFix/>
              </a:blip>
              <a:srcRect b="0" l="15375" r="10706" t="17230"/>
              <a:stretch/>
            </p:blipFill>
            <p:spPr>
              <a:xfrm>
                <a:off x="4572000" y="2882348"/>
                <a:ext cx="3103137" cy="195297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7" name="Google Shape;347;p30"/>
              <p:cNvSpPr txBox="1"/>
              <p:nvPr/>
            </p:nvSpPr>
            <p:spPr>
              <a:xfrm>
                <a:off x="6708913" y="4124739"/>
                <a:ext cx="1023730" cy="745435"/>
              </a:xfrm>
              <a:prstGeom prst="rect">
                <a:avLst/>
              </a:prstGeom>
              <a:solidFill>
                <a:srgbClr val="FBFEF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30"/>
              <p:cNvSpPr txBox="1"/>
              <p:nvPr/>
            </p:nvSpPr>
            <p:spPr>
              <a:xfrm rot="10800000">
                <a:off x="4663580" y="2766079"/>
                <a:ext cx="1836610" cy="315734"/>
              </a:xfrm>
              <a:prstGeom prst="rect">
                <a:avLst/>
              </a:prstGeom>
              <a:solidFill>
                <a:srgbClr val="FBFEF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9" name="Google Shape;349;p30"/>
            <p:cNvSpPr txBox="1"/>
            <p:nvPr/>
          </p:nvSpPr>
          <p:spPr>
            <a:xfrm>
              <a:off x="7461137" y="3967677"/>
              <a:ext cx="380837" cy="284664"/>
            </a:xfrm>
            <a:prstGeom prst="rect">
              <a:avLst/>
            </a:prstGeom>
            <a:solidFill>
              <a:srgbClr val="FBFEF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3">
            <a:alphaModFix/>
          </a:blip>
          <a:srcRect b="-858" l="13400" r="13026" t="23605"/>
          <a:stretch/>
        </p:blipFill>
        <p:spPr>
          <a:xfrm>
            <a:off x="561559" y="612549"/>
            <a:ext cx="3319759" cy="1959201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 txBox="1"/>
          <p:nvPr/>
        </p:nvSpPr>
        <p:spPr>
          <a:xfrm>
            <a:off x="375559" y="22989"/>
            <a:ext cx="3820881" cy="500107"/>
          </a:xfrm>
          <a:prstGeom prst="rect">
            <a:avLst/>
          </a:prstGeom>
          <a:solidFill>
            <a:srgbClr val="77D3E8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Laplacian Corrected Edge Correlated (LCEC) Interpolation </a:t>
            </a:r>
            <a:endParaRPr/>
          </a:p>
        </p:txBody>
      </p:sp>
      <p:grpSp>
        <p:nvGrpSpPr>
          <p:cNvPr id="356" name="Google Shape;356;p31"/>
          <p:cNvGrpSpPr/>
          <p:nvPr/>
        </p:nvGrpSpPr>
        <p:grpSpPr>
          <a:xfrm>
            <a:off x="4721087" y="697627"/>
            <a:ext cx="3399183" cy="1789043"/>
            <a:chOff x="4572000" y="523095"/>
            <a:chExt cx="3399183" cy="1789043"/>
          </a:xfrm>
        </p:grpSpPr>
        <p:pic>
          <p:nvPicPr>
            <p:cNvPr id="357" name="Google Shape;357;p31"/>
            <p:cNvPicPr preferRelativeResize="0"/>
            <p:nvPr/>
          </p:nvPicPr>
          <p:blipFill rotWithShape="1">
            <a:blip r:embed="rId4">
              <a:alphaModFix/>
            </a:blip>
            <a:srcRect b="0" l="13043" r="12608" t="30381"/>
            <a:stretch/>
          </p:blipFill>
          <p:spPr>
            <a:xfrm>
              <a:off x="4572000" y="523095"/>
              <a:ext cx="3399183" cy="17890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31"/>
            <p:cNvSpPr txBox="1"/>
            <p:nvPr/>
          </p:nvSpPr>
          <p:spPr>
            <a:xfrm>
              <a:off x="6828182" y="523095"/>
              <a:ext cx="1053547" cy="702000"/>
            </a:xfrm>
            <a:prstGeom prst="rect">
              <a:avLst/>
            </a:prstGeom>
            <a:solidFill>
              <a:srgbClr val="FBFEF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9" name="Google Shape;359;p31"/>
          <p:cNvSpPr txBox="1"/>
          <p:nvPr/>
        </p:nvSpPr>
        <p:spPr>
          <a:xfrm>
            <a:off x="5430515" y="2724439"/>
            <a:ext cx="1344506" cy="284663"/>
          </a:xfrm>
          <a:prstGeom prst="rect">
            <a:avLst/>
          </a:prstGeom>
          <a:solidFill>
            <a:srgbClr val="385623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60" name="Google Shape;360;p31"/>
          <p:cNvGrpSpPr/>
          <p:nvPr/>
        </p:nvGrpSpPr>
        <p:grpSpPr>
          <a:xfrm>
            <a:off x="4572000" y="3120887"/>
            <a:ext cx="3717235" cy="2022613"/>
            <a:chOff x="4572000" y="3120887"/>
            <a:chExt cx="3717235" cy="2022613"/>
          </a:xfrm>
        </p:grpSpPr>
        <p:pic>
          <p:nvPicPr>
            <p:cNvPr id="361" name="Google Shape;361;p31"/>
            <p:cNvPicPr preferRelativeResize="0"/>
            <p:nvPr/>
          </p:nvPicPr>
          <p:blipFill rotWithShape="1">
            <a:blip r:embed="rId5">
              <a:alphaModFix/>
            </a:blip>
            <a:srcRect b="0" l="13493" r="0" t="18881"/>
            <a:stretch/>
          </p:blipFill>
          <p:spPr>
            <a:xfrm>
              <a:off x="4572000" y="3120887"/>
              <a:ext cx="3717235" cy="19592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1"/>
            <p:cNvSpPr txBox="1"/>
            <p:nvPr/>
          </p:nvSpPr>
          <p:spPr>
            <a:xfrm>
              <a:off x="6977270" y="4270199"/>
              <a:ext cx="1259674" cy="873301"/>
            </a:xfrm>
            <a:prstGeom prst="rect">
              <a:avLst/>
            </a:prstGeom>
            <a:solidFill>
              <a:srgbClr val="FBFEF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1"/>
            <p:cNvSpPr txBox="1"/>
            <p:nvPr/>
          </p:nvSpPr>
          <p:spPr>
            <a:xfrm>
              <a:off x="6924978" y="4666053"/>
              <a:ext cx="777847" cy="253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050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) Blue (B)</a:t>
              </a:r>
              <a:endParaRPr/>
            </a:p>
          </p:txBody>
        </p:sp>
      </p:grpSp>
      <p:grpSp>
        <p:nvGrpSpPr>
          <p:cNvPr id="364" name="Google Shape;364;p31"/>
          <p:cNvGrpSpPr/>
          <p:nvPr/>
        </p:nvGrpSpPr>
        <p:grpSpPr>
          <a:xfrm>
            <a:off x="477078" y="3009102"/>
            <a:ext cx="3717235" cy="2070986"/>
            <a:chOff x="285617" y="3120887"/>
            <a:chExt cx="3626217" cy="1887896"/>
          </a:xfrm>
        </p:grpSpPr>
        <p:grpSp>
          <p:nvGrpSpPr>
            <p:cNvPr id="365" name="Google Shape;365;p31"/>
            <p:cNvGrpSpPr/>
            <p:nvPr/>
          </p:nvGrpSpPr>
          <p:grpSpPr>
            <a:xfrm>
              <a:off x="285617" y="3120887"/>
              <a:ext cx="3626217" cy="1887896"/>
              <a:chOff x="168964" y="3120887"/>
              <a:chExt cx="3626217" cy="1887896"/>
            </a:xfrm>
          </p:grpSpPr>
          <p:pic>
            <p:nvPicPr>
              <p:cNvPr id="366" name="Google Shape;366;p31"/>
              <p:cNvPicPr preferRelativeResize="0"/>
              <p:nvPr/>
            </p:nvPicPr>
            <p:blipFill rotWithShape="1">
              <a:blip r:embed="rId6">
                <a:alphaModFix/>
              </a:blip>
              <a:srcRect b="0" l="14120" r="8765" t="27150"/>
              <a:stretch/>
            </p:blipFill>
            <p:spPr>
              <a:xfrm>
                <a:off x="168964" y="3120887"/>
                <a:ext cx="3528393" cy="187352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" name="Google Shape;367;p31"/>
              <p:cNvSpPr txBox="1"/>
              <p:nvPr/>
            </p:nvSpPr>
            <p:spPr>
              <a:xfrm>
                <a:off x="3097696" y="4092371"/>
                <a:ext cx="697485" cy="864976"/>
              </a:xfrm>
              <a:prstGeom prst="rect">
                <a:avLst/>
              </a:prstGeom>
              <a:solidFill>
                <a:srgbClr val="FBFEF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31"/>
              <p:cNvSpPr txBox="1"/>
              <p:nvPr/>
            </p:nvSpPr>
            <p:spPr>
              <a:xfrm>
                <a:off x="2902225" y="4641508"/>
                <a:ext cx="381801" cy="367275"/>
              </a:xfrm>
              <a:prstGeom prst="rect">
                <a:avLst/>
              </a:prstGeom>
              <a:solidFill>
                <a:srgbClr val="FBFEFB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9" name="Google Shape;369;p31"/>
            <p:cNvSpPr txBox="1"/>
            <p:nvPr/>
          </p:nvSpPr>
          <p:spPr>
            <a:xfrm>
              <a:off x="2951617" y="4658978"/>
              <a:ext cx="457047" cy="19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RBH</a:t>
              </a:r>
              <a:endParaRPr/>
            </a:p>
          </p:txBody>
        </p:sp>
      </p:grpSp>
      <p:sp>
        <p:nvSpPr>
          <p:cNvPr id="370" name="Google Shape;370;p31"/>
          <p:cNvSpPr txBox="1"/>
          <p:nvPr/>
        </p:nvSpPr>
        <p:spPr>
          <a:xfrm>
            <a:off x="1423256" y="2582107"/>
            <a:ext cx="1202266" cy="2846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Exercise - 1</a:t>
            </a:r>
            <a:r>
              <a:rPr b="1" lang="en-I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1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1" name="Google Shape;37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36075" y="23000"/>
            <a:ext cx="1260100" cy="13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2"/>
          <p:cNvPicPr preferRelativeResize="0"/>
          <p:nvPr/>
        </p:nvPicPr>
        <p:blipFill rotWithShape="1">
          <a:blip r:embed="rId3">
            <a:alphaModFix/>
          </a:blip>
          <a:srcRect b="0" l="13878" r="12337" t="16564"/>
          <a:stretch/>
        </p:blipFill>
        <p:spPr>
          <a:xfrm>
            <a:off x="288236" y="89125"/>
            <a:ext cx="3906077" cy="24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2"/>
          <p:cNvPicPr preferRelativeResize="0"/>
          <p:nvPr/>
        </p:nvPicPr>
        <p:blipFill rotWithShape="1">
          <a:blip r:embed="rId4">
            <a:alphaModFix/>
          </a:blip>
          <a:srcRect b="0" l="13820" r="12701" t="27968"/>
          <a:stretch/>
        </p:blipFill>
        <p:spPr>
          <a:xfrm>
            <a:off x="288235" y="2626263"/>
            <a:ext cx="4045225" cy="2228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2"/>
          <p:cNvPicPr preferRelativeResize="0"/>
          <p:nvPr/>
        </p:nvPicPr>
        <p:blipFill rotWithShape="1">
          <a:blip r:embed="rId5">
            <a:alphaModFix/>
          </a:blip>
          <a:srcRect b="6580" l="11913" r="10193" t="15652"/>
          <a:stretch/>
        </p:blipFill>
        <p:spPr>
          <a:xfrm>
            <a:off x="4571999" y="2634993"/>
            <a:ext cx="4045225" cy="2269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"/>
          <p:cNvSpPr txBox="1"/>
          <p:nvPr/>
        </p:nvSpPr>
        <p:spPr>
          <a:xfrm>
            <a:off x="973315" y="820824"/>
            <a:ext cx="7197365" cy="36702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Definition and Color Perception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Trichromacy, Linear Color Spaces and Color Matching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Models – RGB, CMY, CIE XYZ, CIE Chromaticity, CIE La*b*, YIQ, YCbCr,  HSV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5715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Constancy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Transfer</a:t>
            </a:r>
            <a:endParaRPr/>
          </a:p>
          <a:p>
            <a:pPr indent="-228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 Demosaicing and Interpolarions – Bilinear, Averaging Red Blue Hues, and Laplacian Corrected Edge Correlated (LCEC) 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1538924" y="283105"/>
            <a:ext cx="6066149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on which Week 8 Assignment Questions are based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"/>
          <p:cNvSpPr txBox="1"/>
          <p:nvPr/>
        </p:nvSpPr>
        <p:spPr>
          <a:xfrm>
            <a:off x="958905" y="933541"/>
            <a:ext cx="7068394" cy="22418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932" l="-895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/>
        </p:nvSpPr>
        <p:spPr>
          <a:xfrm>
            <a:off x="0" y="2877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35"/>
          <p:cNvSpPr txBox="1"/>
          <p:nvPr/>
        </p:nvSpPr>
        <p:spPr>
          <a:xfrm>
            <a:off x="63532" y="134929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35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35"/>
          <p:cNvSpPr txBox="1"/>
          <p:nvPr/>
        </p:nvSpPr>
        <p:spPr>
          <a:xfrm>
            <a:off x="3017817" y="4763840"/>
            <a:ext cx="664060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99" name="Google Shape;399;p35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00" name="Google Shape;400;p35"/>
          <p:cNvSpPr txBox="1"/>
          <p:nvPr/>
        </p:nvSpPr>
        <p:spPr>
          <a:xfrm>
            <a:off x="63532" y="356213"/>
            <a:ext cx="9069494" cy="8818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525363" y="3065024"/>
            <a:ext cx="2163368" cy="7416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9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402" name="Google Shape;402;p35"/>
          <p:cNvGrpSpPr/>
          <p:nvPr/>
        </p:nvGrpSpPr>
        <p:grpSpPr>
          <a:xfrm>
            <a:off x="368456" y="1840372"/>
            <a:ext cx="5078896" cy="1030794"/>
            <a:chOff x="0" y="1844858"/>
            <a:chExt cx="5078896" cy="1030794"/>
          </a:xfrm>
        </p:grpSpPr>
        <p:pic>
          <p:nvPicPr>
            <p:cNvPr id="403" name="Google Shape;403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1844858"/>
              <a:ext cx="4818313" cy="76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5"/>
            <p:cNvPicPr preferRelativeResize="0"/>
            <p:nvPr/>
          </p:nvPicPr>
          <p:blipFill rotWithShape="1">
            <a:blip r:embed="rId6">
              <a:alphaModFix/>
            </a:blip>
            <a:srcRect b="27714" l="0" r="0" t="14278"/>
            <a:stretch/>
          </p:blipFill>
          <p:spPr>
            <a:xfrm>
              <a:off x="41497" y="2612046"/>
              <a:ext cx="5037399" cy="2636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1" name="Google Shape;411;p36"/>
          <p:cNvSpPr txBox="1"/>
          <p:nvPr/>
        </p:nvSpPr>
        <p:spPr>
          <a:xfrm>
            <a:off x="-1" y="451791"/>
            <a:ext cx="8796043" cy="19316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13" l="-576" r="-432" t="-13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2" name="Google Shape;412;p36"/>
          <p:cNvSpPr txBox="1"/>
          <p:nvPr/>
        </p:nvSpPr>
        <p:spPr>
          <a:xfrm>
            <a:off x="465220" y="2812958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36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2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4" name="Google Shape;414;p36"/>
          <p:cNvSpPr txBox="1"/>
          <p:nvPr/>
        </p:nvSpPr>
        <p:spPr>
          <a:xfrm>
            <a:off x="3017817" y="4763840"/>
            <a:ext cx="688336" cy="346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/>
          </a:p>
        </p:txBody>
      </p:sp>
      <p:cxnSp>
        <p:nvCxnSpPr>
          <p:cNvPr id="415" name="Google Shape;415;p36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16" name="Google Shape;416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2701" y="1108951"/>
            <a:ext cx="360045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p36"/>
          <p:cNvGrpSpPr/>
          <p:nvPr/>
        </p:nvGrpSpPr>
        <p:grpSpPr>
          <a:xfrm>
            <a:off x="2907904" y="1888313"/>
            <a:ext cx="5675853" cy="2791267"/>
            <a:chOff x="3068862" y="1915899"/>
            <a:chExt cx="5675853" cy="2791267"/>
          </a:xfrm>
        </p:grpSpPr>
        <p:pic>
          <p:nvPicPr>
            <p:cNvPr id="418" name="Google Shape;418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58478" y="1915899"/>
              <a:ext cx="1821742" cy="2747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3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068862" y="2186166"/>
              <a:ext cx="5675853" cy="252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7"/>
          <p:cNvSpPr txBox="1"/>
          <p:nvPr/>
        </p:nvSpPr>
        <p:spPr>
          <a:xfrm>
            <a:off x="0" y="2068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37"/>
          <p:cNvSpPr txBox="1"/>
          <p:nvPr/>
        </p:nvSpPr>
        <p:spPr>
          <a:xfrm>
            <a:off x="0" y="352821"/>
            <a:ext cx="8833402" cy="15773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are correct?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Color captured in the RGB color spaceis not suitable for direct interpretation of color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CIE Chromaticity Chart represents colors in a 2-D space according to tri-stimulus 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color representation.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In digital cameras color images are mostly captured using a CFA.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Luminance Y is encoded using less bits than chrominance values I and Q.</a:t>
            </a:r>
            <a:endParaRPr/>
          </a:p>
        </p:txBody>
      </p:sp>
      <p:sp>
        <p:nvSpPr>
          <p:cNvPr id="427" name="Google Shape;427;p37"/>
          <p:cNvSpPr txBox="1"/>
          <p:nvPr/>
        </p:nvSpPr>
        <p:spPr>
          <a:xfrm>
            <a:off x="0" y="200604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37"/>
          <p:cNvSpPr txBox="1"/>
          <p:nvPr/>
        </p:nvSpPr>
        <p:spPr>
          <a:xfrm>
            <a:off x="3017816" y="4763840"/>
            <a:ext cx="109783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a), b), c)</a:t>
            </a:r>
            <a:endParaRPr/>
          </a:p>
        </p:txBody>
      </p:sp>
      <p:cxnSp>
        <p:nvCxnSpPr>
          <p:cNvPr id="430" name="Google Shape;430;p37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431" name="Google Shape;43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428190"/>
            <a:ext cx="4572000" cy="1823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7"/>
          <p:cNvPicPr preferRelativeResize="0"/>
          <p:nvPr/>
        </p:nvPicPr>
        <p:blipFill rotWithShape="1">
          <a:blip r:embed="rId4">
            <a:alphaModFix/>
          </a:blip>
          <a:srcRect b="0" l="0" r="3412" t="0"/>
          <a:stretch/>
        </p:blipFill>
        <p:spPr>
          <a:xfrm>
            <a:off x="4485003" y="2428190"/>
            <a:ext cx="4572000" cy="1832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8"/>
          <p:cNvSpPr txBox="1"/>
          <p:nvPr/>
        </p:nvSpPr>
        <p:spPr>
          <a:xfrm>
            <a:off x="6036" y="19513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38"/>
          <p:cNvSpPr txBox="1"/>
          <p:nvPr/>
        </p:nvSpPr>
        <p:spPr>
          <a:xfrm>
            <a:off x="4036656" y="86755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38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4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38"/>
          <p:cNvSpPr txBox="1"/>
          <p:nvPr/>
        </p:nvSpPr>
        <p:spPr>
          <a:xfrm>
            <a:off x="3017816" y="4763840"/>
            <a:ext cx="1097835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42" name="Google Shape;442;p38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3" name="Google Shape;443;p38"/>
          <p:cNvSpPr txBox="1"/>
          <p:nvPr/>
        </p:nvSpPr>
        <p:spPr>
          <a:xfrm>
            <a:off x="0" y="340984"/>
            <a:ext cx="8833402" cy="15773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that the color of a source illuminant is represented by an RGB vector (100, 150, 200), whereas the target color is given by (50, 150, 100). Given a color vector (100, 100, 100) in the source image, compute the color corrected vector using diagonal correction rule.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(150, 75, 150)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(75, 150, 75)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(50, 100, 50)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(100, 50, 100)</a:t>
            </a:r>
            <a:endParaRPr/>
          </a:p>
        </p:txBody>
      </p:sp>
      <p:pic>
        <p:nvPicPr>
          <p:cNvPr id="444" name="Google Shape;4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9410" y="1287526"/>
            <a:ext cx="3769895" cy="2104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5153" y="1287526"/>
            <a:ext cx="4048847" cy="1955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08" y="3342599"/>
            <a:ext cx="4688639" cy="132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0547" y="3882103"/>
            <a:ext cx="3683000" cy="3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9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3017816" y="4763840"/>
            <a:ext cx="1046184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103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56" name="Google Shape;456;p39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57" name="Google Shape;457;p39"/>
          <p:cNvGrpSpPr/>
          <p:nvPr/>
        </p:nvGrpSpPr>
        <p:grpSpPr>
          <a:xfrm>
            <a:off x="58100" y="481186"/>
            <a:ext cx="9027800" cy="1421637"/>
            <a:chOff x="58100" y="481186"/>
            <a:chExt cx="9027800" cy="1421637"/>
          </a:xfrm>
        </p:grpSpPr>
        <p:sp>
          <p:nvSpPr>
            <p:cNvPr id="458" name="Google Shape;458;p39"/>
            <p:cNvSpPr txBox="1"/>
            <p:nvPr/>
          </p:nvSpPr>
          <p:spPr>
            <a:xfrm>
              <a:off x="58100" y="481186"/>
              <a:ext cx="90278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Interpolate G5 using laplacian corrected edge correlated interpolation using given Bayer’s pattern.</a:t>
              </a:r>
              <a:endParaRPr/>
            </a:p>
          </p:txBody>
        </p:sp>
        <p:pic>
          <p:nvPicPr>
            <p:cNvPr id="459" name="Google Shape;459;p39"/>
            <p:cNvPicPr preferRelativeResize="0"/>
            <p:nvPr/>
          </p:nvPicPr>
          <p:blipFill rotWithShape="1">
            <a:blip r:embed="rId3">
              <a:alphaModFix/>
            </a:blip>
            <a:srcRect b="50000" l="2920" r="22199" t="0"/>
            <a:stretch/>
          </p:blipFill>
          <p:spPr>
            <a:xfrm>
              <a:off x="332022" y="788922"/>
              <a:ext cx="2466295" cy="11139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39"/>
            <p:cNvPicPr preferRelativeResize="0"/>
            <p:nvPr/>
          </p:nvPicPr>
          <p:blipFill rotWithShape="1">
            <a:blip r:embed="rId3">
              <a:alphaModFix/>
            </a:blip>
            <a:srcRect b="0" l="0" r="0" t="55352"/>
            <a:stretch/>
          </p:blipFill>
          <p:spPr>
            <a:xfrm>
              <a:off x="3317552" y="799386"/>
              <a:ext cx="3534325" cy="10673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1" name="Google Shape;461;p39"/>
          <p:cNvSpPr txBox="1"/>
          <p:nvPr/>
        </p:nvSpPr>
        <p:spPr>
          <a:xfrm>
            <a:off x="102672" y="183604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62" name="Google Shape;462;p39"/>
          <p:cNvGrpSpPr/>
          <p:nvPr/>
        </p:nvGrpSpPr>
        <p:grpSpPr>
          <a:xfrm>
            <a:off x="102673" y="2345779"/>
            <a:ext cx="3731084" cy="1014031"/>
            <a:chOff x="102672" y="2345779"/>
            <a:chExt cx="5310091" cy="1443172"/>
          </a:xfrm>
        </p:grpSpPr>
        <p:grpSp>
          <p:nvGrpSpPr>
            <p:cNvPr id="463" name="Google Shape;463;p39"/>
            <p:cNvGrpSpPr/>
            <p:nvPr/>
          </p:nvGrpSpPr>
          <p:grpSpPr>
            <a:xfrm>
              <a:off x="102672" y="2345779"/>
              <a:ext cx="5310091" cy="1136146"/>
              <a:chOff x="58100" y="2258946"/>
              <a:chExt cx="5310091" cy="1136146"/>
            </a:xfrm>
          </p:grpSpPr>
          <p:pic>
            <p:nvPicPr>
              <p:cNvPr id="464" name="Google Shape;464;p3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8100" y="2258946"/>
                <a:ext cx="5310091" cy="100021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65" name="Google Shape;465;p3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77800" y="3141227"/>
                <a:ext cx="5070061" cy="2538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66" name="Google Shape;466;p3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2672" y="3523067"/>
              <a:ext cx="5310091" cy="2658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7" name="Google Shape;467;p39"/>
          <p:cNvGrpSpPr/>
          <p:nvPr/>
        </p:nvGrpSpPr>
        <p:grpSpPr>
          <a:xfrm>
            <a:off x="5360775" y="1884307"/>
            <a:ext cx="3764649" cy="2166517"/>
            <a:chOff x="4523458" y="1855238"/>
            <a:chExt cx="4452105" cy="2562141"/>
          </a:xfrm>
        </p:grpSpPr>
        <p:grpSp>
          <p:nvGrpSpPr>
            <p:cNvPr id="468" name="Google Shape;468;p39"/>
            <p:cNvGrpSpPr/>
            <p:nvPr/>
          </p:nvGrpSpPr>
          <p:grpSpPr>
            <a:xfrm>
              <a:off x="4523458" y="2133924"/>
              <a:ext cx="4452105" cy="2283455"/>
              <a:chOff x="4523458" y="2133924"/>
              <a:chExt cx="4452105" cy="2283455"/>
            </a:xfrm>
          </p:grpSpPr>
          <p:pic>
            <p:nvPicPr>
              <p:cNvPr id="469" name="Google Shape;469;p39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297347" y="2133924"/>
                <a:ext cx="3635814" cy="14348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0" name="Google Shape;470;p39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4572000" y="3632268"/>
                <a:ext cx="4403563" cy="34613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71" name="Google Shape;471;p39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4523458" y="3970824"/>
                <a:ext cx="2463751" cy="4465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72" name="Google Shape;472;p3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297347" y="1855238"/>
              <a:ext cx="3269973" cy="3078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3" name="Google Shape;473;p39"/>
          <p:cNvGrpSpPr/>
          <p:nvPr/>
        </p:nvGrpSpPr>
        <p:grpSpPr>
          <a:xfrm>
            <a:off x="54994" y="3509519"/>
            <a:ext cx="5305781" cy="1082610"/>
            <a:chOff x="0" y="3739150"/>
            <a:chExt cx="4429651" cy="903841"/>
          </a:xfrm>
        </p:grpSpPr>
        <p:pic>
          <p:nvPicPr>
            <p:cNvPr id="474" name="Google Shape;474;p39"/>
            <p:cNvPicPr preferRelativeResize="0"/>
            <p:nvPr/>
          </p:nvPicPr>
          <p:blipFill rotWithShape="1">
            <a:blip r:embed="rId11">
              <a:alphaModFix/>
            </a:blip>
            <a:srcRect b="49444" l="0" r="0" t="0"/>
            <a:stretch/>
          </p:blipFill>
          <p:spPr>
            <a:xfrm>
              <a:off x="0" y="3739150"/>
              <a:ext cx="2888448" cy="903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39"/>
            <p:cNvPicPr preferRelativeResize="0"/>
            <p:nvPr/>
          </p:nvPicPr>
          <p:blipFill rotWithShape="1">
            <a:blip r:embed="rId11">
              <a:alphaModFix/>
            </a:blip>
            <a:srcRect b="0" l="31801" r="8923" t="69054"/>
            <a:stretch/>
          </p:blipFill>
          <p:spPr>
            <a:xfrm>
              <a:off x="2652165" y="3882538"/>
              <a:ext cx="1777486" cy="5743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0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40"/>
          <p:cNvSpPr txBox="1"/>
          <p:nvPr/>
        </p:nvSpPr>
        <p:spPr>
          <a:xfrm>
            <a:off x="3712992" y="1939211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40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6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40"/>
          <p:cNvSpPr txBox="1"/>
          <p:nvPr/>
        </p:nvSpPr>
        <p:spPr>
          <a:xfrm>
            <a:off x="2937537" y="4486700"/>
            <a:ext cx="1923000" cy="6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 of the Above</a:t>
            </a:r>
            <a:endParaRPr/>
          </a:p>
        </p:txBody>
      </p:sp>
      <p:cxnSp>
        <p:nvCxnSpPr>
          <p:cNvPr id="485" name="Google Shape;485;p40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6" name="Google Shape;486;p40"/>
          <p:cNvSpPr txBox="1"/>
          <p:nvPr/>
        </p:nvSpPr>
        <p:spPr>
          <a:xfrm>
            <a:off x="37921" y="432561"/>
            <a:ext cx="8833500" cy="1600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the coordinates in the normalized x-y chromaticity space of three primary colors as (2/3, 1/3), (1/5, 3/4), and (1/6, 1/10), compute the corresponding maximally saturated color in the x-y chromaticity space preserving the same hue and intensity for the given point (0.31, 0.27) in x-y chromaticity space. Evaluate all the results upto three decimal places.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approximately (0.489, 0.308)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approximately (0.708, 0.186)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approximately (0.189, 0.108)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approximately (0.208, 0.286)</a:t>
            </a:r>
            <a:endParaRPr/>
          </a:p>
        </p:txBody>
      </p:sp>
      <p:sp>
        <p:nvSpPr>
          <p:cNvPr id="487" name="Google Shape;487;p40"/>
          <p:cNvSpPr txBox="1"/>
          <p:nvPr/>
        </p:nvSpPr>
        <p:spPr>
          <a:xfrm>
            <a:off x="105472" y="2274738"/>
            <a:ext cx="4784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the three primary colors as R = (2/3, 1/3), G = (1/5, 3/4), and B = (1/6, 1/10) in x-y chromaticity space.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have white point w = (1/3, 1/3) and a given point q = (0.31, 0.27).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move the point radially to the gamut edge, you will find a Maximum Saturation given a hue.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of point between the line formed by an edge of the triangle and wq, will be the required answer.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projective space concept of cross product between two points will give you a line passing through the points.</a:t>
            </a:r>
            <a:endParaRPr/>
          </a:p>
        </p:txBody>
      </p:sp>
      <p:sp>
        <p:nvSpPr>
          <p:cNvPr id="488" name="Google Shape;488;p40"/>
          <p:cNvSpPr txBox="1"/>
          <p:nvPr/>
        </p:nvSpPr>
        <p:spPr>
          <a:xfrm>
            <a:off x="4890155" y="2420713"/>
            <a:ext cx="40947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BG = (1/6, 1/10, 1) × (1/5, 3/4, 1) = (−0.65, 0.033, 0.105)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 = (−0.233, 0.5, −0.011)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 = (0.417, 0.467, −0.433)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wq = (0.063, −0.023, −0.013)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BG × wq = (0.002, −0.002, 0.013) → Not a point within the x-y space.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 × wq = (−0.016, −0.022, −0.039) → maximally saturated point (0.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0.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 × wq = (−0.007, −0.004, −0.026) → maximally saturated point (0.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9, 0.1</a:t>
            </a: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</a:t>
            </a: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41"/>
          <p:cNvGrpSpPr/>
          <p:nvPr/>
        </p:nvGrpSpPr>
        <p:grpSpPr>
          <a:xfrm>
            <a:off x="420786" y="694360"/>
            <a:ext cx="8302428" cy="3470276"/>
            <a:chOff x="420786" y="694360"/>
            <a:chExt cx="8302428" cy="3470276"/>
          </a:xfrm>
        </p:grpSpPr>
        <p:pic>
          <p:nvPicPr>
            <p:cNvPr id="494" name="Google Shape;494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0786" y="694360"/>
              <a:ext cx="4525501" cy="34702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41"/>
            <p:cNvSpPr txBox="1"/>
            <p:nvPr/>
          </p:nvSpPr>
          <p:spPr>
            <a:xfrm>
              <a:off x="4952326" y="2175980"/>
              <a:ext cx="377088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8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Based on the given information, solve questions 7 and 8.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2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42"/>
          <p:cNvSpPr txBox="1"/>
          <p:nvPr/>
        </p:nvSpPr>
        <p:spPr>
          <a:xfrm>
            <a:off x="72103" y="887434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42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7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42"/>
          <p:cNvSpPr txBox="1"/>
          <p:nvPr/>
        </p:nvSpPr>
        <p:spPr>
          <a:xfrm>
            <a:off x="3017815" y="4763840"/>
            <a:ext cx="728797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59.5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5" name="Google Shape;505;p42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6" name="Google Shape;506;p42"/>
          <p:cNvSpPr txBox="1"/>
          <p:nvPr/>
        </p:nvSpPr>
        <p:spPr>
          <a:xfrm>
            <a:off x="97105" y="453873"/>
            <a:ext cx="8885054" cy="3693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3330" l="-570" r="0" t="-66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507" name="Google Shape;50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02" y="1179354"/>
            <a:ext cx="5711657" cy="1591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46612" y="2723975"/>
            <a:ext cx="5325283" cy="2271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3"/>
          <p:cNvSpPr txBox="1"/>
          <p:nvPr/>
        </p:nvSpPr>
        <p:spPr>
          <a:xfrm>
            <a:off x="0" y="1919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43"/>
          <p:cNvSpPr txBox="1"/>
          <p:nvPr/>
        </p:nvSpPr>
        <p:spPr>
          <a:xfrm>
            <a:off x="0" y="73620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43"/>
          <p:cNvSpPr txBox="1"/>
          <p:nvPr/>
        </p:nvSpPr>
        <p:spPr>
          <a:xfrm>
            <a:off x="0" y="4763840"/>
            <a:ext cx="2578820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8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p43"/>
          <p:cNvSpPr txBox="1"/>
          <p:nvPr/>
        </p:nvSpPr>
        <p:spPr>
          <a:xfrm>
            <a:off x="3017817" y="4763840"/>
            <a:ext cx="696428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83</a:t>
            </a:r>
            <a:endParaRPr/>
          </a:p>
        </p:txBody>
      </p:sp>
      <p:cxnSp>
        <p:nvCxnSpPr>
          <p:cNvPr id="518" name="Google Shape;518;p43"/>
          <p:cNvCxnSpPr/>
          <p:nvPr/>
        </p:nvCxnSpPr>
        <p:spPr>
          <a:xfrm>
            <a:off x="2688731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519" name="Google Shape;51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3"/>
          <p:cNvSpPr txBox="1"/>
          <p:nvPr/>
        </p:nvSpPr>
        <p:spPr>
          <a:xfrm>
            <a:off x="9525" y="348673"/>
            <a:ext cx="8993784" cy="33855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1427" l="-281" r="0" t="-714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23" name="Google Shape;523;p43"/>
          <p:cNvSpPr txBox="1"/>
          <p:nvPr/>
        </p:nvSpPr>
        <p:spPr>
          <a:xfrm>
            <a:off x="29701" y="1131434"/>
            <a:ext cx="2768616" cy="47391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524" name="Google Shape;524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02" y="1758437"/>
            <a:ext cx="3886312" cy="1216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7498" y="3260285"/>
            <a:ext cx="4741348" cy="904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19151" y="1124383"/>
            <a:ext cx="4184158" cy="3670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4"/>
          <p:cNvSpPr txBox="1"/>
          <p:nvPr/>
        </p:nvSpPr>
        <p:spPr>
          <a:xfrm>
            <a:off x="-1" y="12527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44"/>
          <p:cNvSpPr txBox="1"/>
          <p:nvPr/>
        </p:nvSpPr>
        <p:spPr>
          <a:xfrm>
            <a:off x="42624" y="170737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44"/>
          <p:cNvSpPr txBox="1"/>
          <p:nvPr/>
        </p:nvSpPr>
        <p:spPr>
          <a:xfrm>
            <a:off x="-1" y="4763840"/>
            <a:ext cx="2817743" cy="34624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9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5" name="Google Shape;535;p44"/>
          <p:cNvSpPr txBox="1"/>
          <p:nvPr/>
        </p:nvSpPr>
        <p:spPr>
          <a:xfrm>
            <a:off x="3301082" y="4771806"/>
            <a:ext cx="1165722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b), c), d)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6" name="Google Shape;536;p44"/>
          <p:cNvCxnSpPr/>
          <p:nvPr/>
        </p:nvCxnSpPr>
        <p:spPr>
          <a:xfrm>
            <a:off x="2964542" y="4944930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37" name="Google Shape;537;p44"/>
          <p:cNvSpPr txBox="1"/>
          <p:nvPr/>
        </p:nvSpPr>
        <p:spPr>
          <a:xfrm>
            <a:off x="-1" y="358776"/>
            <a:ext cx="9144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are true?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Image reconstruction using color demosaicing lead to sharp edges in an image.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Green channel is less likely to be aliased.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In CFA, green channels are sampled at a higher rate than red and blue.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High correlation between red, green and blue channels are very likely to have similar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texture and edge locations.</a:t>
            </a:r>
            <a:endParaRPr/>
          </a:p>
        </p:txBody>
      </p:sp>
      <p:pic>
        <p:nvPicPr>
          <p:cNvPr id="538" name="Google Shape;53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24" y="2202980"/>
            <a:ext cx="4672682" cy="198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1899" y="2790481"/>
            <a:ext cx="4672682" cy="1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5"/>
          <p:cNvSpPr txBox="1"/>
          <p:nvPr/>
        </p:nvSpPr>
        <p:spPr>
          <a:xfrm>
            <a:off x="0" y="86312"/>
            <a:ext cx="1923068" cy="3462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6" name="Google Shape;546;p45"/>
          <p:cNvSpPr txBox="1"/>
          <p:nvPr/>
        </p:nvSpPr>
        <p:spPr>
          <a:xfrm>
            <a:off x="45716" y="2307836"/>
            <a:ext cx="1923068" cy="346249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45"/>
          <p:cNvSpPr txBox="1"/>
          <p:nvPr/>
        </p:nvSpPr>
        <p:spPr>
          <a:xfrm>
            <a:off x="-1" y="4763840"/>
            <a:ext cx="2688731" cy="346218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ANSWER 10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45"/>
          <p:cNvSpPr txBox="1"/>
          <p:nvPr/>
        </p:nvSpPr>
        <p:spPr>
          <a:xfrm>
            <a:off x="3127729" y="4771822"/>
            <a:ext cx="845460" cy="3462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IN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135</a:t>
            </a:r>
            <a:endParaRPr b="1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49" name="Google Shape;549;p45"/>
          <p:cNvCxnSpPr/>
          <p:nvPr/>
        </p:nvCxnSpPr>
        <p:spPr>
          <a:xfrm>
            <a:off x="2798643" y="4944931"/>
            <a:ext cx="219173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550" name="Google Shape;550;p45"/>
          <p:cNvGrpSpPr/>
          <p:nvPr/>
        </p:nvGrpSpPr>
        <p:grpSpPr>
          <a:xfrm>
            <a:off x="127053" y="546050"/>
            <a:ext cx="8844235" cy="1608686"/>
            <a:chOff x="127053" y="546050"/>
            <a:chExt cx="8844235" cy="1608686"/>
          </a:xfrm>
        </p:grpSpPr>
        <p:pic>
          <p:nvPicPr>
            <p:cNvPr id="551" name="Google Shape;551;p45"/>
            <p:cNvPicPr preferRelativeResize="0"/>
            <p:nvPr/>
          </p:nvPicPr>
          <p:blipFill rotWithShape="1">
            <a:blip r:embed="rId3">
              <a:alphaModFix/>
            </a:blip>
            <a:srcRect b="0" l="0" r="0" t="57727"/>
            <a:stretch/>
          </p:blipFill>
          <p:spPr>
            <a:xfrm>
              <a:off x="3374506" y="879876"/>
              <a:ext cx="3255519" cy="91306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52" name="Google Shape;552;p45"/>
            <p:cNvGrpSpPr/>
            <p:nvPr/>
          </p:nvGrpSpPr>
          <p:grpSpPr>
            <a:xfrm>
              <a:off x="127053" y="546050"/>
              <a:ext cx="8844235" cy="1608686"/>
              <a:chOff x="57003" y="524365"/>
              <a:chExt cx="8844235" cy="1608686"/>
            </a:xfrm>
          </p:grpSpPr>
          <p:sp>
            <p:nvSpPr>
              <p:cNvPr id="553" name="Google Shape;553;p45"/>
              <p:cNvSpPr txBox="1"/>
              <p:nvPr/>
            </p:nvSpPr>
            <p:spPr>
              <a:xfrm>
                <a:off x="57003" y="524365"/>
                <a:ext cx="884423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just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IN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Given Bayer’s pattern.</a:t>
                </a:r>
                <a:endParaRPr/>
              </a:p>
            </p:txBody>
          </p:sp>
          <p:pic>
            <p:nvPicPr>
              <p:cNvPr id="554" name="Google Shape;554;p45"/>
              <p:cNvPicPr preferRelativeResize="0"/>
              <p:nvPr/>
            </p:nvPicPr>
            <p:blipFill rotWithShape="1">
              <a:blip r:embed="rId3">
                <a:alphaModFix/>
              </a:blip>
              <a:srcRect b="49502" l="0" r="17210" t="0"/>
              <a:stretch/>
            </p:blipFill>
            <p:spPr>
              <a:xfrm>
                <a:off x="316847" y="805766"/>
                <a:ext cx="2515329" cy="10179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55" name="Google Shape;555;p45"/>
              <p:cNvSpPr txBox="1"/>
              <p:nvPr/>
            </p:nvSpPr>
            <p:spPr>
              <a:xfrm>
                <a:off x="57003" y="1825274"/>
                <a:ext cx="4592230" cy="30777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-19998" l="-551" r="0" t="-3998"/>
                </a:stretch>
              </a:blip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IN" sz="1400" u="none" cap="none" strike="noStrike">
                    <a:latin typeface="Arial"/>
                    <a:ea typeface="Arial"/>
                    <a:cs typeface="Arial"/>
                    <a:sym typeface="Arial"/>
                  </a:rPr>
                  <a:t> </a:t>
                </a:r>
                <a:endParaRPr/>
              </a:p>
            </p:txBody>
          </p:sp>
        </p:grpSp>
      </p:grpSp>
      <p:pic>
        <p:nvPicPr>
          <p:cNvPr id="556" name="Google Shape;55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7145" y="2208756"/>
            <a:ext cx="6422369" cy="253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