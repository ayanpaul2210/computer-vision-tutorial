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Tahoma"/>
      <p:regular r:id="rId39"/>
      <p:bold r:id="rId40"/>
    </p:embeddedFont>
    <p:embeddedFont>
      <p:font typeface="Arial Black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6D526A-EB5A-4BE4-BA63-D9829F825E7D}">
  <a:tblStyle styleId="{0B6D526A-EB5A-4BE4-BA63-D9829F825E7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BB3CF98-B47B-416F-AA16-001E98970F6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725F9118-02D6-4DF3-9651-4CEA919571AE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A1D68C35-FC4B-47E0-A846-D8F17172BD1B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Arial"/>
          <a:ea typeface="Arial"/>
          <a:cs typeface="Arial"/>
        </a:font>
        <a:schemeClr val="dk1"/>
      </a:tcTxStyle>
    </a:seCell>
    <a:swCell>
      <a:tcTxStyle b="on" i="off">
        <a:font>
          <a:latin typeface="Arial"/>
          <a:ea typeface="Arial"/>
          <a:cs typeface="Arial"/>
        </a:font>
        <a:schemeClr val="dk1"/>
      </a:tcTx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3.xml"/><Relationship Id="rId41" Type="http://schemas.openxmlformats.org/officeDocument/2006/relationships/font" Target="fonts/ArialBlack-regular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Tahoma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f940cf1e3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6f940cf1e3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f940cf1e3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6f940cf1e3_2_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f940cf1e3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6f940cf1e3_2_1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f940cf1e3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6f940cf1e3_2_1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f940cf1e3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6f940cf1e3_2_1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f940cf1e3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6f940cf1e3_2_1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f940cf1e3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6f940cf1e3_2_1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f940cf1e3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6f940cf1e3_2_1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f940cf1e3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6f940cf1e3_2_1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f940cf1e3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6f940cf1e3_2_2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f940cf1e3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6f940cf1e3_2_2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f940cf1e3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6f940cf1e3_2_2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f940cf1e3_2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6f940cf1e3_2_2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f940cf1e3_2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6f940cf1e3_2_2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f940cf1e3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6f940cf1e3_2_2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f940cf1e3_2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6f940cf1e3_2_2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f940cf1e3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6f940cf1e3_2_2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f940cf1e3_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6f940cf1e3_2_3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f940cf1e3_2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6f940cf1e3_2_3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f940cf1e3_2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6f940cf1e3_2_3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f940cf1e3_2_3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g36f940cf1e3_2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f940cf1e3_2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6f940cf1e3_2_3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g36f940cf1e3_2_3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f940cf1e3_2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6f940cf1e3_2_3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6f940cf1e3_2_3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f940cf1e3_2_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g36f940cf1e3_2_3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36f940cf1e3_2_3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6f940cf1e3_2_3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6f940cf1e3_2_3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g36f940cf1e3_2_3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f940cf1e3_2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6f940cf1e3_2_3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9" name="Google Shape;459;g36f940cf1e3_2_3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f940cf1e3_2_3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6f940cf1e3_2_3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g36f940cf1e3_2_3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f940cf1e3_2_4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6f940cf1e3_2_4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g36f940cf1e3_2_4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f940cf1e3_2_4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6f940cf1e3_2_4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g36f940cf1e3_2_4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6f940cf1e3_2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6f940cf1e3_2_4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g36f940cf1e3_2_4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f940cf1e3_2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6f940cf1e3_2_4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g36f940cf1e3_2_4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b="0" i="0" sz="33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sz="9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Relationship Id="rId9" Type="http://schemas.openxmlformats.org/officeDocument/2006/relationships/image" Target="../media/image5.jpg"/><Relationship Id="rId5" Type="http://schemas.openxmlformats.org/officeDocument/2006/relationships/image" Target="../media/image28.jpg"/><Relationship Id="rId6" Type="http://schemas.openxmlformats.org/officeDocument/2006/relationships/image" Target="../media/image13.jpg"/><Relationship Id="rId7" Type="http://schemas.openxmlformats.org/officeDocument/2006/relationships/image" Target="../media/image6.jpg"/><Relationship Id="rId8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34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Relationship Id="rId5" Type="http://schemas.openxmlformats.org/officeDocument/2006/relationships/image" Target="../media/image45.png"/><Relationship Id="rId6" Type="http://schemas.openxmlformats.org/officeDocument/2006/relationships/image" Target="../media/image55.png"/><Relationship Id="rId7" Type="http://schemas.openxmlformats.org/officeDocument/2006/relationships/image" Target="../media/image35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66.png"/><Relationship Id="rId5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6.png"/><Relationship Id="rId4" Type="http://schemas.openxmlformats.org/officeDocument/2006/relationships/image" Target="../media/image41.png"/><Relationship Id="rId5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Relationship Id="rId4" Type="http://schemas.openxmlformats.org/officeDocument/2006/relationships/image" Target="../media/image70.png"/><Relationship Id="rId5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58.png"/><Relationship Id="rId5" Type="http://schemas.openxmlformats.org/officeDocument/2006/relationships/image" Target="../media/image63.png"/><Relationship Id="rId6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8.png"/><Relationship Id="rId4" Type="http://schemas.openxmlformats.org/officeDocument/2006/relationships/image" Target="../media/image74.png"/><Relationship Id="rId5" Type="http://schemas.openxmlformats.org/officeDocument/2006/relationships/image" Target="../media/image6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Relationship Id="rId4" Type="http://schemas.openxmlformats.org/officeDocument/2006/relationships/image" Target="../media/image80.png"/><Relationship Id="rId5" Type="http://schemas.openxmlformats.org/officeDocument/2006/relationships/image" Target="../media/image59.png"/><Relationship Id="rId6" Type="http://schemas.openxmlformats.org/officeDocument/2006/relationships/image" Target="../media/image90.png"/><Relationship Id="rId7" Type="http://schemas.openxmlformats.org/officeDocument/2006/relationships/image" Target="../media/image60.png"/><Relationship Id="rId8" Type="http://schemas.openxmlformats.org/officeDocument/2006/relationships/image" Target="../media/image7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9.png"/><Relationship Id="rId4" Type="http://schemas.openxmlformats.org/officeDocument/2006/relationships/image" Target="../media/image93.png"/><Relationship Id="rId5" Type="http://schemas.openxmlformats.org/officeDocument/2006/relationships/image" Target="../media/image72.png"/><Relationship Id="rId6" Type="http://schemas.openxmlformats.org/officeDocument/2006/relationships/image" Target="../media/image7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6.png"/><Relationship Id="rId4" Type="http://schemas.openxmlformats.org/officeDocument/2006/relationships/image" Target="../media/image67.png"/><Relationship Id="rId5" Type="http://schemas.openxmlformats.org/officeDocument/2006/relationships/image" Target="../media/image75.png"/><Relationship Id="rId6" Type="http://schemas.openxmlformats.org/officeDocument/2006/relationships/image" Target="../media/image69.png"/><Relationship Id="rId7" Type="http://schemas.openxmlformats.org/officeDocument/2006/relationships/image" Target="../media/image9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6.png"/><Relationship Id="rId4" Type="http://schemas.openxmlformats.org/officeDocument/2006/relationships/image" Target="../media/image78.png"/><Relationship Id="rId5" Type="http://schemas.openxmlformats.org/officeDocument/2006/relationships/image" Target="../media/image77.png"/><Relationship Id="rId6" Type="http://schemas.openxmlformats.org/officeDocument/2006/relationships/image" Target="../media/image87.png"/><Relationship Id="rId7" Type="http://schemas.openxmlformats.org/officeDocument/2006/relationships/image" Target="../media/image8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4.png"/><Relationship Id="rId4" Type="http://schemas.openxmlformats.org/officeDocument/2006/relationships/image" Target="../media/image81.png"/><Relationship Id="rId5" Type="http://schemas.openxmlformats.org/officeDocument/2006/relationships/image" Target="../media/image85.png"/><Relationship Id="rId6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Week-1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baseline="30000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i="0" lang="e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Jul,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7"/>
          <p:cNvGrpSpPr/>
          <p:nvPr/>
        </p:nvGrpSpPr>
        <p:grpSpPr>
          <a:xfrm>
            <a:off x="457669" y="1679394"/>
            <a:ext cx="3473168" cy="1903912"/>
            <a:chOff x="108730" y="1416762"/>
            <a:chExt cx="4969117" cy="2723957"/>
          </a:xfrm>
        </p:grpSpPr>
        <p:grpSp>
          <p:nvGrpSpPr>
            <p:cNvPr id="145" name="Google Shape;145;p27"/>
            <p:cNvGrpSpPr/>
            <p:nvPr/>
          </p:nvGrpSpPr>
          <p:grpSpPr>
            <a:xfrm>
              <a:off x="108730" y="1416762"/>
              <a:ext cx="4292034" cy="2309817"/>
              <a:chOff x="228600" y="1905000"/>
              <a:chExt cx="8610600" cy="4633912"/>
            </a:xfrm>
          </p:grpSpPr>
          <p:pic>
            <p:nvPicPr>
              <p:cNvPr id="146" name="Google Shape;146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28600" y="1981200"/>
                <a:ext cx="1905000" cy="1905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" name="Google Shape;147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57400" y="1905000"/>
                <a:ext cx="5210175" cy="3667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" name="Google Shape;148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105400" y="4038600"/>
                <a:ext cx="3733800" cy="2500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9" name="Google Shape;149;p27"/>
            <p:cNvSpPr txBox="1"/>
            <p:nvPr/>
          </p:nvSpPr>
          <p:spPr>
            <a:xfrm>
              <a:off x="910555" y="3774686"/>
              <a:ext cx="3656831" cy="366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">
              <a:spAutoFit/>
            </a:bodyPr>
            <a:lstStyle/>
            <a:p>
              <a:pPr indent="0" lvl="0" marL="9525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2D Array of integers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7"/>
            <p:cNvSpPr txBox="1"/>
            <p:nvPr/>
          </p:nvSpPr>
          <p:spPr>
            <a:xfrm>
              <a:off x="3678624" y="1454745"/>
              <a:ext cx="1399223" cy="857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525">
              <a:spAutoFit/>
            </a:bodyPr>
            <a:lstStyle/>
            <a:p>
              <a:pPr indent="0" lvl="0" marL="49054" marR="0" rtl="0" algn="l">
                <a:lnSpc>
                  <a:spcPct val="250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Width: 256</a:t>
              </a:r>
              <a:endParaRPr b="0" i="0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0" lvl="0" marL="9525" marR="0" rtl="0" algn="l">
                <a:lnSpc>
                  <a:spcPct val="250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Height: 384</a:t>
              </a:r>
              <a:endParaRPr b="0" i="0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51" name="Google Shape;151;p27"/>
          <p:cNvSpPr txBox="1"/>
          <p:nvPr/>
        </p:nvSpPr>
        <p:spPr>
          <a:xfrm>
            <a:off x="0" y="-3369"/>
            <a:ext cx="4628023" cy="40779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Image Processing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0" y="363424"/>
            <a:ext cx="9073690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computer vision, an image is a structured array of pixel values that represent visual information captured from the real world. 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Pixel: The smallest unit of an image, representing color or intensity. For a color image: pixel = [R, G, B].</a:t>
            </a:r>
            <a:endParaRPr/>
          </a:p>
          <a:p>
            <a:pPr indent="-285750" lvl="1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pixel in the image holds intensity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3" name="Google Shape;153;p27"/>
          <p:cNvGrpSpPr/>
          <p:nvPr/>
        </p:nvGrpSpPr>
        <p:grpSpPr>
          <a:xfrm>
            <a:off x="4591022" y="1356637"/>
            <a:ext cx="3320566" cy="2322286"/>
            <a:chOff x="5388183" y="1365075"/>
            <a:chExt cx="3320566" cy="2322286"/>
          </a:xfrm>
        </p:grpSpPr>
        <p:sp>
          <p:nvSpPr>
            <p:cNvPr id="154" name="Google Shape;154;p27"/>
            <p:cNvSpPr txBox="1"/>
            <p:nvPr/>
          </p:nvSpPr>
          <p:spPr>
            <a:xfrm>
              <a:off x="6207646" y="1365075"/>
              <a:ext cx="197577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Color (RGB) images</a:t>
              </a:r>
              <a:endParaRPr b="1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5" name="Google Shape;155;p27"/>
            <p:cNvGrpSpPr/>
            <p:nvPr/>
          </p:nvGrpSpPr>
          <p:grpSpPr>
            <a:xfrm>
              <a:off x="5388183" y="1748507"/>
              <a:ext cx="3320566" cy="1938854"/>
              <a:chOff x="2057400" y="1714500"/>
              <a:chExt cx="5676900" cy="3314701"/>
            </a:xfrm>
          </p:grpSpPr>
          <p:grpSp>
            <p:nvGrpSpPr>
              <p:cNvPr id="156" name="Google Shape;156;p27"/>
              <p:cNvGrpSpPr/>
              <p:nvPr/>
            </p:nvGrpSpPr>
            <p:grpSpPr>
              <a:xfrm>
                <a:off x="2057400" y="1714500"/>
                <a:ext cx="2514600" cy="2971800"/>
                <a:chOff x="1219200" y="2286000"/>
                <a:chExt cx="3352800" cy="3962400"/>
              </a:xfrm>
            </p:grpSpPr>
            <p:sp>
              <p:nvSpPr>
                <p:cNvPr id="157" name="Google Shape;157;p27"/>
                <p:cNvSpPr/>
                <p:nvPr/>
              </p:nvSpPr>
              <p:spPr>
                <a:xfrm>
                  <a:off x="1828800" y="2286000"/>
                  <a:ext cx="2743200" cy="2362200"/>
                </a:xfrm>
                <a:custGeom>
                  <a:rect b="b" l="l" r="r" t="t"/>
                  <a:pathLst>
                    <a:path extrusionOk="0" h="2362200" w="2743200">
                      <a:moveTo>
                        <a:pt x="0" y="0"/>
                      </a:moveTo>
                      <a:lnTo>
                        <a:pt x="2743200" y="0"/>
                      </a:lnTo>
                      <a:lnTo>
                        <a:pt x="2743200" y="2362200"/>
                      </a:lnTo>
                      <a:lnTo>
                        <a:pt x="0" y="2362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27"/>
                <p:cNvSpPr/>
                <p:nvPr/>
              </p:nvSpPr>
              <p:spPr>
                <a:xfrm>
                  <a:off x="1447800" y="3124200"/>
                  <a:ext cx="2743200" cy="2362200"/>
                </a:xfrm>
                <a:custGeom>
                  <a:rect b="b" l="l" r="r" t="t"/>
                  <a:pathLst>
                    <a:path extrusionOk="0" h="2362200" w="2743200">
                      <a:moveTo>
                        <a:pt x="2743200" y="0"/>
                      </a:moveTo>
                      <a:lnTo>
                        <a:pt x="0" y="0"/>
                      </a:lnTo>
                      <a:lnTo>
                        <a:pt x="0" y="2362200"/>
                      </a:lnTo>
                      <a:lnTo>
                        <a:pt x="2743200" y="2362200"/>
                      </a:lnTo>
                      <a:lnTo>
                        <a:pt x="27432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27"/>
                <p:cNvSpPr/>
                <p:nvPr/>
              </p:nvSpPr>
              <p:spPr>
                <a:xfrm>
                  <a:off x="1447800" y="3124200"/>
                  <a:ext cx="2743200" cy="2362200"/>
                </a:xfrm>
                <a:custGeom>
                  <a:rect b="b" l="l" r="r" t="t"/>
                  <a:pathLst>
                    <a:path extrusionOk="0" h="2362200" w="2743200">
                      <a:moveTo>
                        <a:pt x="0" y="0"/>
                      </a:moveTo>
                      <a:lnTo>
                        <a:pt x="2743200" y="0"/>
                      </a:lnTo>
                      <a:lnTo>
                        <a:pt x="2743200" y="2362200"/>
                      </a:lnTo>
                      <a:lnTo>
                        <a:pt x="0" y="2362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27"/>
                <p:cNvSpPr/>
                <p:nvPr/>
              </p:nvSpPr>
              <p:spPr>
                <a:xfrm>
                  <a:off x="1219200" y="3886200"/>
                  <a:ext cx="2743200" cy="2362200"/>
                </a:xfrm>
                <a:custGeom>
                  <a:rect b="b" l="l" r="r" t="t"/>
                  <a:pathLst>
                    <a:path extrusionOk="0" h="2362200" w="2743200">
                      <a:moveTo>
                        <a:pt x="2743200" y="0"/>
                      </a:moveTo>
                      <a:lnTo>
                        <a:pt x="0" y="0"/>
                      </a:lnTo>
                      <a:lnTo>
                        <a:pt x="0" y="2362199"/>
                      </a:lnTo>
                      <a:lnTo>
                        <a:pt x="2743200" y="2362199"/>
                      </a:lnTo>
                      <a:lnTo>
                        <a:pt x="27432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27"/>
                <p:cNvSpPr/>
                <p:nvPr/>
              </p:nvSpPr>
              <p:spPr>
                <a:xfrm>
                  <a:off x="1219200" y="3886200"/>
                  <a:ext cx="2743200" cy="2362200"/>
                </a:xfrm>
                <a:custGeom>
                  <a:rect b="b" l="l" r="r" t="t"/>
                  <a:pathLst>
                    <a:path extrusionOk="0" h="2362200" w="2743200">
                      <a:moveTo>
                        <a:pt x="0" y="0"/>
                      </a:moveTo>
                      <a:lnTo>
                        <a:pt x="2743200" y="0"/>
                      </a:lnTo>
                      <a:lnTo>
                        <a:pt x="2743200" y="2362200"/>
                      </a:lnTo>
                      <a:lnTo>
                        <a:pt x="0" y="2362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" name="Google Shape;162;p27"/>
                <p:cNvSpPr/>
                <p:nvPr/>
              </p:nvSpPr>
              <p:spPr>
                <a:xfrm>
                  <a:off x="3733800" y="2971799"/>
                  <a:ext cx="762000" cy="2514600"/>
                </a:xfrm>
                <a:custGeom>
                  <a:rect b="b" l="l" r="r" t="t"/>
                  <a:pathLst>
                    <a:path extrusionOk="0" h="2514600" w="762000">
                      <a:moveTo>
                        <a:pt x="0" y="251460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3" name="Google Shape;163;p27"/>
              <p:cNvSpPr txBox="1"/>
              <p:nvPr/>
            </p:nvSpPr>
            <p:spPr>
              <a:xfrm>
                <a:off x="4149091" y="1835376"/>
                <a:ext cx="674371" cy="16357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9525">
                <a:spAutoFit/>
              </a:bodyPr>
              <a:lstStyle/>
              <a:p>
                <a:pPr indent="0" lvl="0" marL="0" marR="381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21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B</a:t>
                </a:r>
                <a:endParaRPr b="0" i="0" sz="21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44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1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  <a:p>
                <a:pPr indent="0" lvl="0" marL="211931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21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G</a:t>
                </a:r>
                <a:endParaRPr b="0" i="0" sz="21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  <a:p>
                <a:pPr indent="0" lvl="0" marL="9525" marR="0" rtl="0" algn="l">
                  <a:lnSpc>
                    <a:spcPct val="100000"/>
                  </a:lnSpc>
                  <a:spcBef>
                    <a:spcPts val="2318"/>
                  </a:spcBef>
                  <a:spcAft>
                    <a:spcPts val="0"/>
                  </a:spcAft>
                  <a:buNone/>
                </a:pPr>
                <a:r>
                  <a:rPr b="0" i="0" lang="en" sz="21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R</a:t>
                </a:r>
                <a:endParaRPr b="0" i="0" sz="21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64" name="Google Shape;164;p27"/>
              <p:cNvGrpSpPr/>
              <p:nvPr/>
            </p:nvGrpSpPr>
            <p:grpSpPr>
              <a:xfrm>
                <a:off x="4629150" y="1828800"/>
                <a:ext cx="1504950" cy="3200401"/>
                <a:chOff x="4648200" y="2438399"/>
                <a:chExt cx="2006600" cy="4267201"/>
              </a:xfrm>
            </p:grpSpPr>
            <p:pic>
              <p:nvPicPr>
                <p:cNvPr id="165" name="Google Shape;165;p27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4648200" y="4724400"/>
                  <a:ext cx="1320800" cy="1981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6" name="Google Shape;166;p2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5029200" y="3428999"/>
                  <a:ext cx="1320800" cy="1981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7" name="Google Shape;167;p27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5334000" y="2438399"/>
                  <a:ext cx="1320800" cy="1981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68" name="Google Shape;168;p2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743700" y="2743200"/>
                <a:ext cx="990600" cy="1485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27"/>
              <p:cNvSpPr/>
              <p:nvPr/>
            </p:nvSpPr>
            <p:spPr>
              <a:xfrm>
                <a:off x="6229350" y="3714750"/>
                <a:ext cx="342900" cy="342900"/>
              </a:xfrm>
              <a:custGeom>
                <a:rect b="b" l="l" r="r" t="t"/>
                <a:pathLst>
                  <a:path extrusionOk="0" h="457200" w="457200">
                    <a:moveTo>
                      <a:pt x="0" y="114300"/>
                    </a:moveTo>
                    <a:lnTo>
                      <a:pt x="342900" y="114300"/>
                    </a:lnTo>
                    <a:lnTo>
                      <a:pt x="342900" y="0"/>
                    </a:lnTo>
                    <a:lnTo>
                      <a:pt x="457200" y="228600"/>
                    </a:lnTo>
                    <a:lnTo>
                      <a:pt x="342900" y="457200"/>
                    </a:lnTo>
                    <a:lnTo>
                      <a:pt x="342900" y="342900"/>
                    </a:lnTo>
                    <a:lnTo>
                      <a:pt x="0" y="342900"/>
                    </a:lnTo>
                    <a:lnTo>
                      <a:pt x="0" y="11430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0" name="Google Shape;170;p27"/>
          <p:cNvSpPr txBox="1"/>
          <p:nvPr/>
        </p:nvSpPr>
        <p:spPr>
          <a:xfrm>
            <a:off x="0" y="1396153"/>
            <a:ext cx="45889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image is represented as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matrix or tensor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56009" y="3951038"/>
            <a:ext cx="860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Grayscale Image: 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pixel has a single intensity value (0–255).→ Shape: (height, width)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RGB Image: 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pixel has three values (Red, Green, Blue), usually in the range 0–255.→ Shape: (height, width, 3)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Multispectral / Hyperspectral Image: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More than 3 channels (used in satellite, agricultural imaging, etc.).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▪"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Image: 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pixel is either 0 or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(black or white).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246431" y="3691571"/>
            <a:ext cx="1591387" cy="284663"/>
          </a:xfrm>
          <a:prstGeom prst="rect">
            <a:avLst/>
          </a:prstGeom>
          <a:solidFill>
            <a:srgbClr val="B20679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Images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Google Shape;177;p28"/>
          <p:cNvGraphicFramePr/>
          <p:nvPr/>
        </p:nvGraphicFramePr>
        <p:xfrm>
          <a:off x="263736" y="1683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{0B6D526A-EB5A-4BE4-BA63-D9829F825E7D}</a:tableStyleId>
              </a:tblPr>
              <a:tblGrid>
                <a:gridCol w="914400"/>
                <a:gridCol w="857250"/>
                <a:gridCol w="1314450"/>
                <a:gridCol w="1828800"/>
                <a:gridCol w="1371600"/>
              </a:tblGrid>
              <a:tr h="400050">
                <a:tc>
                  <a:txBody>
                    <a:bodyPr/>
                    <a:lstStyle/>
                    <a:p>
                      <a:pPr indent="0" lvl="0" marL="1682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width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height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95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# Comp.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463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# bytes/pixel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0086" y="1854575"/>
            <a:ext cx="64294" cy="6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5836" y="1854575"/>
            <a:ext cx="64294" cy="6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586" y="1854575"/>
            <a:ext cx="64294" cy="6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336" y="1854575"/>
            <a:ext cx="64294" cy="6429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/>
          <p:nvPr/>
        </p:nvSpPr>
        <p:spPr>
          <a:xfrm>
            <a:off x="206596" y="943473"/>
            <a:ext cx="85248" cy="743426"/>
          </a:xfrm>
          <a:custGeom>
            <a:rect b="b" l="l" r="r" t="t"/>
            <a:pathLst>
              <a:path extrusionOk="0" h="991235" w="113665">
                <a:moveTo>
                  <a:pt x="113091" y="912068"/>
                </a:moveTo>
                <a:lnTo>
                  <a:pt x="37116" y="917912"/>
                </a:lnTo>
                <a:lnTo>
                  <a:pt x="80948" y="990965"/>
                </a:lnTo>
                <a:lnTo>
                  <a:pt x="113091" y="912068"/>
                </a:lnTo>
                <a:close/>
              </a:path>
              <a:path extrusionOk="0" h="991235" w="113665">
                <a:moveTo>
                  <a:pt x="75975" y="864222"/>
                </a:moveTo>
                <a:lnTo>
                  <a:pt x="66478" y="864952"/>
                </a:lnTo>
                <a:lnTo>
                  <a:pt x="69344" y="902210"/>
                </a:lnTo>
                <a:lnTo>
                  <a:pt x="69400" y="902940"/>
                </a:lnTo>
                <a:lnTo>
                  <a:pt x="78897" y="902210"/>
                </a:lnTo>
                <a:lnTo>
                  <a:pt x="76031" y="864952"/>
                </a:lnTo>
                <a:lnTo>
                  <a:pt x="75975" y="864222"/>
                </a:lnTo>
                <a:close/>
              </a:path>
              <a:path extrusionOk="0" h="991235" w="113665">
                <a:moveTo>
                  <a:pt x="70861" y="797744"/>
                </a:moveTo>
                <a:lnTo>
                  <a:pt x="61364" y="798474"/>
                </a:lnTo>
                <a:lnTo>
                  <a:pt x="64230" y="835731"/>
                </a:lnTo>
                <a:lnTo>
                  <a:pt x="64287" y="836461"/>
                </a:lnTo>
                <a:lnTo>
                  <a:pt x="73783" y="835731"/>
                </a:lnTo>
                <a:lnTo>
                  <a:pt x="70917" y="798474"/>
                </a:lnTo>
                <a:lnTo>
                  <a:pt x="70861" y="797744"/>
                </a:lnTo>
                <a:close/>
              </a:path>
              <a:path extrusionOk="0" h="991235" w="113665">
                <a:moveTo>
                  <a:pt x="65748" y="731264"/>
                </a:moveTo>
                <a:lnTo>
                  <a:pt x="56251" y="731996"/>
                </a:lnTo>
                <a:lnTo>
                  <a:pt x="59117" y="769252"/>
                </a:lnTo>
                <a:lnTo>
                  <a:pt x="59173" y="769983"/>
                </a:lnTo>
                <a:lnTo>
                  <a:pt x="68670" y="769252"/>
                </a:lnTo>
                <a:lnTo>
                  <a:pt x="65804" y="731996"/>
                </a:lnTo>
                <a:lnTo>
                  <a:pt x="65748" y="731264"/>
                </a:lnTo>
                <a:close/>
              </a:path>
              <a:path extrusionOk="0" h="991235" w="113665">
                <a:moveTo>
                  <a:pt x="60634" y="664786"/>
                </a:moveTo>
                <a:lnTo>
                  <a:pt x="51137" y="665516"/>
                </a:lnTo>
                <a:lnTo>
                  <a:pt x="54003" y="702774"/>
                </a:lnTo>
                <a:lnTo>
                  <a:pt x="54059" y="703505"/>
                </a:lnTo>
                <a:lnTo>
                  <a:pt x="63556" y="702774"/>
                </a:lnTo>
                <a:lnTo>
                  <a:pt x="60690" y="665516"/>
                </a:lnTo>
                <a:lnTo>
                  <a:pt x="60634" y="664786"/>
                </a:lnTo>
                <a:close/>
              </a:path>
              <a:path extrusionOk="0" h="991235" w="113665">
                <a:moveTo>
                  <a:pt x="55520" y="598308"/>
                </a:moveTo>
                <a:lnTo>
                  <a:pt x="46023" y="599038"/>
                </a:lnTo>
                <a:lnTo>
                  <a:pt x="48889" y="636295"/>
                </a:lnTo>
                <a:lnTo>
                  <a:pt x="48945" y="637025"/>
                </a:lnTo>
                <a:lnTo>
                  <a:pt x="58442" y="636295"/>
                </a:lnTo>
                <a:lnTo>
                  <a:pt x="55576" y="599038"/>
                </a:lnTo>
                <a:lnTo>
                  <a:pt x="55520" y="598308"/>
                </a:lnTo>
                <a:close/>
              </a:path>
              <a:path extrusionOk="0" h="991235" w="113665">
                <a:moveTo>
                  <a:pt x="50406" y="531829"/>
                </a:moveTo>
                <a:lnTo>
                  <a:pt x="40910" y="532559"/>
                </a:lnTo>
                <a:lnTo>
                  <a:pt x="43775" y="569817"/>
                </a:lnTo>
                <a:lnTo>
                  <a:pt x="43832" y="570547"/>
                </a:lnTo>
                <a:lnTo>
                  <a:pt x="53329" y="569817"/>
                </a:lnTo>
                <a:lnTo>
                  <a:pt x="50463" y="532559"/>
                </a:lnTo>
                <a:lnTo>
                  <a:pt x="50406" y="531829"/>
                </a:lnTo>
                <a:close/>
              </a:path>
              <a:path extrusionOk="0" h="991235" w="113665">
                <a:moveTo>
                  <a:pt x="45293" y="465350"/>
                </a:moveTo>
                <a:lnTo>
                  <a:pt x="35796" y="466081"/>
                </a:lnTo>
                <a:lnTo>
                  <a:pt x="38662" y="503339"/>
                </a:lnTo>
                <a:lnTo>
                  <a:pt x="38718" y="504069"/>
                </a:lnTo>
                <a:lnTo>
                  <a:pt x="48215" y="503339"/>
                </a:lnTo>
                <a:lnTo>
                  <a:pt x="45349" y="466081"/>
                </a:lnTo>
                <a:lnTo>
                  <a:pt x="45293" y="465350"/>
                </a:lnTo>
                <a:close/>
              </a:path>
              <a:path extrusionOk="0" h="991235" w="113665">
                <a:moveTo>
                  <a:pt x="40179" y="398872"/>
                </a:moveTo>
                <a:lnTo>
                  <a:pt x="30682" y="399602"/>
                </a:lnTo>
                <a:lnTo>
                  <a:pt x="33548" y="436859"/>
                </a:lnTo>
                <a:lnTo>
                  <a:pt x="33604" y="437589"/>
                </a:lnTo>
                <a:lnTo>
                  <a:pt x="43101" y="436859"/>
                </a:lnTo>
                <a:lnTo>
                  <a:pt x="40235" y="399602"/>
                </a:lnTo>
                <a:lnTo>
                  <a:pt x="40179" y="398872"/>
                </a:lnTo>
                <a:close/>
              </a:path>
              <a:path extrusionOk="0" h="991235" w="113665">
                <a:moveTo>
                  <a:pt x="35065" y="332393"/>
                </a:moveTo>
                <a:lnTo>
                  <a:pt x="25568" y="333123"/>
                </a:lnTo>
                <a:lnTo>
                  <a:pt x="28434" y="370381"/>
                </a:lnTo>
                <a:lnTo>
                  <a:pt x="28490" y="371111"/>
                </a:lnTo>
                <a:lnTo>
                  <a:pt x="37987" y="370381"/>
                </a:lnTo>
                <a:lnTo>
                  <a:pt x="35121" y="333123"/>
                </a:lnTo>
                <a:lnTo>
                  <a:pt x="35065" y="332393"/>
                </a:lnTo>
                <a:close/>
              </a:path>
              <a:path extrusionOk="0" h="991235" w="113665">
                <a:moveTo>
                  <a:pt x="29951" y="265915"/>
                </a:moveTo>
                <a:lnTo>
                  <a:pt x="20455" y="266645"/>
                </a:lnTo>
                <a:lnTo>
                  <a:pt x="23320" y="303902"/>
                </a:lnTo>
                <a:lnTo>
                  <a:pt x="23377" y="304633"/>
                </a:lnTo>
                <a:lnTo>
                  <a:pt x="32874" y="303902"/>
                </a:lnTo>
                <a:lnTo>
                  <a:pt x="30008" y="266645"/>
                </a:lnTo>
                <a:lnTo>
                  <a:pt x="29951" y="265915"/>
                </a:lnTo>
                <a:close/>
              </a:path>
              <a:path extrusionOk="0" h="991235" w="113665">
                <a:moveTo>
                  <a:pt x="24838" y="199435"/>
                </a:moveTo>
                <a:lnTo>
                  <a:pt x="15341" y="200167"/>
                </a:lnTo>
                <a:lnTo>
                  <a:pt x="18207" y="237423"/>
                </a:lnTo>
                <a:lnTo>
                  <a:pt x="18263" y="238154"/>
                </a:lnTo>
                <a:lnTo>
                  <a:pt x="27760" y="237423"/>
                </a:lnTo>
                <a:lnTo>
                  <a:pt x="24894" y="200167"/>
                </a:lnTo>
                <a:lnTo>
                  <a:pt x="24838" y="199435"/>
                </a:lnTo>
                <a:close/>
              </a:path>
              <a:path extrusionOk="0" h="991235" w="113665">
                <a:moveTo>
                  <a:pt x="19724" y="132957"/>
                </a:moveTo>
                <a:lnTo>
                  <a:pt x="10227" y="133687"/>
                </a:lnTo>
                <a:lnTo>
                  <a:pt x="13093" y="170945"/>
                </a:lnTo>
                <a:lnTo>
                  <a:pt x="13149" y="171676"/>
                </a:lnTo>
                <a:lnTo>
                  <a:pt x="22646" y="170945"/>
                </a:lnTo>
                <a:lnTo>
                  <a:pt x="19780" y="133687"/>
                </a:lnTo>
                <a:lnTo>
                  <a:pt x="19724" y="132957"/>
                </a:lnTo>
                <a:close/>
              </a:path>
              <a:path extrusionOk="0" h="991235" w="113665">
                <a:moveTo>
                  <a:pt x="14610" y="66479"/>
                </a:moveTo>
                <a:lnTo>
                  <a:pt x="5113" y="67209"/>
                </a:lnTo>
                <a:lnTo>
                  <a:pt x="7979" y="104466"/>
                </a:lnTo>
                <a:lnTo>
                  <a:pt x="8035" y="105197"/>
                </a:lnTo>
                <a:lnTo>
                  <a:pt x="17532" y="104466"/>
                </a:lnTo>
                <a:lnTo>
                  <a:pt x="14666" y="67209"/>
                </a:lnTo>
                <a:lnTo>
                  <a:pt x="14610" y="66479"/>
                </a:lnTo>
                <a:close/>
              </a:path>
              <a:path extrusionOk="0" h="991235" w="113665">
                <a:moveTo>
                  <a:pt x="9497" y="0"/>
                </a:moveTo>
                <a:lnTo>
                  <a:pt x="0" y="731"/>
                </a:lnTo>
                <a:lnTo>
                  <a:pt x="2865" y="37988"/>
                </a:lnTo>
                <a:lnTo>
                  <a:pt x="2922" y="38718"/>
                </a:lnTo>
                <a:lnTo>
                  <a:pt x="12419" y="37988"/>
                </a:lnTo>
                <a:lnTo>
                  <a:pt x="9553" y="731"/>
                </a:lnTo>
                <a:lnTo>
                  <a:pt x="94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1352652" y="940211"/>
            <a:ext cx="5201603" cy="766763"/>
          </a:xfrm>
          <a:custGeom>
            <a:rect b="b" l="l" r="r" t="t"/>
            <a:pathLst>
              <a:path extrusionOk="0" h="1022350" w="6935470">
                <a:moveTo>
                  <a:pt x="6799849" y="971214"/>
                </a:moveTo>
                <a:lnTo>
                  <a:pt x="6798503" y="980643"/>
                </a:lnTo>
                <a:lnTo>
                  <a:pt x="6836219" y="986031"/>
                </a:lnTo>
                <a:lnTo>
                  <a:pt x="6837566" y="976602"/>
                </a:lnTo>
                <a:lnTo>
                  <a:pt x="6799849" y="971214"/>
                </a:lnTo>
                <a:close/>
              </a:path>
              <a:path extrusionOk="0" h="1022350" w="6935470">
                <a:moveTo>
                  <a:pt x="6733844" y="961784"/>
                </a:moveTo>
                <a:lnTo>
                  <a:pt x="6732498" y="971214"/>
                </a:lnTo>
                <a:lnTo>
                  <a:pt x="6770215" y="976602"/>
                </a:lnTo>
                <a:lnTo>
                  <a:pt x="6771562" y="967173"/>
                </a:lnTo>
                <a:lnTo>
                  <a:pt x="6733844" y="961784"/>
                </a:lnTo>
                <a:close/>
              </a:path>
              <a:path extrusionOk="0" h="1022350" w="6935470">
                <a:moveTo>
                  <a:pt x="6667840" y="952355"/>
                </a:moveTo>
                <a:lnTo>
                  <a:pt x="6666492" y="961784"/>
                </a:lnTo>
                <a:lnTo>
                  <a:pt x="6704210" y="967173"/>
                </a:lnTo>
                <a:lnTo>
                  <a:pt x="6705556" y="957743"/>
                </a:lnTo>
                <a:lnTo>
                  <a:pt x="6667840" y="952355"/>
                </a:lnTo>
                <a:close/>
              </a:path>
              <a:path extrusionOk="0" h="1022350" w="6935470">
                <a:moveTo>
                  <a:pt x="6864827" y="946820"/>
                </a:moveTo>
                <a:lnTo>
                  <a:pt x="6854050" y="1022254"/>
                </a:lnTo>
                <a:lnTo>
                  <a:pt x="6934873" y="995314"/>
                </a:lnTo>
                <a:lnTo>
                  <a:pt x="6864827" y="946820"/>
                </a:lnTo>
                <a:close/>
              </a:path>
              <a:path extrusionOk="0" h="1022350" w="6935470">
                <a:moveTo>
                  <a:pt x="6601835" y="942926"/>
                </a:moveTo>
                <a:lnTo>
                  <a:pt x="6600488" y="952355"/>
                </a:lnTo>
                <a:lnTo>
                  <a:pt x="6638204" y="957743"/>
                </a:lnTo>
                <a:lnTo>
                  <a:pt x="6639552" y="948314"/>
                </a:lnTo>
                <a:lnTo>
                  <a:pt x="6601835" y="942926"/>
                </a:lnTo>
                <a:close/>
              </a:path>
              <a:path extrusionOk="0" h="1022350" w="6935470">
                <a:moveTo>
                  <a:pt x="6535830" y="933496"/>
                </a:moveTo>
                <a:lnTo>
                  <a:pt x="6534484" y="942926"/>
                </a:lnTo>
                <a:lnTo>
                  <a:pt x="6572200" y="948314"/>
                </a:lnTo>
                <a:lnTo>
                  <a:pt x="6573547" y="938885"/>
                </a:lnTo>
                <a:lnTo>
                  <a:pt x="6535830" y="933496"/>
                </a:lnTo>
                <a:close/>
              </a:path>
              <a:path extrusionOk="0" h="1022350" w="6935470">
                <a:moveTo>
                  <a:pt x="6469825" y="924067"/>
                </a:moveTo>
                <a:lnTo>
                  <a:pt x="6468478" y="933496"/>
                </a:lnTo>
                <a:lnTo>
                  <a:pt x="6506196" y="938885"/>
                </a:lnTo>
                <a:lnTo>
                  <a:pt x="6507542" y="929455"/>
                </a:lnTo>
                <a:lnTo>
                  <a:pt x="6469825" y="924067"/>
                </a:lnTo>
                <a:close/>
              </a:path>
              <a:path extrusionOk="0" h="1022350" w="6935470">
                <a:moveTo>
                  <a:pt x="6403820" y="914638"/>
                </a:moveTo>
                <a:lnTo>
                  <a:pt x="6402473" y="924067"/>
                </a:lnTo>
                <a:lnTo>
                  <a:pt x="6440190" y="929455"/>
                </a:lnTo>
                <a:lnTo>
                  <a:pt x="6441537" y="920026"/>
                </a:lnTo>
                <a:lnTo>
                  <a:pt x="6403820" y="914638"/>
                </a:lnTo>
                <a:close/>
              </a:path>
              <a:path extrusionOk="0" h="1022350" w="6935470">
                <a:moveTo>
                  <a:pt x="6337815" y="905209"/>
                </a:moveTo>
                <a:lnTo>
                  <a:pt x="6336468" y="914638"/>
                </a:lnTo>
                <a:lnTo>
                  <a:pt x="6374185" y="920026"/>
                </a:lnTo>
                <a:lnTo>
                  <a:pt x="6375532" y="910597"/>
                </a:lnTo>
                <a:lnTo>
                  <a:pt x="6337815" y="905209"/>
                </a:lnTo>
                <a:close/>
              </a:path>
              <a:path extrusionOk="0" h="1022350" w="6935470">
                <a:moveTo>
                  <a:pt x="6271809" y="895780"/>
                </a:moveTo>
                <a:lnTo>
                  <a:pt x="6270463" y="905209"/>
                </a:lnTo>
                <a:lnTo>
                  <a:pt x="6308180" y="910597"/>
                </a:lnTo>
                <a:lnTo>
                  <a:pt x="6309527" y="901167"/>
                </a:lnTo>
                <a:lnTo>
                  <a:pt x="6271809" y="895780"/>
                </a:lnTo>
                <a:close/>
              </a:path>
              <a:path extrusionOk="0" h="1022350" w="6935470">
                <a:moveTo>
                  <a:pt x="6205805" y="886350"/>
                </a:moveTo>
                <a:lnTo>
                  <a:pt x="6204458" y="895780"/>
                </a:lnTo>
                <a:lnTo>
                  <a:pt x="6242175" y="901167"/>
                </a:lnTo>
                <a:lnTo>
                  <a:pt x="6243521" y="891739"/>
                </a:lnTo>
                <a:lnTo>
                  <a:pt x="6205805" y="886350"/>
                </a:lnTo>
                <a:close/>
              </a:path>
              <a:path extrusionOk="0" h="1022350" w="6935470">
                <a:moveTo>
                  <a:pt x="6139801" y="876921"/>
                </a:moveTo>
                <a:lnTo>
                  <a:pt x="6138453" y="886350"/>
                </a:lnTo>
                <a:lnTo>
                  <a:pt x="6176170" y="891739"/>
                </a:lnTo>
                <a:lnTo>
                  <a:pt x="6177517" y="882309"/>
                </a:lnTo>
                <a:lnTo>
                  <a:pt x="6139801" y="876921"/>
                </a:lnTo>
                <a:close/>
              </a:path>
              <a:path extrusionOk="0" h="1022350" w="6935470">
                <a:moveTo>
                  <a:pt x="6073795" y="867492"/>
                </a:moveTo>
                <a:lnTo>
                  <a:pt x="6072449" y="876921"/>
                </a:lnTo>
                <a:lnTo>
                  <a:pt x="6110165" y="882309"/>
                </a:lnTo>
                <a:lnTo>
                  <a:pt x="6111513" y="872879"/>
                </a:lnTo>
                <a:lnTo>
                  <a:pt x="6073795" y="867492"/>
                </a:lnTo>
                <a:close/>
              </a:path>
              <a:path extrusionOk="0" h="1022350" w="6935470">
                <a:moveTo>
                  <a:pt x="6007790" y="858062"/>
                </a:moveTo>
                <a:lnTo>
                  <a:pt x="6006443" y="867492"/>
                </a:lnTo>
                <a:lnTo>
                  <a:pt x="6044159" y="872879"/>
                </a:lnTo>
                <a:lnTo>
                  <a:pt x="6045507" y="863451"/>
                </a:lnTo>
                <a:lnTo>
                  <a:pt x="6007790" y="858062"/>
                </a:lnTo>
                <a:close/>
              </a:path>
              <a:path extrusionOk="0" h="1022350" w="6935470">
                <a:moveTo>
                  <a:pt x="5941785" y="848634"/>
                </a:moveTo>
                <a:lnTo>
                  <a:pt x="5940438" y="858062"/>
                </a:lnTo>
                <a:lnTo>
                  <a:pt x="5978155" y="863451"/>
                </a:lnTo>
                <a:lnTo>
                  <a:pt x="5979502" y="854021"/>
                </a:lnTo>
                <a:lnTo>
                  <a:pt x="5941785" y="848634"/>
                </a:lnTo>
                <a:close/>
              </a:path>
              <a:path extrusionOk="0" h="1022350" w="6935470">
                <a:moveTo>
                  <a:pt x="5875780" y="839204"/>
                </a:moveTo>
                <a:lnTo>
                  <a:pt x="5874433" y="848633"/>
                </a:lnTo>
                <a:lnTo>
                  <a:pt x="5912150" y="854021"/>
                </a:lnTo>
                <a:lnTo>
                  <a:pt x="5913497" y="844593"/>
                </a:lnTo>
                <a:lnTo>
                  <a:pt x="5875780" y="839204"/>
                </a:lnTo>
                <a:close/>
              </a:path>
              <a:path extrusionOk="0" h="1022350" w="6935470">
                <a:moveTo>
                  <a:pt x="5809775" y="829774"/>
                </a:moveTo>
                <a:lnTo>
                  <a:pt x="5808428" y="839204"/>
                </a:lnTo>
                <a:lnTo>
                  <a:pt x="5846145" y="844591"/>
                </a:lnTo>
                <a:lnTo>
                  <a:pt x="5847492" y="835163"/>
                </a:lnTo>
                <a:lnTo>
                  <a:pt x="5809775" y="829774"/>
                </a:lnTo>
                <a:close/>
              </a:path>
              <a:path extrusionOk="0" h="1022350" w="6935470">
                <a:moveTo>
                  <a:pt x="5743770" y="820346"/>
                </a:moveTo>
                <a:lnTo>
                  <a:pt x="5742423" y="829774"/>
                </a:lnTo>
                <a:lnTo>
                  <a:pt x="5780140" y="835163"/>
                </a:lnTo>
                <a:lnTo>
                  <a:pt x="5781487" y="825733"/>
                </a:lnTo>
                <a:lnTo>
                  <a:pt x="5743770" y="820346"/>
                </a:lnTo>
                <a:close/>
              </a:path>
              <a:path extrusionOk="0" h="1022350" w="6935470">
                <a:moveTo>
                  <a:pt x="5677766" y="810916"/>
                </a:moveTo>
                <a:lnTo>
                  <a:pt x="5676418" y="820346"/>
                </a:lnTo>
                <a:lnTo>
                  <a:pt x="5714135" y="825733"/>
                </a:lnTo>
                <a:lnTo>
                  <a:pt x="5715482" y="816305"/>
                </a:lnTo>
                <a:lnTo>
                  <a:pt x="5677766" y="810916"/>
                </a:lnTo>
                <a:close/>
              </a:path>
              <a:path extrusionOk="0" h="1022350" w="6935470">
                <a:moveTo>
                  <a:pt x="5611760" y="801486"/>
                </a:moveTo>
                <a:lnTo>
                  <a:pt x="5610412" y="810916"/>
                </a:lnTo>
                <a:lnTo>
                  <a:pt x="5648130" y="816305"/>
                </a:lnTo>
                <a:lnTo>
                  <a:pt x="5649476" y="806875"/>
                </a:lnTo>
                <a:lnTo>
                  <a:pt x="5611760" y="801486"/>
                </a:lnTo>
                <a:close/>
              </a:path>
              <a:path extrusionOk="0" h="1022350" w="6935470">
                <a:moveTo>
                  <a:pt x="5545755" y="792058"/>
                </a:moveTo>
                <a:lnTo>
                  <a:pt x="5544408" y="801486"/>
                </a:lnTo>
                <a:lnTo>
                  <a:pt x="5582124" y="806875"/>
                </a:lnTo>
                <a:lnTo>
                  <a:pt x="5583472" y="797445"/>
                </a:lnTo>
                <a:lnTo>
                  <a:pt x="5545755" y="792058"/>
                </a:lnTo>
                <a:close/>
              </a:path>
              <a:path extrusionOk="0" h="1022350" w="6935470">
                <a:moveTo>
                  <a:pt x="5479750" y="782628"/>
                </a:moveTo>
                <a:lnTo>
                  <a:pt x="5478404" y="792058"/>
                </a:lnTo>
                <a:lnTo>
                  <a:pt x="5516120" y="797445"/>
                </a:lnTo>
                <a:lnTo>
                  <a:pt x="5517468" y="788017"/>
                </a:lnTo>
                <a:lnTo>
                  <a:pt x="5479750" y="782628"/>
                </a:lnTo>
                <a:close/>
              </a:path>
              <a:path extrusionOk="0" h="1022350" w="6935470">
                <a:moveTo>
                  <a:pt x="5413745" y="773198"/>
                </a:moveTo>
                <a:lnTo>
                  <a:pt x="5412398" y="782628"/>
                </a:lnTo>
                <a:lnTo>
                  <a:pt x="5450116" y="788017"/>
                </a:lnTo>
                <a:lnTo>
                  <a:pt x="5451462" y="778587"/>
                </a:lnTo>
                <a:lnTo>
                  <a:pt x="5413745" y="773198"/>
                </a:lnTo>
                <a:close/>
              </a:path>
              <a:path extrusionOk="0" h="1022350" w="6935470">
                <a:moveTo>
                  <a:pt x="5347740" y="763770"/>
                </a:moveTo>
                <a:lnTo>
                  <a:pt x="5346393" y="773198"/>
                </a:lnTo>
                <a:lnTo>
                  <a:pt x="5384110" y="778587"/>
                </a:lnTo>
                <a:lnTo>
                  <a:pt x="5385457" y="769157"/>
                </a:lnTo>
                <a:lnTo>
                  <a:pt x="5347740" y="763770"/>
                </a:lnTo>
                <a:close/>
              </a:path>
              <a:path extrusionOk="0" h="1022350" w="6935470">
                <a:moveTo>
                  <a:pt x="5281735" y="754340"/>
                </a:moveTo>
                <a:lnTo>
                  <a:pt x="5280388" y="763770"/>
                </a:lnTo>
                <a:lnTo>
                  <a:pt x="5318105" y="769157"/>
                </a:lnTo>
                <a:lnTo>
                  <a:pt x="5319452" y="759729"/>
                </a:lnTo>
                <a:lnTo>
                  <a:pt x="5281735" y="754340"/>
                </a:lnTo>
                <a:close/>
              </a:path>
              <a:path extrusionOk="0" h="1022350" w="6935470">
                <a:moveTo>
                  <a:pt x="5215729" y="744912"/>
                </a:moveTo>
                <a:lnTo>
                  <a:pt x="5214383" y="754340"/>
                </a:lnTo>
                <a:lnTo>
                  <a:pt x="5252100" y="759729"/>
                </a:lnTo>
                <a:lnTo>
                  <a:pt x="5253447" y="750299"/>
                </a:lnTo>
                <a:lnTo>
                  <a:pt x="5215729" y="744912"/>
                </a:lnTo>
                <a:close/>
              </a:path>
              <a:path extrusionOk="0" h="1022350" w="6935470">
                <a:moveTo>
                  <a:pt x="5149725" y="735482"/>
                </a:moveTo>
                <a:lnTo>
                  <a:pt x="5148378" y="744912"/>
                </a:lnTo>
                <a:lnTo>
                  <a:pt x="5186095" y="750299"/>
                </a:lnTo>
                <a:lnTo>
                  <a:pt x="5187442" y="740871"/>
                </a:lnTo>
                <a:lnTo>
                  <a:pt x="5149725" y="735482"/>
                </a:lnTo>
                <a:close/>
              </a:path>
              <a:path extrusionOk="0" h="1022350" w="6935470">
                <a:moveTo>
                  <a:pt x="5083721" y="726052"/>
                </a:moveTo>
                <a:lnTo>
                  <a:pt x="5082373" y="735482"/>
                </a:lnTo>
                <a:lnTo>
                  <a:pt x="5120090" y="740871"/>
                </a:lnTo>
                <a:lnTo>
                  <a:pt x="5121437" y="731441"/>
                </a:lnTo>
                <a:lnTo>
                  <a:pt x="5083721" y="726052"/>
                </a:lnTo>
                <a:close/>
              </a:path>
              <a:path extrusionOk="0" h="1022350" w="6935470">
                <a:moveTo>
                  <a:pt x="5017715" y="716624"/>
                </a:moveTo>
                <a:lnTo>
                  <a:pt x="5016367" y="726052"/>
                </a:lnTo>
                <a:lnTo>
                  <a:pt x="5054085" y="731441"/>
                </a:lnTo>
                <a:lnTo>
                  <a:pt x="5055433" y="722011"/>
                </a:lnTo>
                <a:lnTo>
                  <a:pt x="5017715" y="716624"/>
                </a:lnTo>
                <a:close/>
              </a:path>
              <a:path extrusionOk="0" h="1022350" w="6935470">
                <a:moveTo>
                  <a:pt x="4951710" y="707194"/>
                </a:moveTo>
                <a:lnTo>
                  <a:pt x="4950363" y="716624"/>
                </a:lnTo>
                <a:lnTo>
                  <a:pt x="4988079" y="722011"/>
                </a:lnTo>
                <a:lnTo>
                  <a:pt x="4989427" y="712583"/>
                </a:lnTo>
                <a:lnTo>
                  <a:pt x="4951710" y="707194"/>
                </a:lnTo>
                <a:close/>
              </a:path>
              <a:path extrusionOk="0" h="1022350" w="6935470">
                <a:moveTo>
                  <a:pt x="4885705" y="697765"/>
                </a:moveTo>
                <a:lnTo>
                  <a:pt x="4884359" y="707194"/>
                </a:lnTo>
                <a:lnTo>
                  <a:pt x="4922075" y="712583"/>
                </a:lnTo>
                <a:lnTo>
                  <a:pt x="4923422" y="703153"/>
                </a:lnTo>
                <a:lnTo>
                  <a:pt x="4885705" y="697765"/>
                </a:lnTo>
                <a:close/>
              </a:path>
              <a:path extrusionOk="0" h="1022350" w="6935470">
                <a:moveTo>
                  <a:pt x="4819700" y="688336"/>
                </a:moveTo>
                <a:lnTo>
                  <a:pt x="4818353" y="697765"/>
                </a:lnTo>
                <a:lnTo>
                  <a:pt x="4856071" y="703153"/>
                </a:lnTo>
                <a:lnTo>
                  <a:pt x="4857417" y="693724"/>
                </a:lnTo>
                <a:lnTo>
                  <a:pt x="4819700" y="688336"/>
                </a:lnTo>
                <a:close/>
              </a:path>
              <a:path extrusionOk="0" h="1022350" w="6935470">
                <a:moveTo>
                  <a:pt x="4753695" y="678906"/>
                </a:moveTo>
                <a:lnTo>
                  <a:pt x="4752348" y="688336"/>
                </a:lnTo>
                <a:lnTo>
                  <a:pt x="4790065" y="693724"/>
                </a:lnTo>
                <a:lnTo>
                  <a:pt x="4791412" y="684295"/>
                </a:lnTo>
                <a:lnTo>
                  <a:pt x="4753695" y="678906"/>
                </a:lnTo>
                <a:close/>
              </a:path>
              <a:path extrusionOk="0" h="1022350" w="6935470">
                <a:moveTo>
                  <a:pt x="4687690" y="669477"/>
                </a:moveTo>
                <a:lnTo>
                  <a:pt x="4686343" y="678906"/>
                </a:lnTo>
                <a:lnTo>
                  <a:pt x="4724060" y="684295"/>
                </a:lnTo>
                <a:lnTo>
                  <a:pt x="4725407" y="674865"/>
                </a:lnTo>
                <a:lnTo>
                  <a:pt x="4687690" y="669477"/>
                </a:lnTo>
                <a:close/>
              </a:path>
              <a:path extrusionOk="0" h="1022350" w="6935470">
                <a:moveTo>
                  <a:pt x="4621684" y="660048"/>
                </a:moveTo>
                <a:lnTo>
                  <a:pt x="4620338" y="669477"/>
                </a:lnTo>
                <a:lnTo>
                  <a:pt x="4658055" y="674865"/>
                </a:lnTo>
                <a:lnTo>
                  <a:pt x="4659402" y="665436"/>
                </a:lnTo>
                <a:lnTo>
                  <a:pt x="4621684" y="660048"/>
                </a:lnTo>
                <a:close/>
              </a:path>
              <a:path extrusionOk="0" h="1022350" w="6935470">
                <a:moveTo>
                  <a:pt x="4555680" y="650619"/>
                </a:moveTo>
                <a:lnTo>
                  <a:pt x="4554333" y="660048"/>
                </a:lnTo>
                <a:lnTo>
                  <a:pt x="4592050" y="665436"/>
                </a:lnTo>
                <a:lnTo>
                  <a:pt x="4593396" y="656007"/>
                </a:lnTo>
                <a:lnTo>
                  <a:pt x="4555680" y="650619"/>
                </a:lnTo>
                <a:close/>
              </a:path>
              <a:path extrusionOk="0" h="1022350" w="6935470">
                <a:moveTo>
                  <a:pt x="4489676" y="641189"/>
                </a:moveTo>
                <a:lnTo>
                  <a:pt x="4488328" y="650619"/>
                </a:lnTo>
                <a:lnTo>
                  <a:pt x="4526045" y="656007"/>
                </a:lnTo>
                <a:lnTo>
                  <a:pt x="4527392" y="646578"/>
                </a:lnTo>
                <a:lnTo>
                  <a:pt x="4489676" y="641189"/>
                </a:lnTo>
                <a:close/>
              </a:path>
              <a:path extrusionOk="0" h="1022350" w="6935470">
                <a:moveTo>
                  <a:pt x="4423670" y="631760"/>
                </a:moveTo>
                <a:lnTo>
                  <a:pt x="4422324" y="641189"/>
                </a:lnTo>
                <a:lnTo>
                  <a:pt x="4460040" y="646578"/>
                </a:lnTo>
                <a:lnTo>
                  <a:pt x="4461388" y="637148"/>
                </a:lnTo>
                <a:lnTo>
                  <a:pt x="4423670" y="631760"/>
                </a:lnTo>
                <a:close/>
              </a:path>
              <a:path extrusionOk="0" h="1022350" w="6935470">
                <a:moveTo>
                  <a:pt x="4357665" y="622331"/>
                </a:moveTo>
                <a:lnTo>
                  <a:pt x="4356318" y="631760"/>
                </a:lnTo>
                <a:lnTo>
                  <a:pt x="4394034" y="637148"/>
                </a:lnTo>
                <a:lnTo>
                  <a:pt x="4395382" y="627719"/>
                </a:lnTo>
                <a:lnTo>
                  <a:pt x="4357665" y="622331"/>
                </a:lnTo>
                <a:close/>
              </a:path>
              <a:path extrusionOk="0" h="1022350" w="6935470">
                <a:moveTo>
                  <a:pt x="4291660" y="612901"/>
                </a:moveTo>
                <a:lnTo>
                  <a:pt x="4290314" y="622331"/>
                </a:lnTo>
                <a:lnTo>
                  <a:pt x="4328030" y="627719"/>
                </a:lnTo>
                <a:lnTo>
                  <a:pt x="4329377" y="618290"/>
                </a:lnTo>
                <a:lnTo>
                  <a:pt x="4291660" y="612901"/>
                </a:lnTo>
                <a:close/>
              </a:path>
              <a:path extrusionOk="0" h="1022350" w="6935470">
                <a:moveTo>
                  <a:pt x="4225655" y="603473"/>
                </a:moveTo>
                <a:lnTo>
                  <a:pt x="4224308" y="612901"/>
                </a:lnTo>
                <a:lnTo>
                  <a:pt x="4262026" y="618290"/>
                </a:lnTo>
                <a:lnTo>
                  <a:pt x="4263372" y="608860"/>
                </a:lnTo>
                <a:lnTo>
                  <a:pt x="4225655" y="603473"/>
                </a:lnTo>
                <a:close/>
              </a:path>
              <a:path extrusionOk="0" h="1022350" w="6935470">
                <a:moveTo>
                  <a:pt x="4159650" y="594043"/>
                </a:moveTo>
                <a:lnTo>
                  <a:pt x="4158303" y="603473"/>
                </a:lnTo>
                <a:lnTo>
                  <a:pt x="4196020" y="608860"/>
                </a:lnTo>
                <a:lnTo>
                  <a:pt x="4197367" y="599432"/>
                </a:lnTo>
                <a:lnTo>
                  <a:pt x="4159650" y="594043"/>
                </a:lnTo>
                <a:close/>
              </a:path>
              <a:path extrusionOk="0" h="1022350" w="6935470">
                <a:moveTo>
                  <a:pt x="4093645" y="584614"/>
                </a:moveTo>
                <a:lnTo>
                  <a:pt x="4092299" y="594043"/>
                </a:lnTo>
                <a:lnTo>
                  <a:pt x="4130015" y="599432"/>
                </a:lnTo>
                <a:lnTo>
                  <a:pt x="4131363" y="590002"/>
                </a:lnTo>
                <a:lnTo>
                  <a:pt x="4093645" y="584614"/>
                </a:lnTo>
                <a:close/>
              </a:path>
              <a:path extrusionOk="0" h="1022350" w="6935470">
                <a:moveTo>
                  <a:pt x="4027641" y="575185"/>
                </a:moveTo>
                <a:lnTo>
                  <a:pt x="4026293" y="584614"/>
                </a:lnTo>
                <a:lnTo>
                  <a:pt x="4064011" y="590002"/>
                </a:lnTo>
                <a:lnTo>
                  <a:pt x="4065357" y="580572"/>
                </a:lnTo>
                <a:lnTo>
                  <a:pt x="4027641" y="575185"/>
                </a:lnTo>
                <a:close/>
              </a:path>
              <a:path extrusionOk="0" h="1022350" w="6935470">
                <a:moveTo>
                  <a:pt x="3961635" y="565755"/>
                </a:moveTo>
                <a:lnTo>
                  <a:pt x="3960289" y="575185"/>
                </a:lnTo>
                <a:lnTo>
                  <a:pt x="3998005" y="580572"/>
                </a:lnTo>
                <a:lnTo>
                  <a:pt x="3999353" y="571144"/>
                </a:lnTo>
                <a:lnTo>
                  <a:pt x="3961635" y="565755"/>
                </a:lnTo>
                <a:close/>
              </a:path>
              <a:path extrusionOk="0" h="1022350" w="6935470">
                <a:moveTo>
                  <a:pt x="3895631" y="556327"/>
                </a:moveTo>
                <a:lnTo>
                  <a:pt x="3894283" y="565755"/>
                </a:lnTo>
                <a:lnTo>
                  <a:pt x="3932001" y="571144"/>
                </a:lnTo>
                <a:lnTo>
                  <a:pt x="3933347" y="561714"/>
                </a:lnTo>
                <a:lnTo>
                  <a:pt x="3895631" y="556327"/>
                </a:lnTo>
                <a:close/>
              </a:path>
              <a:path extrusionOk="0" h="1022350" w="6935470">
                <a:moveTo>
                  <a:pt x="3829626" y="546897"/>
                </a:moveTo>
                <a:lnTo>
                  <a:pt x="3828279" y="556327"/>
                </a:lnTo>
                <a:lnTo>
                  <a:pt x="3865995" y="561714"/>
                </a:lnTo>
                <a:lnTo>
                  <a:pt x="3867343" y="552286"/>
                </a:lnTo>
                <a:lnTo>
                  <a:pt x="3829626" y="546897"/>
                </a:lnTo>
                <a:close/>
              </a:path>
              <a:path extrusionOk="0" h="1022350" w="6935470">
                <a:moveTo>
                  <a:pt x="3763620" y="537467"/>
                </a:moveTo>
                <a:lnTo>
                  <a:pt x="3762274" y="546897"/>
                </a:lnTo>
                <a:lnTo>
                  <a:pt x="3799991" y="552286"/>
                </a:lnTo>
                <a:lnTo>
                  <a:pt x="3801338" y="542856"/>
                </a:lnTo>
                <a:lnTo>
                  <a:pt x="3763620" y="537467"/>
                </a:lnTo>
                <a:close/>
              </a:path>
              <a:path extrusionOk="0" h="1022350" w="6935470">
                <a:moveTo>
                  <a:pt x="3697616" y="528039"/>
                </a:moveTo>
                <a:lnTo>
                  <a:pt x="3696268" y="537467"/>
                </a:lnTo>
                <a:lnTo>
                  <a:pt x="3733986" y="542856"/>
                </a:lnTo>
                <a:lnTo>
                  <a:pt x="3735334" y="533426"/>
                </a:lnTo>
                <a:lnTo>
                  <a:pt x="3697616" y="528039"/>
                </a:lnTo>
                <a:close/>
              </a:path>
              <a:path extrusionOk="0" h="1022350" w="6935470">
                <a:moveTo>
                  <a:pt x="3631611" y="518609"/>
                </a:moveTo>
                <a:lnTo>
                  <a:pt x="3630264" y="528039"/>
                </a:lnTo>
                <a:lnTo>
                  <a:pt x="3667982" y="533426"/>
                </a:lnTo>
                <a:lnTo>
                  <a:pt x="3669328" y="523998"/>
                </a:lnTo>
                <a:lnTo>
                  <a:pt x="3631611" y="518609"/>
                </a:lnTo>
                <a:close/>
              </a:path>
              <a:path extrusionOk="0" h="1022350" w="6935470">
                <a:moveTo>
                  <a:pt x="3565607" y="509179"/>
                </a:moveTo>
                <a:lnTo>
                  <a:pt x="3564260" y="518609"/>
                </a:lnTo>
                <a:lnTo>
                  <a:pt x="3601976" y="523998"/>
                </a:lnTo>
                <a:lnTo>
                  <a:pt x="3603324" y="514568"/>
                </a:lnTo>
                <a:lnTo>
                  <a:pt x="3565607" y="509179"/>
                </a:lnTo>
                <a:close/>
              </a:path>
              <a:path extrusionOk="0" h="1022350" w="6935470">
                <a:moveTo>
                  <a:pt x="3499601" y="499751"/>
                </a:moveTo>
                <a:lnTo>
                  <a:pt x="3498255" y="509179"/>
                </a:lnTo>
                <a:lnTo>
                  <a:pt x="3535972" y="514568"/>
                </a:lnTo>
                <a:lnTo>
                  <a:pt x="3537319" y="505138"/>
                </a:lnTo>
                <a:lnTo>
                  <a:pt x="3499601" y="499751"/>
                </a:lnTo>
                <a:close/>
              </a:path>
              <a:path extrusionOk="0" h="1022350" w="6935470">
                <a:moveTo>
                  <a:pt x="3433597" y="490321"/>
                </a:moveTo>
                <a:lnTo>
                  <a:pt x="3432249" y="499751"/>
                </a:lnTo>
                <a:lnTo>
                  <a:pt x="3469967" y="505138"/>
                </a:lnTo>
                <a:lnTo>
                  <a:pt x="3471315" y="495710"/>
                </a:lnTo>
                <a:lnTo>
                  <a:pt x="3433597" y="490321"/>
                </a:lnTo>
                <a:close/>
              </a:path>
              <a:path extrusionOk="0" h="1022350" w="6935470">
                <a:moveTo>
                  <a:pt x="3367592" y="480893"/>
                </a:moveTo>
                <a:lnTo>
                  <a:pt x="3366245" y="490321"/>
                </a:lnTo>
                <a:lnTo>
                  <a:pt x="3403963" y="495710"/>
                </a:lnTo>
                <a:lnTo>
                  <a:pt x="3405309" y="486280"/>
                </a:lnTo>
                <a:lnTo>
                  <a:pt x="3367592" y="480893"/>
                </a:lnTo>
                <a:close/>
              </a:path>
              <a:path extrusionOk="0" h="1022350" w="6935470">
                <a:moveTo>
                  <a:pt x="3301588" y="471463"/>
                </a:moveTo>
                <a:lnTo>
                  <a:pt x="3300241" y="480893"/>
                </a:lnTo>
                <a:lnTo>
                  <a:pt x="3337958" y="486280"/>
                </a:lnTo>
                <a:lnTo>
                  <a:pt x="3339304" y="476851"/>
                </a:lnTo>
                <a:lnTo>
                  <a:pt x="3301588" y="471463"/>
                </a:lnTo>
                <a:close/>
              </a:path>
              <a:path extrusionOk="0" h="1022350" w="6935470">
                <a:moveTo>
                  <a:pt x="3235582" y="462033"/>
                </a:moveTo>
                <a:lnTo>
                  <a:pt x="3234236" y="471463"/>
                </a:lnTo>
                <a:lnTo>
                  <a:pt x="3271953" y="476851"/>
                </a:lnTo>
                <a:lnTo>
                  <a:pt x="3273300" y="467422"/>
                </a:lnTo>
                <a:lnTo>
                  <a:pt x="3235582" y="462033"/>
                </a:lnTo>
                <a:close/>
              </a:path>
              <a:path extrusionOk="0" h="1022350" w="6935470">
                <a:moveTo>
                  <a:pt x="3169578" y="452605"/>
                </a:moveTo>
                <a:lnTo>
                  <a:pt x="3168232" y="462033"/>
                </a:lnTo>
                <a:lnTo>
                  <a:pt x="3205948" y="467422"/>
                </a:lnTo>
                <a:lnTo>
                  <a:pt x="3207296" y="457992"/>
                </a:lnTo>
                <a:lnTo>
                  <a:pt x="3169578" y="452605"/>
                </a:lnTo>
                <a:close/>
              </a:path>
              <a:path extrusionOk="0" h="1022350" w="6935470">
                <a:moveTo>
                  <a:pt x="3103573" y="443175"/>
                </a:moveTo>
                <a:lnTo>
                  <a:pt x="3102226" y="452605"/>
                </a:lnTo>
                <a:lnTo>
                  <a:pt x="3139944" y="457992"/>
                </a:lnTo>
                <a:lnTo>
                  <a:pt x="3141290" y="448563"/>
                </a:lnTo>
                <a:lnTo>
                  <a:pt x="3103573" y="443175"/>
                </a:lnTo>
                <a:close/>
              </a:path>
              <a:path extrusionOk="0" h="1022350" w="6935470">
                <a:moveTo>
                  <a:pt x="3037569" y="433745"/>
                </a:moveTo>
                <a:lnTo>
                  <a:pt x="3036222" y="443175"/>
                </a:lnTo>
                <a:lnTo>
                  <a:pt x="3073938" y="448563"/>
                </a:lnTo>
                <a:lnTo>
                  <a:pt x="3075285" y="439134"/>
                </a:lnTo>
                <a:lnTo>
                  <a:pt x="3037569" y="433745"/>
                </a:lnTo>
                <a:close/>
              </a:path>
              <a:path extrusionOk="0" h="1022350" w="6935470">
                <a:moveTo>
                  <a:pt x="2971563" y="424317"/>
                </a:moveTo>
                <a:lnTo>
                  <a:pt x="2970217" y="433745"/>
                </a:lnTo>
                <a:lnTo>
                  <a:pt x="3007934" y="439134"/>
                </a:lnTo>
                <a:lnTo>
                  <a:pt x="3009281" y="429704"/>
                </a:lnTo>
                <a:lnTo>
                  <a:pt x="2971563" y="424317"/>
                </a:lnTo>
                <a:close/>
              </a:path>
              <a:path extrusionOk="0" h="1022350" w="6935470">
                <a:moveTo>
                  <a:pt x="2905559" y="414887"/>
                </a:moveTo>
                <a:lnTo>
                  <a:pt x="2904213" y="424317"/>
                </a:lnTo>
                <a:lnTo>
                  <a:pt x="2941929" y="429704"/>
                </a:lnTo>
                <a:lnTo>
                  <a:pt x="2943277" y="420276"/>
                </a:lnTo>
                <a:lnTo>
                  <a:pt x="2905559" y="414887"/>
                </a:lnTo>
                <a:close/>
              </a:path>
              <a:path extrusionOk="0" h="1022350" w="6935470">
                <a:moveTo>
                  <a:pt x="2839554" y="405458"/>
                </a:moveTo>
                <a:lnTo>
                  <a:pt x="2838207" y="414887"/>
                </a:lnTo>
                <a:lnTo>
                  <a:pt x="2875925" y="420276"/>
                </a:lnTo>
                <a:lnTo>
                  <a:pt x="2877272" y="410846"/>
                </a:lnTo>
                <a:lnTo>
                  <a:pt x="2839554" y="405458"/>
                </a:lnTo>
                <a:close/>
              </a:path>
              <a:path extrusionOk="0" h="1022350" w="6935470">
                <a:moveTo>
                  <a:pt x="2773550" y="396029"/>
                </a:moveTo>
                <a:lnTo>
                  <a:pt x="2772202" y="405458"/>
                </a:lnTo>
                <a:lnTo>
                  <a:pt x="2809919" y="410846"/>
                </a:lnTo>
                <a:lnTo>
                  <a:pt x="2811266" y="401417"/>
                </a:lnTo>
                <a:lnTo>
                  <a:pt x="2773550" y="396029"/>
                </a:lnTo>
                <a:close/>
              </a:path>
              <a:path extrusionOk="0" h="1022350" w="6935470">
                <a:moveTo>
                  <a:pt x="2707544" y="386599"/>
                </a:moveTo>
                <a:lnTo>
                  <a:pt x="2706198" y="396029"/>
                </a:lnTo>
                <a:lnTo>
                  <a:pt x="2743915" y="401417"/>
                </a:lnTo>
                <a:lnTo>
                  <a:pt x="2745262" y="391988"/>
                </a:lnTo>
                <a:lnTo>
                  <a:pt x="2707544" y="386599"/>
                </a:lnTo>
                <a:close/>
              </a:path>
              <a:path extrusionOk="0" h="1022350" w="6935470">
                <a:moveTo>
                  <a:pt x="2641540" y="377170"/>
                </a:moveTo>
                <a:lnTo>
                  <a:pt x="2640194" y="386599"/>
                </a:lnTo>
                <a:lnTo>
                  <a:pt x="2677910" y="391988"/>
                </a:lnTo>
                <a:lnTo>
                  <a:pt x="2679258" y="382558"/>
                </a:lnTo>
                <a:lnTo>
                  <a:pt x="2641540" y="377170"/>
                </a:lnTo>
                <a:close/>
              </a:path>
              <a:path extrusionOk="0" h="1022350" w="6935470">
                <a:moveTo>
                  <a:pt x="2575535" y="367741"/>
                </a:moveTo>
                <a:lnTo>
                  <a:pt x="2574188" y="377170"/>
                </a:lnTo>
                <a:lnTo>
                  <a:pt x="2611906" y="382558"/>
                </a:lnTo>
                <a:lnTo>
                  <a:pt x="2613252" y="373129"/>
                </a:lnTo>
                <a:lnTo>
                  <a:pt x="2575535" y="367741"/>
                </a:lnTo>
                <a:close/>
              </a:path>
              <a:path extrusionOk="0" h="1022350" w="6935470">
                <a:moveTo>
                  <a:pt x="2509531" y="358311"/>
                </a:moveTo>
                <a:lnTo>
                  <a:pt x="2508183" y="367741"/>
                </a:lnTo>
                <a:lnTo>
                  <a:pt x="2545901" y="373129"/>
                </a:lnTo>
                <a:lnTo>
                  <a:pt x="2547247" y="363700"/>
                </a:lnTo>
                <a:lnTo>
                  <a:pt x="2509531" y="358311"/>
                </a:lnTo>
                <a:close/>
              </a:path>
              <a:path extrusionOk="0" h="1022350" w="6935470">
                <a:moveTo>
                  <a:pt x="2443526" y="348882"/>
                </a:moveTo>
                <a:lnTo>
                  <a:pt x="2442179" y="358311"/>
                </a:lnTo>
                <a:lnTo>
                  <a:pt x="2479895" y="363700"/>
                </a:lnTo>
                <a:lnTo>
                  <a:pt x="2481243" y="354270"/>
                </a:lnTo>
                <a:lnTo>
                  <a:pt x="2443526" y="348882"/>
                </a:lnTo>
                <a:close/>
              </a:path>
              <a:path extrusionOk="0" h="1022350" w="6935470">
                <a:moveTo>
                  <a:pt x="2377521" y="339453"/>
                </a:moveTo>
                <a:lnTo>
                  <a:pt x="2376175" y="348882"/>
                </a:lnTo>
                <a:lnTo>
                  <a:pt x="2413891" y="354270"/>
                </a:lnTo>
                <a:lnTo>
                  <a:pt x="2415239" y="344841"/>
                </a:lnTo>
                <a:lnTo>
                  <a:pt x="2377521" y="339453"/>
                </a:lnTo>
                <a:close/>
              </a:path>
              <a:path extrusionOk="0" h="1022350" w="6935470">
                <a:moveTo>
                  <a:pt x="2311516" y="330024"/>
                </a:moveTo>
                <a:lnTo>
                  <a:pt x="2310169" y="339453"/>
                </a:lnTo>
                <a:lnTo>
                  <a:pt x="2347887" y="344841"/>
                </a:lnTo>
                <a:lnTo>
                  <a:pt x="2349233" y="335412"/>
                </a:lnTo>
                <a:lnTo>
                  <a:pt x="2311516" y="330024"/>
                </a:lnTo>
                <a:close/>
              </a:path>
              <a:path extrusionOk="0" h="1022350" w="6935470">
                <a:moveTo>
                  <a:pt x="2245512" y="320594"/>
                </a:moveTo>
                <a:lnTo>
                  <a:pt x="2244164" y="330023"/>
                </a:lnTo>
                <a:lnTo>
                  <a:pt x="2281882" y="335412"/>
                </a:lnTo>
                <a:lnTo>
                  <a:pt x="2283228" y="325983"/>
                </a:lnTo>
                <a:lnTo>
                  <a:pt x="2245512" y="320594"/>
                </a:lnTo>
                <a:close/>
              </a:path>
              <a:path extrusionOk="0" h="1022350" w="6935470">
                <a:moveTo>
                  <a:pt x="2179506" y="311165"/>
                </a:moveTo>
                <a:lnTo>
                  <a:pt x="2178160" y="320594"/>
                </a:lnTo>
                <a:lnTo>
                  <a:pt x="2215876" y="325982"/>
                </a:lnTo>
                <a:lnTo>
                  <a:pt x="2217224" y="316553"/>
                </a:lnTo>
                <a:lnTo>
                  <a:pt x="2179506" y="311165"/>
                </a:lnTo>
                <a:close/>
              </a:path>
              <a:path extrusionOk="0" h="1022350" w="6935470">
                <a:moveTo>
                  <a:pt x="2113502" y="301736"/>
                </a:moveTo>
                <a:lnTo>
                  <a:pt x="2112156" y="311165"/>
                </a:lnTo>
                <a:lnTo>
                  <a:pt x="2149872" y="316553"/>
                </a:lnTo>
                <a:lnTo>
                  <a:pt x="2151219" y="307124"/>
                </a:lnTo>
                <a:lnTo>
                  <a:pt x="2113502" y="301736"/>
                </a:lnTo>
                <a:close/>
              </a:path>
              <a:path extrusionOk="0" h="1022350" w="6935470">
                <a:moveTo>
                  <a:pt x="2047497" y="292307"/>
                </a:moveTo>
                <a:lnTo>
                  <a:pt x="2046150" y="301736"/>
                </a:lnTo>
                <a:lnTo>
                  <a:pt x="2083868" y="307124"/>
                </a:lnTo>
                <a:lnTo>
                  <a:pt x="2085214" y="297695"/>
                </a:lnTo>
                <a:lnTo>
                  <a:pt x="2047497" y="292307"/>
                </a:lnTo>
                <a:close/>
              </a:path>
              <a:path extrusionOk="0" h="1022350" w="6935470">
                <a:moveTo>
                  <a:pt x="1981493" y="282877"/>
                </a:moveTo>
                <a:lnTo>
                  <a:pt x="1980145" y="292307"/>
                </a:lnTo>
                <a:lnTo>
                  <a:pt x="2017862" y="297695"/>
                </a:lnTo>
                <a:lnTo>
                  <a:pt x="2019209" y="288265"/>
                </a:lnTo>
                <a:lnTo>
                  <a:pt x="1981493" y="282877"/>
                </a:lnTo>
                <a:close/>
              </a:path>
              <a:path extrusionOk="0" h="1022350" w="6935470">
                <a:moveTo>
                  <a:pt x="1915487" y="273448"/>
                </a:moveTo>
                <a:lnTo>
                  <a:pt x="1914141" y="282877"/>
                </a:lnTo>
                <a:lnTo>
                  <a:pt x="1951857" y="288265"/>
                </a:lnTo>
                <a:lnTo>
                  <a:pt x="1953205" y="278836"/>
                </a:lnTo>
                <a:lnTo>
                  <a:pt x="1915487" y="273448"/>
                </a:lnTo>
                <a:close/>
              </a:path>
              <a:path extrusionOk="0" h="1022350" w="6935470">
                <a:moveTo>
                  <a:pt x="1849483" y="264019"/>
                </a:moveTo>
                <a:lnTo>
                  <a:pt x="1848135" y="273448"/>
                </a:lnTo>
                <a:lnTo>
                  <a:pt x="1885853" y="278836"/>
                </a:lnTo>
                <a:lnTo>
                  <a:pt x="1887200" y="269407"/>
                </a:lnTo>
                <a:lnTo>
                  <a:pt x="1849483" y="264019"/>
                </a:lnTo>
                <a:close/>
              </a:path>
              <a:path extrusionOk="0" h="1022350" w="6935470">
                <a:moveTo>
                  <a:pt x="1783478" y="254589"/>
                </a:moveTo>
                <a:lnTo>
                  <a:pt x="1782131" y="264019"/>
                </a:lnTo>
                <a:lnTo>
                  <a:pt x="1819849" y="269407"/>
                </a:lnTo>
                <a:lnTo>
                  <a:pt x="1821195" y="259977"/>
                </a:lnTo>
                <a:lnTo>
                  <a:pt x="1783478" y="254589"/>
                </a:lnTo>
                <a:close/>
              </a:path>
              <a:path extrusionOk="0" h="1022350" w="6935470">
                <a:moveTo>
                  <a:pt x="1717473" y="245160"/>
                </a:moveTo>
                <a:lnTo>
                  <a:pt x="1716126" y="254589"/>
                </a:lnTo>
                <a:lnTo>
                  <a:pt x="1753843" y="259977"/>
                </a:lnTo>
                <a:lnTo>
                  <a:pt x="1755190" y="250548"/>
                </a:lnTo>
                <a:lnTo>
                  <a:pt x="1717473" y="245160"/>
                </a:lnTo>
                <a:close/>
              </a:path>
              <a:path extrusionOk="0" h="1022350" w="6935470">
                <a:moveTo>
                  <a:pt x="1651468" y="235731"/>
                </a:moveTo>
                <a:lnTo>
                  <a:pt x="1650121" y="245160"/>
                </a:lnTo>
                <a:lnTo>
                  <a:pt x="1687838" y="250548"/>
                </a:lnTo>
                <a:lnTo>
                  <a:pt x="1689185" y="241119"/>
                </a:lnTo>
                <a:lnTo>
                  <a:pt x="1651468" y="235731"/>
                </a:lnTo>
                <a:close/>
              </a:path>
              <a:path extrusionOk="0" h="1022350" w="6935470">
                <a:moveTo>
                  <a:pt x="1585464" y="226302"/>
                </a:moveTo>
                <a:lnTo>
                  <a:pt x="1584116" y="235731"/>
                </a:lnTo>
                <a:lnTo>
                  <a:pt x="1621834" y="241119"/>
                </a:lnTo>
                <a:lnTo>
                  <a:pt x="1623180" y="231689"/>
                </a:lnTo>
                <a:lnTo>
                  <a:pt x="1585464" y="226302"/>
                </a:lnTo>
                <a:close/>
              </a:path>
              <a:path extrusionOk="0" h="1022350" w="6935470">
                <a:moveTo>
                  <a:pt x="1519458" y="216872"/>
                </a:moveTo>
                <a:lnTo>
                  <a:pt x="1518112" y="226302"/>
                </a:lnTo>
                <a:lnTo>
                  <a:pt x="1555828" y="231689"/>
                </a:lnTo>
                <a:lnTo>
                  <a:pt x="1557176" y="222261"/>
                </a:lnTo>
                <a:lnTo>
                  <a:pt x="1519458" y="216872"/>
                </a:lnTo>
                <a:close/>
              </a:path>
              <a:path extrusionOk="0" h="1022350" w="6935470">
                <a:moveTo>
                  <a:pt x="1453454" y="207443"/>
                </a:moveTo>
                <a:lnTo>
                  <a:pt x="1452106" y="216872"/>
                </a:lnTo>
                <a:lnTo>
                  <a:pt x="1489824" y="222261"/>
                </a:lnTo>
                <a:lnTo>
                  <a:pt x="1491170" y="212831"/>
                </a:lnTo>
                <a:lnTo>
                  <a:pt x="1453454" y="207443"/>
                </a:lnTo>
                <a:close/>
              </a:path>
              <a:path extrusionOk="0" h="1022350" w="6935470">
                <a:moveTo>
                  <a:pt x="1387449" y="198014"/>
                </a:moveTo>
                <a:lnTo>
                  <a:pt x="1386102" y="207443"/>
                </a:lnTo>
                <a:lnTo>
                  <a:pt x="1423818" y="212831"/>
                </a:lnTo>
                <a:lnTo>
                  <a:pt x="1425166" y="203401"/>
                </a:lnTo>
                <a:lnTo>
                  <a:pt x="1387449" y="198014"/>
                </a:lnTo>
                <a:close/>
              </a:path>
              <a:path extrusionOk="0" h="1022350" w="6935470">
                <a:moveTo>
                  <a:pt x="1321443" y="188584"/>
                </a:moveTo>
                <a:lnTo>
                  <a:pt x="1320097" y="198014"/>
                </a:lnTo>
                <a:lnTo>
                  <a:pt x="1357814" y="203401"/>
                </a:lnTo>
                <a:lnTo>
                  <a:pt x="1359161" y="193973"/>
                </a:lnTo>
                <a:lnTo>
                  <a:pt x="1321443" y="188584"/>
                </a:lnTo>
                <a:close/>
              </a:path>
              <a:path extrusionOk="0" h="1022350" w="6935470">
                <a:moveTo>
                  <a:pt x="1255439" y="179155"/>
                </a:moveTo>
                <a:lnTo>
                  <a:pt x="1254091" y="188584"/>
                </a:lnTo>
                <a:lnTo>
                  <a:pt x="1291809" y="193973"/>
                </a:lnTo>
                <a:lnTo>
                  <a:pt x="1293155" y="184543"/>
                </a:lnTo>
                <a:lnTo>
                  <a:pt x="1255439" y="179155"/>
                </a:lnTo>
                <a:close/>
              </a:path>
              <a:path extrusionOk="0" h="1022350" w="6935470">
                <a:moveTo>
                  <a:pt x="1189435" y="169726"/>
                </a:moveTo>
                <a:lnTo>
                  <a:pt x="1188087" y="179156"/>
                </a:lnTo>
                <a:lnTo>
                  <a:pt x="1225804" y="184543"/>
                </a:lnTo>
                <a:lnTo>
                  <a:pt x="1227151" y="175115"/>
                </a:lnTo>
                <a:lnTo>
                  <a:pt x="1189435" y="169726"/>
                </a:lnTo>
                <a:close/>
              </a:path>
              <a:path extrusionOk="0" h="1022350" w="6935470">
                <a:moveTo>
                  <a:pt x="1123429" y="160296"/>
                </a:moveTo>
                <a:lnTo>
                  <a:pt x="1122083" y="169726"/>
                </a:lnTo>
                <a:lnTo>
                  <a:pt x="1159799" y="175115"/>
                </a:lnTo>
                <a:lnTo>
                  <a:pt x="1161147" y="165685"/>
                </a:lnTo>
                <a:lnTo>
                  <a:pt x="1123429" y="160296"/>
                </a:lnTo>
                <a:close/>
              </a:path>
              <a:path extrusionOk="0" h="1022350" w="6935470">
                <a:moveTo>
                  <a:pt x="1057424" y="150868"/>
                </a:moveTo>
                <a:lnTo>
                  <a:pt x="1056077" y="160296"/>
                </a:lnTo>
                <a:lnTo>
                  <a:pt x="1093795" y="165685"/>
                </a:lnTo>
                <a:lnTo>
                  <a:pt x="1095141" y="156255"/>
                </a:lnTo>
                <a:lnTo>
                  <a:pt x="1057424" y="150868"/>
                </a:lnTo>
                <a:close/>
              </a:path>
              <a:path extrusionOk="0" h="1022350" w="6935470">
                <a:moveTo>
                  <a:pt x="991420" y="141438"/>
                </a:moveTo>
                <a:lnTo>
                  <a:pt x="990072" y="150868"/>
                </a:lnTo>
                <a:lnTo>
                  <a:pt x="1027789" y="156255"/>
                </a:lnTo>
                <a:lnTo>
                  <a:pt x="1029136" y="146827"/>
                </a:lnTo>
                <a:lnTo>
                  <a:pt x="991420" y="141438"/>
                </a:lnTo>
                <a:close/>
              </a:path>
              <a:path extrusionOk="0" h="1022350" w="6935470">
                <a:moveTo>
                  <a:pt x="925414" y="132008"/>
                </a:moveTo>
                <a:lnTo>
                  <a:pt x="924068" y="141438"/>
                </a:lnTo>
                <a:lnTo>
                  <a:pt x="961784" y="146827"/>
                </a:lnTo>
                <a:lnTo>
                  <a:pt x="963132" y="137397"/>
                </a:lnTo>
                <a:lnTo>
                  <a:pt x="925414" y="132008"/>
                </a:lnTo>
                <a:close/>
              </a:path>
              <a:path extrusionOk="0" h="1022350" w="6935470">
                <a:moveTo>
                  <a:pt x="859410" y="122580"/>
                </a:moveTo>
                <a:lnTo>
                  <a:pt x="858062" y="132008"/>
                </a:lnTo>
                <a:lnTo>
                  <a:pt x="895780" y="137397"/>
                </a:lnTo>
                <a:lnTo>
                  <a:pt x="897126" y="127967"/>
                </a:lnTo>
                <a:lnTo>
                  <a:pt x="859410" y="122580"/>
                </a:lnTo>
                <a:close/>
              </a:path>
              <a:path extrusionOk="0" h="1022350" w="6935470">
                <a:moveTo>
                  <a:pt x="793405" y="113150"/>
                </a:moveTo>
                <a:lnTo>
                  <a:pt x="792058" y="122580"/>
                </a:lnTo>
                <a:lnTo>
                  <a:pt x="829774" y="127967"/>
                </a:lnTo>
                <a:lnTo>
                  <a:pt x="831122" y="118539"/>
                </a:lnTo>
                <a:lnTo>
                  <a:pt x="793405" y="113150"/>
                </a:lnTo>
                <a:close/>
              </a:path>
              <a:path extrusionOk="0" h="1022350" w="6935470">
                <a:moveTo>
                  <a:pt x="727400" y="103722"/>
                </a:moveTo>
                <a:lnTo>
                  <a:pt x="726053" y="113150"/>
                </a:lnTo>
                <a:lnTo>
                  <a:pt x="763770" y="118539"/>
                </a:lnTo>
                <a:lnTo>
                  <a:pt x="765117" y="109109"/>
                </a:lnTo>
                <a:lnTo>
                  <a:pt x="727400" y="103722"/>
                </a:lnTo>
                <a:close/>
              </a:path>
              <a:path extrusionOk="0" h="1022350" w="6935470">
                <a:moveTo>
                  <a:pt x="661395" y="94292"/>
                </a:moveTo>
                <a:lnTo>
                  <a:pt x="660048" y="103722"/>
                </a:lnTo>
                <a:lnTo>
                  <a:pt x="697765" y="109109"/>
                </a:lnTo>
                <a:lnTo>
                  <a:pt x="699112" y="99681"/>
                </a:lnTo>
                <a:lnTo>
                  <a:pt x="661395" y="94292"/>
                </a:lnTo>
                <a:close/>
              </a:path>
              <a:path extrusionOk="0" h="1022350" w="6935470">
                <a:moveTo>
                  <a:pt x="595391" y="84862"/>
                </a:moveTo>
                <a:lnTo>
                  <a:pt x="594043" y="94292"/>
                </a:lnTo>
                <a:lnTo>
                  <a:pt x="631760" y="99681"/>
                </a:lnTo>
                <a:lnTo>
                  <a:pt x="633107" y="90251"/>
                </a:lnTo>
                <a:lnTo>
                  <a:pt x="595391" y="84862"/>
                </a:lnTo>
                <a:close/>
              </a:path>
              <a:path extrusionOk="0" h="1022350" w="6935470">
                <a:moveTo>
                  <a:pt x="529385" y="75434"/>
                </a:moveTo>
                <a:lnTo>
                  <a:pt x="528039" y="84862"/>
                </a:lnTo>
                <a:lnTo>
                  <a:pt x="565755" y="90251"/>
                </a:lnTo>
                <a:lnTo>
                  <a:pt x="567103" y="80821"/>
                </a:lnTo>
                <a:lnTo>
                  <a:pt x="529385" y="75434"/>
                </a:lnTo>
                <a:close/>
              </a:path>
              <a:path extrusionOk="0" h="1022350" w="6935470">
                <a:moveTo>
                  <a:pt x="463381" y="66004"/>
                </a:moveTo>
                <a:lnTo>
                  <a:pt x="462033" y="75434"/>
                </a:lnTo>
                <a:lnTo>
                  <a:pt x="499751" y="80821"/>
                </a:lnTo>
                <a:lnTo>
                  <a:pt x="501097" y="71393"/>
                </a:lnTo>
                <a:lnTo>
                  <a:pt x="463381" y="66004"/>
                </a:lnTo>
                <a:close/>
              </a:path>
              <a:path extrusionOk="0" h="1022350" w="6935470">
                <a:moveTo>
                  <a:pt x="397375" y="56574"/>
                </a:moveTo>
                <a:lnTo>
                  <a:pt x="396029" y="66004"/>
                </a:lnTo>
                <a:lnTo>
                  <a:pt x="433745" y="71393"/>
                </a:lnTo>
                <a:lnTo>
                  <a:pt x="435093" y="61963"/>
                </a:lnTo>
                <a:lnTo>
                  <a:pt x="397375" y="56574"/>
                </a:lnTo>
                <a:close/>
              </a:path>
              <a:path extrusionOk="0" h="1022350" w="6935470">
                <a:moveTo>
                  <a:pt x="331370" y="47146"/>
                </a:moveTo>
                <a:lnTo>
                  <a:pt x="330023" y="56574"/>
                </a:lnTo>
                <a:lnTo>
                  <a:pt x="367741" y="61963"/>
                </a:lnTo>
                <a:lnTo>
                  <a:pt x="369088" y="52533"/>
                </a:lnTo>
                <a:lnTo>
                  <a:pt x="331370" y="47146"/>
                </a:lnTo>
                <a:close/>
              </a:path>
              <a:path extrusionOk="0" h="1022350" w="6935470">
                <a:moveTo>
                  <a:pt x="265366" y="37716"/>
                </a:moveTo>
                <a:lnTo>
                  <a:pt x="264019" y="47146"/>
                </a:lnTo>
                <a:lnTo>
                  <a:pt x="301736" y="52533"/>
                </a:lnTo>
                <a:lnTo>
                  <a:pt x="303082" y="43105"/>
                </a:lnTo>
                <a:lnTo>
                  <a:pt x="265366" y="37716"/>
                </a:lnTo>
                <a:close/>
              </a:path>
              <a:path extrusionOk="0" h="1022350" w="6935470">
                <a:moveTo>
                  <a:pt x="199360" y="28287"/>
                </a:moveTo>
                <a:lnTo>
                  <a:pt x="198014" y="37716"/>
                </a:lnTo>
                <a:lnTo>
                  <a:pt x="235731" y="43105"/>
                </a:lnTo>
                <a:lnTo>
                  <a:pt x="237078" y="33675"/>
                </a:lnTo>
                <a:lnTo>
                  <a:pt x="199360" y="28287"/>
                </a:lnTo>
                <a:close/>
              </a:path>
              <a:path extrusionOk="0" h="1022350" w="6935470">
                <a:moveTo>
                  <a:pt x="133356" y="18858"/>
                </a:moveTo>
                <a:lnTo>
                  <a:pt x="132008" y="28287"/>
                </a:lnTo>
                <a:lnTo>
                  <a:pt x="169726" y="33675"/>
                </a:lnTo>
                <a:lnTo>
                  <a:pt x="171074" y="24246"/>
                </a:lnTo>
                <a:lnTo>
                  <a:pt x="133356" y="18858"/>
                </a:lnTo>
                <a:close/>
              </a:path>
              <a:path extrusionOk="0" h="1022350" w="6935470">
                <a:moveTo>
                  <a:pt x="67351" y="9428"/>
                </a:moveTo>
                <a:lnTo>
                  <a:pt x="66004" y="18858"/>
                </a:lnTo>
                <a:lnTo>
                  <a:pt x="103722" y="24246"/>
                </a:lnTo>
                <a:lnTo>
                  <a:pt x="105068" y="14817"/>
                </a:lnTo>
                <a:lnTo>
                  <a:pt x="67351" y="9428"/>
                </a:lnTo>
                <a:close/>
              </a:path>
              <a:path extrusionOk="0" h="1022350" w="6935470">
                <a:moveTo>
                  <a:pt x="1346" y="0"/>
                </a:moveTo>
                <a:lnTo>
                  <a:pt x="0" y="9428"/>
                </a:lnTo>
                <a:lnTo>
                  <a:pt x="37716" y="14817"/>
                </a:lnTo>
                <a:lnTo>
                  <a:pt x="39063" y="5387"/>
                </a:lnTo>
                <a:lnTo>
                  <a:pt x="134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8"/>
          <p:cNvGrpSpPr/>
          <p:nvPr/>
        </p:nvGrpSpPr>
        <p:grpSpPr>
          <a:xfrm>
            <a:off x="1296008" y="543697"/>
            <a:ext cx="4629150" cy="400050"/>
            <a:chOff x="1828800" y="3048000"/>
            <a:chExt cx="6172200" cy="533400"/>
          </a:xfrm>
        </p:grpSpPr>
        <p:sp>
          <p:nvSpPr>
            <p:cNvPr id="185" name="Google Shape;185;p28"/>
            <p:cNvSpPr/>
            <p:nvPr/>
          </p:nvSpPr>
          <p:spPr>
            <a:xfrm>
              <a:off x="1828800" y="3048000"/>
              <a:ext cx="6172200" cy="533400"/>
            </a:xfrm>
            <a:custGeom>
              <a:rect b="b" l="l" r="r" t="t"/>
              <a:pathLst>
                <a:path extrusionOk="0" h="533400" w="6172200">
                  <a:moveTo>
                    <a:pt x="61722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6172200" y="533400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00837" y="33480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7" name="Google Shape;1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436" y="768725"/>
            <a:ext cx="64294" cy="6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8636" y="768725"/>
            <a:ext cx="64294" cy="64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4386" y="768725"/>
            <a:ext cx="64294" cy="642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8"/>
          <p:cNvGraphicFramePr/>
          <p:nvPr/>
        </p:nvGraphicFramePr>
        <p:xfrm>
          <a:off x="206586" y="540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{0B6D526A-EB5A-4BE4-BA63-D9829F825E7D}</a:tableStyleId>
              </a:tblPr>
              <a:tblGrid>
                <a:gridCol w="1085850"/>
                <a:gridCol w="400050"/>
                <a:gridCol w="457200"/>
                <a:gridCol w="457200"/>
                <a:gridCol w="3314700"/>
                <a:gridCol w="628650"/>
              </a:tblGrid>
              <a:tr h="400050">
                <a:tc>
                  <a:txBody>
                    <a:bodyPr/>
                    <a:lstStyle/>
                    <a:p>
                      <a:pPr indent="0" lvl="0" marL="1600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Header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4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100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48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7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101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48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3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88</a:t>
                      </a:r>
                      <a:endParaRPr sz="12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3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Stream of pixels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03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EOF</a:t>
                      </a:r>
                      <a:endParaRPr sz="21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28"/>
          <p:cNvSpPr txBox="1"/>
          <p:nvPr/>
        </p:nvSpPr>
        <p:spPr>
          <a:xfrm>
            <a:off x="0" y="0"/>
            <a:ext cx="1256767" cy="28466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File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0" y="255462"/>
            <a:ext cx="69291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file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representation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visual scene stored on a computer.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1" y="2459987"/>
            <a:ext cx="61125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Header: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header contains metadata about the image.</a:t>
            </a:r>
            <a:endParaRPr/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information is necessary to correctly interpret the pixel data that follows.  </a:t>
            </a:r>
            <a:endParaRPr/>
          </a:p>
        </p:txBody>
      </p:sp>
      <p:graphicFrame>
        <p:nvGraphicFramePr>
          <p:cNvPr id="194" name="Google Shape;194;p28"/>
          <p:cNvGraphicFramePr/>
          <p:nvPr/>
        </p:nvGraphicFramePr>
        <p:xfrm>
          <a:off x="569753" y="304320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BBF7A3"/>
                    </a:gs>
                    <a:gs pos="35000">
                      <a:srgbClr val="CDF8BE"/>
                    </a:gs>
                    <a:gs pos="100000">
                      <a:srgbClr val="ECFDE5"/>
                    </a:gs>
                  </a:gsLst>
                  <a:lin ang="16200000" scaled="0"/>
                </a:gradFill>
                <a:tableStyleId>{2BB3CF98-B47B-416F-AA16-001E98970F66}</a:tableStyleId>
              </a:tblPr>
              <a:tblGrid>
                <a:gridCol w="799850"/>
                <a:gridCol w="3202400"/>
              </a:tblGrid>
              <a:tr h="25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/>
                        <a:t>Field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/>
                        <a:t>Meaning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width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Number of pixels along the x-axis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height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Number of pixels along the y-axis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# Comp.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Number of color components (e.g., 3 for RGB)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bytes/pixel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Number of bytes used per pixel (usually 1byte/pixel)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5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Other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/>
                        <a:t>Compression type, color space, etc.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95" name="Google Shape;195;p28"/>
          <p:cNvSpPr txBox="1"/>
          <p:nvPr/>
        </p:nvSpPr>
        <p:spPr>
          <a:xfrm>
            <a:off x="5242930" y="3050526"/>
            <a:ext cx="345874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 of Pixels: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header, the actual image data (pixels) is stored.</a:t>
            </a:r>
            <a:endParaRPr/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typically a long stream of bytes or values that represent pixel colors in a specific order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EOF (End of File):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marks the end of the image data.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tells the system or program that no more pixel data follows.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29"/>
          <p:cNvGraphicFramePr/>
          <p:nvPr/>
        </p:nvGraphicFramePr>
        <p:xfrm>
          <a:off x="196425" y="670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{725F9118-02D6-4DF3-9651-4CEA919571AE}</a:tableStyleId>
              </a:tblPr>
              <a:tblGrid>
                <a:gridCol w="562350"/>
                <a:gridCol w="1916675"/>
                <a:gridCol w="1483350"/>
                <a:gridCol w="2330025"/>
                <a:gridCol w="2594175"/>
              </a:tblGrid>
              <a:tr h="121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Format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Form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Compression Type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Characteristics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Typical Use Case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BMP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Bitmap Image File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Uncompressed / RLE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format, large file size, no compression artifacts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Teaching, raw pixel analysis, Windows OS compatibility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32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JPEG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Joint Photographic Experts Group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Lossy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compression, quality loss, adjustable compression ratio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Photography, datasets like ImageNet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PNG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Portable Network Graphics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Lossless (DEFLATE)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transparency (alpha channel), no quality loss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Segmentation masks, medical imaging, web graphics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GIF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Graphics Interchange Format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Lossless (LZW)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256 colors, supports basic animations and transparency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animations, web graphics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TIFF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Tagged Image File Format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Lossy/Lossless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flexible, supports multiple pages/layers, metadata-rich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Medical imaging, remote sensing, document scanning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7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PGM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Portable GrayMap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 (raw/ASCII)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Grayscale image, simple structure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processing, research, OpenCV/Matlab input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Portable PixMap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 (raw/ASCII)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 image format, easy to parse, no compression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Teaching, research, synthetic data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PBM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Portable BitMap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 (raw/ASCII)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(black and white) images only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Old-school formats, quick binary image prototyping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Portable aNyMap</a:t>
                      </a: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(PBM/PGM/PPM umbrella)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Generic wrapper format combining PBM, PGM, and PPM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NetPBM tools, research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7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WEBP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 Picture Format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Lossy/Lossless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Smaller than PNG/JPEG, supports transparency and animation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Modern web use, ML web apps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HEIF/HEIC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Efficiency Image Format / Codec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Lossy/Lossless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Superior compression to JPEG, used in iOS devices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iPhone photos, modern mobile apps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7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DICOM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Digital Imaging and Communications in Medicine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Lossless/Lossy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Contains both image data and metadata (patient info, scan type, etc.)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Medical imaging (X-rays, MRI, CT scans)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  <a:tr h="22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RAW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Raw Image Format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 / Proprietary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 sensor data from digital cameras, varies by manufacturer</a:t>
                      </a:r>
                      <a:endParaRPr/>
                    </a:p>
                  </a:txBody>
                  <a:tcPr marT="10750" marB="10750" marR="21500" marL="21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Professional photography, scientific image capture</a:t>
                      </a:r>
                      <a:endParaRPr/>
                    </a:p>
                  </a:txBody>
                  <a:tcPr marT="10750" marB="10750" marR="21500" marL="21500" anchor="ctr"/>
                </a:tc>
              </a:tr>
            </a:tbl>
          </a:graphicData>
        </a:graphic>
      </p:graphicFrame>
      <p:sp>
        <p:nvSpPr>
          <p:cNvPr id="201" name="Google Shape;201;p29"/>
          <p:cNvSpPr txBox="1"/>
          <p:nvPr/>
        </p:nvSpPr>
        <p:spPr>
          <a:xfrm>
            <a:off x="0" y="131506"/>
            <a:ext cx="2587413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Image File Formats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5734414" y="202989"/>
            <a:ext cx="3156373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formation in optical camera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3340749" y="2408054"/>
            <a:ext cx="1994747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 of projection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93644" y="2858757"/>
            <a:ext cx="1994747" cy="284663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 projection</a:t>
            </a:r>
            <a:endParaRPr/>
          </a:p>
        </p:txBody>
      </p:sp>
      <p:sp>
        <p:nvSpPr>
          <p:cNvPr id="209" name="Google Shape;209;p30"/>
          <p:cNvSpPr txBox="1"/>
          <p:nvPr/>
        </p:nvSpPr>
        <p:spPr>
          <a:xfrm>
            <a:off x="3569861" y="2858757"/>
            <a:ext cx="1765635" cy="284663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projection</a:t>
            </a:r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6844059" y="2845712"/>
            <a:ext cx="2070829" cy="284663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imaging principle</a:t>
            </a:r>
            <a:endParaRPr/>
          </a:p>
        </p:txBody>
      </p:sp>
      <p:sp>
        <p:nvSpPr>
          <p:cNvPr id="211" name="Google Shape;211;p30"/>
          <p:cNvSpPr txBox="1"/>
          <p:nvPr/>
        </p:nvSpPr>
        <p:spPr>
          <a:xfrm>
            <a:off x="93644" y="674430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image is an impression of the physical world — a spatial distribution of a measurable quantity, encoding the geometry and material properties of objects.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62477" y="180263"/>
            <a:ext cx="3107384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Geometric Definition of an Image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3756" y="590052"/>
            <a:ext cx="32766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248298"/>
            <a:ext cx="3098800" cy="17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8950" y="3268000"/>
            <a:ext cx="30861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7956" y="3248298"/>
            <a:ext cx="2692400" cy="1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/>
        </p:nvSpPr>
        <p:spPr>
          <a:xfrm>
            <a:off x="0" y="-3369"/>
            <a:ext cx="3511869" cy="3462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concepts and operations</a:t>
            </a:r>
            <a:endParaRPr/>
          </a:p>
        </p:txBody>
      </p:sp>
      <p:sp>
        <p:nvSpPr>
          <p:cNvPr id="222" name="Google Shape;222;p31"/>
          <p:cNvSpPr txBox="1"/>
          <p:nvPr/>
        </p:nvSpPr>
        <p:spPr>
          <a:xfrm>
            <a:off x="0" y="376938"/>
            <a:ext cx="1681167" cy="29456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 histogram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-51497" y="705594"/>
            <a:ext cx="549994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histogram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graphical representation of the distribution of pixel intensities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(brightness or color values) in an image.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shows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pixels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image have a certain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intensity value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0" y="1622799"/>
            <a:ext cx="1681167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Binarization</a:t>
            </a: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-1352" y="1967468"/>
            <a:ext cx="5046135" cy="1585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Binarization is the process of converting a grayscale image into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image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pixel is set to either 0 or 255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Works: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Foreground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part we care about (e.g., text, object, shape).</a:t>
            </a:r>
            <a:b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Represented by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 pixels (0)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surroundings or area we want to ignore.</a:t>
            </a:r>
            <a:b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Represented by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bright pixels (255)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0" y="3935230"/>
            <a:ext cx="4700693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image to grayscale.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a threshold value (e.g., 127).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rule: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 value &lt; threshold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0 (black) →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foreground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 value ≥ threshold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255 (white) →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/>
          </a:p>
        </p:txBody>
      </p:sp>
      <p:sp>
        <p:nvSpPr>
          <p:cNvPr id="227" name="Google Shape;227;p31"/>
          <p:cNvSpPr txBox="1"/>
          <p:nvPr/>
        </p:nvSpPr>
        <p:spPr>
          <a:xfrm>
            <a:off x="0" y="3650567"/>
            <a:ext cx="4431801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Thresholding (Binarization with some threshold)</a:t>
            </a:r>
            <a:endParaRPr/>
          </a:p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133" y="216951"/>
            <a:ext cx="35052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5616" y="2374281"/>
            <a:ext cx="3263900" cy="2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/>
        </p:nvSpPr>
        <p:spPr>
          <a:xfrm>
            <a:off x="3289150" y="12505"/>
            <a:ext cx="248007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Automating Thresholding</a:t>
            </a:r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47" y="684402"/>
            <a:ext cx="4242406" cy="25018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/>
          <p:nvPr/>
        </p:nvSpPr>
        <p:spPr>
          <a:xfrm>
            <a:off x="0" y="399739"/>
            <a:ext cx="5102023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Classification of foreground and background pixels</a:t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5952949" y="401868"/>
            <a:ext cx="2340124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Expectation-Maximization</a:t>
            </a:r>
            <a:endParaRPr/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311" y="3545763"/>
            <a:ext cx="2843649" cy="15977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32"/>
          <p:cNvGrpSpPr/>
          <p:nvPr/>
        </p:nvGrpSpPr>
        <p:grpSpPr>
          <a:xfrm>
            <a:off x="5555458" y="684402"/>
            <a:ext cx="3208005" cy="4358272"/>
            <a:chOff x="5555458" y="684402"/>
            <a:chExt cx="3208005" cy="4358272"/>
          </a:xfrm>
        </p:grpSpPr>
        <p:pic>
          <p:nvPicPr>
            <p:cNvPr id="240" name="Google Shape;240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6366" y="736740"/>
              <a:ext cx="3057071" cy="19478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26342" y="2734817"/>
              <a:ext cx="3137121" cy="23078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32"/>
            <p:cNvSpPr txBox="1"/>
            <p:nvPr/>
          </p:nvSpPr>
          <p:spPr>
            <a:xfrm>
              <a:off x="5666366" y="684402"/>
              <a:ext cx="1472727" cy="338371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2"/>
            <p:cNvSpPr txBox="1"/>
            <p:nvPr/>
          </p:nvSpPr>
          <p:spPr>
            <a:xfrm>
              <a:off x="5555458" y="2703220"/>
              <a:ext cx="1868116" cy="404448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32"/>
          <p:cNvSpPr txBox="1"/>
          <p:nvPr/>
        </p:nvSpPr>
        <p:spPr>
          <a:xfrm>
            <a:off x="269311" y="3291503"/>
            <a:ext cx="1880412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Otsu Thresholding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/>
        </p:nvSpPr>
        <p:spPr>
          <a:xfrm>
            <a:off x="49455" y="0"/>
            <a:ext cx="3547186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Contrast Enhancement: Pixel mapping</a:t>
            </a:r>
            <a:endParaRPr/>
          </a:p>
        </p:txBody>
      </p:sp>
      <p:pic>
        <p:nvPicPr>
          <p:cNvPr id="250" name="Google Shape;250;p33"/>
          <p:cNvPicPr preferRelativeResize="0"/>
          <p:nvPr/>
        </p:nvPicPr>
        <p:blipFill rotWithShape="1">
          <a:blip r:embed="rId3">
            <a:alphaModFix/>
          </a:blip>
          <a:srcRect b="3124" l="2792" r="0" t="0"/>
          <a:stretch/>
        </p:blipFill>
        <p:spPr>
          <a:xfrm>
            <a:off x="4754319" y="152670"/>
            <a:ext cx="3825128" cy="198273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 txBox="1"/>
          <p:nvPr/>
        </p:nvSpPr>
        <p:spPr>
          <a:xfrm>
            <a:off x="49456" y="284663"/>
            <a:ext cx="408227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 mapping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converting each original pixel intensity to a new intensity to improve contrast — done through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function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is derived from the image histogram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78914" y="2729123"/>
            <a:ext cx="482734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equalization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contrast enhancement technique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image processing that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redistributes the intensity values of pixels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that they spread more uniformly across the available range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182880" y="2298517"/>
            <a:ext cx="2309707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Histogram Equalization</a:t>
            </a:r>
            <a:endParaRPr/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5420" y="2200787"/>
            <a:ext cx="3695700" cy="28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/>
        </p:nvSpPr>
        <p:spPr>
          <a:xfrm>
            <a:off x="1" y="16087"/>
            <a:ext cx="1375646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</a:t>
            </a:r>
            <a:endParaRPr/>
          </a:p>
        </p:txBody>
      </p:sp>
      <p:sp>
        <p:nvSpPr>
          <p:cNvPr id="260" name="Google Shape;260;p34"/>
          <p:cNvSpPr txBox="1"/>
          <p:nvPr/>
        </p:nvSpPr>
        <p:spPr>
          <a:xfrm>
            <a:off x="72828" y="349250"/>
            <a:ext cx="89012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process of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partitioning an image into non-overlapping, meaningful sets of pixels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correspond to distinct structures or regions.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key idea is to group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pixels with similar properties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that each group corresponds to a meaningful structure in the image (e.g., an object, background, edge, etc.).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122289" y="1351857"/>
            <a:ext cx="645585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Binarization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simplest form of image segmentation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an image is divided into just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regions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Foreground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text, object) → usually represented by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(black)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white space) → usually represented by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255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(white)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simplify the image and highlight important structures like text or objects.</a:t>
            </a:r>
            <a:endParaRPr/>
          </a:p>
        </p:txBody>
      </p:sp>
      <p:sp>
        <p:nvSpPr>
          <p:cNvPr id="262" name="Google Shape;262;p34"/>
          <p:cNvSpPr txBox="1"/>
          <p:nvPr/>
        </p:nvSpPr>
        <p:spPr>
          <a:xfrm>
            <a:off x="72828" y="2729038"/>
            <a:ext cx="2209126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Multilevel thresholding</a:t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72828" y="3080528"/>
            <a:ext cx="478239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Multilevel thresholding extends binarization to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an image into multiple regions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not just two.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one threshold T, it uses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thresholds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T₁, T₂, …).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Pixels are assigned different labels or gray levels based on which interval their intensity falls into.</a:t>
            </a:r>
            <a:endParaRPr/>
          </a:p>
        </p:txBody>
      </p:sp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400" y="1458449"/>
            <a:ext cx="26416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013701"/>
            <a:ext cx="4114800" cy="195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35"/>
          <p:cNvGraphicFramePr/>
          <p:nvPr/>
        </p:nvGraphicFramePr>
        <p:xfrm>
          <a:off x="5393757" y="300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{0B6D526A-EB5A-4BE4-BA63-D9829F825E7D}</a:tableStyleId>
              </a:tblPr>
              <a:tblGrid>
                <a:gridCol w="438150"/>
                <a:gridCol w="438150"/>
                <a:gridCol w="438150"/>
              </a:tblGrid>
              <a:tr h="36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810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1" name="Google Shape;271;p35"/>
          <p:cNvGraphicFramePr/>
          <p:nvPr/>
        </p:nvGraphicFramePr>
        <p:xfrm>
          <a:off x="7508307" y="300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{0B6D526A-EB5A-4BE4-BA63-D9829F825E7D}</a:tableStyleId>
              </a:tblPr>
              <a:tblGrid>
                <a:gridCol w="414350"/>
                <a:gridCol w="414350"/>
                <a:gridCol w="414350"/>
              </a:tblGrid>
              <a:tr h="36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9525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000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0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0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000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0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800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35"/>
          <p:cNvSpPr txBox="1"/>
          <p:nvPr/>
        </p:nvSpPr>
        <p:spPr>
          <a:xfrm>
            <a:off x="5486145" y="1543519"/>
            <a:ext cx="1416367" cy="332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4-neighbors</a:t>
            </a:r>
            <a:endParaRPr b="0" i="0" sz="2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7578139" y="1555520"/>
            <a:ext cx="1416367" cy="332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8-neighbors</a:t>
            </a:r>
            <a:endParaRPr b="0" i="0" sz="2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0" y="16087"/>
            <a:ext cx="192590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Labeling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57565" y="404602"/>
            <a:ext cx="484712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neighborhood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pixel refers to the set of surrounding pixels used to perform operations like filtering, segmentation, edge detection, or connectivity analysis.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4651" y="2002996"/>
            <a:ext cx="1841529" cy="1041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7208" y="2002996"/>
            <a:ext cx="1763829" cy="83307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/>
        </p:nvSpPr>
        <p:spPr>
          <a:xfrm>
            <a:off x="42963" y="1396602"/>
            <a:ext cx="516168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labeling is the process of identifying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regions (components)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image where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neighboring pixels share the same label or intensity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same value like 20 or 50).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 the image like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 is a node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are formed between neighboring pixels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have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same intensity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0001" y="2950768"/>
            <a:ext cx="2527300" cy="2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699" y="3420491"/>
            <a:ext cx="3695700" cy="13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6"/>
          <p:cNvPicPr preferRelativeResize="0"/>
          <p:nvPr/>
        </p:nvPicPr>
        <p:blipFill rotWithShape="1">
          <a:blip r:embed="rId3">
            <a:alphaModFix/>
          </a:blip>
          <a:srcRect b="1940" l="0" r="0" t="0"/>
          <a:stretch/>
        </p:blipFill>
        <p:spPr>
          <a:xfrm>
            <a:off x="53521" y="1185030"/>
            <a:ext cx="3399183" cy="197226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 txBox="1"/>
          <p:nvPr/>
        </p:nvSpPr>
        <p:spPr>
          <a:xfrm>
            <a:off x="0" y="16087"/>
            <a:ext cx="192590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Operations</a:t>
            </a:r>
            <a:endParaRPr/>
          </a:p>
        </p:txBody>
      </p:sp>
      <p:pic>
        <p:nvPicPr>
          <p:cNvPr id="287" name="Google Shape;2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440" y="1496307"/>
            <a:ext cx="3162734" cy="168457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6"/>
          <p:cNvSpPr txBox="1"/>
          <p:nvPr/>
        </p:nvSpPr>
        <p:spPr>
          <a:xfrm>
            <a:off x="3725083" y="1099015"/>
            <a:ext cx="2274985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 with a mask</a:t>
            </a:r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53521" y="323467"/>
            <a:ext cx="903695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image processing,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in intensity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essentially,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To find edges, we use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derivative masks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(filters) to compute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of change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pixel intensity.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apply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operation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the image and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highlight vertical or horizontal edges.</a:t>
            </a: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621129" y="3157292"/>
            <a:ext cx="1714568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Prewitt Operator </a:t>
            </a:r>
            <a:endParaRPr/>
          </a:p>
        </p:txBody>
      </p:sp>
      <p:sp>
        <p:nvSpPr>
          <p:cNvPr id="291" name="Google Shape;291;p36"/>
          <p:cNvSpPr txBox="1"/>
          <p:nvPr/>
        </p:nvSpPr>
        <p:spPr>
          <a:xfrm>
            <a:off x="5585613" y="3157292"/>
            <a:ext cx="1714568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Sobel Operator </a:t>
            </a:r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59259" y="3467646"/>
            <a:ext cx="501754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averaging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neighboring gradients (equal weight).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Prewitt kernels: One for horizontal, one for vertical edge detection.</a:t>
            </a:r>
            <a:endParaRPr/>
          </a:p>
        </p:txBody>
      </p:sp>
      <p:pic>
        <p:nvPicPr>
          <p:cNvPr id="293" name="Google Shape;29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956" y="3879529"/>
            <a:ext cx="934346" cy="124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1131" y="3895614"/>
            <a:ext cx="934346" cy="124788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6"/>
          <p:cNvSpPr txBox="1"/>
          <p:nvPr/>
        </p:nvSpPr>
        <p:spPr>
          <a:xfrm>
            <a:off x="2335408" y="4220080"/>
            <a:ext cx="23915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rows/columns in each direction have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weight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(i.e., no emphasis on center).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maximum gradient here is 6</a:t>
            </a:r>
            <a:endParaRPr/>
          </a:p>
        </p:txBody>
      </p:sp>
      <p:sp>
        <p:nvSpPr>
          <p:cNvPr id="296" name="Google Shape;296;p36"/>
          <p:cNvSpPr txBox="1"/>
          <p:nvPr/>
        </p:nvSpPr>
        <p:spPr>
          <a:xfrm>
            <a:off x="4449565" y="3417864"/>
            <a:ext cx="454534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averaging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neighboring gradient values.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Sobel kernels: One for detecting vertical edges, the other for horizontal.</a:t>
            </a:r>
            <a:endParaRPr/>
          </a:p>
        </p:txBody>
      </p:sp>
      <p:pic>
        <p:nvPicPr>
          <p:cNvPr id="297" name="Google Shape;29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9784" y="3835534"/>
            <a:ext cx="934346" cy="128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23828" y="3846518"/>
            <a:ext cx="934346" cy="12863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6"/>
          <p:cNvSpPr txBox="1"/>
          <p:nvPr/>
        </p:nvSpPr>
        <p:spPr>
          <a:xfrm>
            <a:off x="6440558" y="3846518"/>
            <a:ext cx="2703442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Sobel is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robust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noise because it gives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importance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central pixels (with higher weight: 2x).</a:t>
            </a:r>
            <a:endParaRPr/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label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“8 times of the gradient”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refers to the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value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kernel can produce when applied to an image patch </a:t>
            </a:r>
            <a:endParaRPr/>
          </a:p>
        </p:txBody>
      </p:sp>
      <p:pic>
        <p:nvPicPr>
          <p:cNvPr id="300" name="Google Shape;300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94187" y="1268946"/>
            <a:ext cx="228600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/>
        </p:nvSpPr>
        <p:spPr>
          <a:xfrm>
            <a:off x="0" y="16087"/>
            <a:ext cx="2892287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on computation with mask</a:t>
            </a: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3150"/>
            <a:ext cx="3904566" cy="188181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6182138" y="22454"/>
            <a:ext cx="1570384" cy="284663"/>
          </a:xfrm>
          <a:prstGeom prst="rect">
            <a:avLst/>
          </a:prstGeom>
          <a:solidFill>
            <a:srgbClr val="F5133A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Filtering</a:t>
            </a:r>
            <a:endParaRPr/>
          </a:p>
        </p:txBody>
      </p:sp>
      <p:graphicFrame>
        <p:nvGraphicFramePr>
          <p:cNvPr id="308" name="Google Shape;308;p37"/>
          <p:cNvGraphicFramePr/>
          <p:nvPr/>
        </p:nvGraphicFramePr>
        <p:xfrm>
          <a:off x="0" y="3307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{2BB3CF98-B47B-416F-AA16-001E98970F66}</a:tableStyleId>
              </a:tblPr>
              <a:tblGrid>
                <a:gridCol w="1833875"/>
                <a:gridCol w="1460550"/>
                <a:gridCol w="1460550"/>
                <a:gridCol w="1460550"/>
                <a:gridCol w="1460550"/>
              </a:tblGrid>
              <a:tr h="41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Preserves Edges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Removes Outliers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Blurring Effect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Weighted Average Filter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General noise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Gaussian Smoothing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Gaussian (random) noise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Moderate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2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 Filtering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Salt-and-pepper noise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09" name="Google Shape;309;p37"/>
          <p:cNvSpPr txBox="1"/>
          <p:nvPr/>
        </p:nvSpPr>
        <p:spPr>
          <a:xfrm>
            <a:off x="5039139" y="299261"/>
            <a:ext cx="40154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 aims to reduce noise in an image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1895" y="1121278"/>
            <a:ext cx="2276922" cy="121369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7"/>
          <p:cNvSpPr txBox="1"/>
          <p:nvPr/>
        </p:nvSpPr>
        <p:spPr>
          <a:xfrm>
            <a:off x="3826556" y="663162"/>
            <a:ext cx="3077818" cy="284663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Weighted Average Filtering</a:t>
            </a:r>
            <a:endParaRPr/>
          </a:p>
        </p:txBody>
      </p:sp>
      <p:sp>
        <p:nvSpPr>
          <p:cNvPr id="312" name="Google Shape;312;p37"/>
          <p:cNvSpPr txBox="1"/>
          <p:nvPr/>
        </p:nvSpPr>
        <p:spPr>
          <a:xfrm>
            <a:off x="6967330" y="663161"/>
            <a:ext cx="2171487" cy="284663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Smoothing</a:t>
            </a:r>
            <a:endParaRPr/>
          </a:p>
        </p:txBody>
      </p:sp>
      <p:sp>
        <p:nvSpPr>
          <p:cNvPr id="313" name="Google Shape;313;p37"/>
          <p:cNvSpPr txBox="1"/>
          <p:nvPr/>
        </p:nvSpPr>
        <p:spPr>
          <a:xfrm>
            <a:off x="6276991" y="2425076"/>
            <a:ext cx="1723365" cy="284663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 Filtering</a:t>
            </a:r>
            <a:endParaRPr/>
          </a:p>
        </p:txBody>
      </p:sp>
      <p:pic>
        <p:nvPicPr>
          <p:cNvPr id="314" name="Google Shape;31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9436" y="1019700"/>
            <a:ext cx="25400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2709739"/>
            <a:ext cx="2628900" cy="13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/>
        </p:nvSpPr>
        <p:spPr>
          <a:xfrm>
            <a:off x="1" y="-3369"/>
            <a:ext cx="2878414" cy="40777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Transforms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8"/>
          <p:cNvSpPr txBox="1"/>
          <p:nvPr/>
        </p:nvSpPr>
        <p:spPr>
          <a:xfrm>
            <a:off x="0" y="404405"/>
            <a:ext cx="876631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transform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operation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converts an image from one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another — typically from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(pixels) to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another domain for easier analysis or processing.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complex operations (e.g., filtering, compression).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meaningful features (edges, frequencies).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some operations faster (like convolution becomes multiplication in frequency domain).</a:t>
            </a:r>
            <a:endParaRPr/>
          </a:p>
        </p:txBody>
      </p:sp>
      <p:sp>
        <p:nvSpPr>
          <p:cNvPr id="322" name="Google Shape;322;p38"/>
          <p:cNvSpPr txBox="1"/>
          <p:nvPr/>
        </p:nvSpPr>
        <p:spPr>
          <a:xfrm>
            <a:off x="5764694" y="1789400"/>
            <a:ext cx="2236305" cy="284663"/>
          </a:xfrm>
          <a:prstGeom prst="rect">
            <a:avLst/>
          </a:prstGeom>
          <a:solidFill>
            <a:srgbClr val="F5133A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Orthogonal Expansion</a:t>
            </a:r>
            <a:endParaRPr/>
          </a:p>
        </p:txBody>
      </p:sp>
      <p:sp>
        <p:nvSpPr>
          <p:cNvPr id="323" name="Google Shape;323;p38"/>
          <p:cNvSpPr txBox="1"/>
          <p:nvPr/>
        </p:nvSpPr>
        <p:spPr>
          <a:xfrm>
            <a:off x="4926046" y="2063882"/>
            <a:ext cx="41086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Orthogonal expansion expresses a signal/image as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orthogonal basis functions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“Orthogonal” means the basis functions are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(like sine and cosine in Fourier).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7353298" y="3875787"/>
            <a:ext cx="183045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like writing any vector as a sum of x, y, and z components — just in image terms.</a:t>
            </a:r>
            <a:endParaRPr/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87" y="1753901"/>
            <a:ext cx="42926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768" y="2946400"/>
            <a:ext cx="2679700" cy="21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 txBox="1"/>
          <p:nvPr/>
        </p:nvSpPr>
        <p:spPr>
          <a:xfrm>
            <a:off x="4739" y="20774"/>
            <a:ext cx="1943331" cy="284663"/>
          </a:xfrm>
          <a:prstGeom prst="rect">
            <a:avLst/>
          </a:prstGeom>
          <a:solidFill>
            <a:srgbClr val="F5133A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Fourier transform</a:t>
            </a:r>
            <a:endParaRPr/>
          </a:p>
        </p:txBody>
      </p:sp>
      <p:sp>
        <p:nvSpPr>
          <p:cNvPr id="332" name="Google Shape;332;p39"/>
          <p:cNvSpPr txBox="1"/>
          <p:nvPr/>
        </p:nvSpPr>
        <p:spPr>
          <a:xfrm>
            <a:off x="-1" y="305437"/>
            <a:ext cx="88358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Fourier Transform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a signal/image from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time/spatial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expressing it as a sum of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sine and cosine waves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which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frequencies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present in a signal/image and how strong they are.</a:t>
            </a:r>
            <a:endParaRPr/>
          </a:p>
        </p:txBody>
      </p:sp>
      <p:sp>
        <p:nvSpPr>
          <p:cNvPr id="333" name="Google Shape;333;p39"/>
          <p:cNvSpPr txBox="1"/>
          <p:nvPr/>
        </p:nvSpPr>
        <p:spPr>
          <a:xfrm>
            <a:off x="5437231" y="1294153"/>
            <a:ext cx="3398655" cy="5001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even and odd functions and how they relate to Fourier analysis</a:t>
            </a:r>
            <a:endParaRPr/>
          </a:p>
        </p:txBody>
      </p:sp>
      <p:pic>
        <p:nvPicPr>
          <p:cNvPr id="334" name="Google Shape;33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442" y="1512817"/>
            <a:ext cx="4343400" cy="34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0686" y="1970017"/>
            <a:ext cx="3505200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 txBox="1"/>
          <p:nvPr/>
        </p:nvSpPr>
        <p:spPr>
          <a:xfrm>
            <a:off x="0" y="4384"/>
            <a:ext cx="1968323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representation</a:t>
            </a:r>
            <a:endParaRPr/>
          </a:p>
        </p:txBody>
      </p:sp>
      <p:sp>
        <p:nvSpPr>
          <p:cNvPr id="341" name="Google Shape;341;p40"/>
          <p:cNvSpPr txBox="1"/>
          <p:nvPr/>
        </p:nvSpPr>
        <p:spPr>
          <a:xfrm>
            <a:off x="0" y="291407"/>
            <a:ext cx="880609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representation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function means we are taking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continuous function at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intervals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storing them as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or vector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values.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Use Discrete Representation?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real-world applications: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can't store or compute with continuous functions.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Instead, we take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store them as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arrays.</a:t>
            </a:r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5885976" y="683919"/>
            <a:ext cx="2437661" cy="284663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Linear Transform</a:t>
            </a:r>
            <a:endParaRPr/>
          </a:p>
        </p:txBody>
      </p:sp>
      <p:sp>
        <p:nvSpPr>
          <p:cNvPr id="343" name="Google Shape;343;p40"/>
          <p:cNvSpPr txBox="1"/>
          <p:nvPr/>
        </p:nvSpPr>
        <p:spPr>
          <a:xfrm>
            <a:off x="5324558" y="1135594"/>
            <a:ext cx="3560496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Linear Transform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any transformation that: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data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(pixels, samples).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i.e., follows rules like additivity and scaling.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transforms like: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Fourier Transform (DFT)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Cosine Transform (DCT)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convert discrete signals/images into representations that are easier to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analyze, compress, or filter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344" name="Google Shape;3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7" y="2173581"/>
            <a:ext cx="4191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41"/>
          <p:cNvGrpSpPr/>
          <p:nvPr/>
        </p:nvGrpSpPr>
        <p:grpSpPr>
          <a:xfrm>
            <a:off x="4572000" y="772914"/>
            <a:ext cx="4477891" cy="910041"/>
            <a:chOff x="1035050" y="1863725"/>
            <a:chExt cx="7569200" cy="1538287"/>
          </a:xfrm>
        </p:grpSpPr>
        <p:pic>
          <p:nvPicPr>
            <p:cNvPr id="350" name="Google Shape;35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5050" y="1863725"/>
              <a:ext cx="7569200" cy="81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5050" y="2462212"/>
              <a:ext cx="5664200" cy="93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2" name="Google Shape;352;p41"/>
          <p:cNvSpPr txBox="1"/>
          <p:nvPr/>
        </p:nvSpPr>
        <p:spPr>
          <a:xfrm>
            <a:off x="0" y="4384"/>
            <a:ext cx="3107342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Fourier Transform (DFT)</a:t>
            </a:r>
            <a:endParaRPr/>
          </a:p>
        </p:txBody>
      </p:sp>
      <p:sp>
        <p:nvSpPr>
          <p:cNvPr id="353" name="Google Shape;353;p41"/>
          <p:cNvSpPr txBox="1"/>
          <p:nvPr/>
        </p:nvSpPr>
        <p:spPr>
          <a:xfrm>
            <a:off x="1" y="341348"/>
            <a:ext cx="4628644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DFT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version of the Fourier Transform, applied to digital signals or images.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frequency components in digital data.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image and signal processing when working with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(sampled) data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354" name="Google Shape;354;p41"/>
          <p:cNvSpPr txBox="1"/>
          <p:nvPr/>
        </p:nvSpPr>
        <p:spPr>
          <a:xfrm>
            <a:off x="41808" y="2038685"/>
            <a:ext cx="3107342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Cosine Transform (DCT)</a:t>
            </a:r>
            <a:endParaRPr/>
          </a:p>
        </p:txBody>
      </p:sp>
      <p:sp>
        <p:nvSpPr>
          <p:cNvPr id="355" name="Google Shape;355;p41"/>
          <p:cNvSpPr txBox="1"/>
          <p:nvPr/>
        </p:nvSpPr>
        <p:spPr>
          <a:xfrm>
            <a:off x="0" y="2386650"/>
            <a:ext cx="903071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DCT is a transform used to express a finite sequence of data points as a sum of cosine functions oscillating at different frequencies.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DFT, it uses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cosine terms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makes it suitable for signals with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symmetry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real values.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compaction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most of the signal’s energy is concentrated in the first few coefficients.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for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since many higher-frequency components can be discarded with little loss of quality.</a:t>
            </a:r>
            <a:endParaRPr/>
          </a:p>
        </p:txBody>
      </p:sp>
      <p:pic>
        <p:nvPicPr>
          <p:cNvPr id="356" name="Google Shape;35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08" y="4016494"/>
            <a:ext cx="4298219" cy="1122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 txBox="1"/>
          <p:nvPr/>
        </p:nvSpPr>
        <p:spPr>
          <a:xfrm>
            <a:off x="35156" y="43006"/>
            <a:ext cx="4317769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Generalized Discrete Fourier Transform (GDFT)</a:t>
            </a:r>
            <a:endParaRPr/>
          </a:p>
        </p:txBody>
      </p:sp>
      <p:sp>
        <p:nvSpPr>
          <p:cNvPr id="362" name="Google Shape;362;p42"/>
          <p:cNvSpPr txBox="1"/>
          <p:nvPr/>
        </p:nvSpPr>
        <p:spPr>
          <a:xfrm>
            <a:off x="35156" y="324404"/>
            <a:ext cx="901983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Generalized Discrete Fourier Transform (GDFT)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introduces two parameters: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α: modifies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side.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β: modifies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side.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parameters allow us to create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variations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traditional DFT with different symmetry properties, which is useful in certain signal/image processing tasks.</a:t>
            </a:r>
            <a:endParaRPr/>
          </a:p>
        </p:txBody>
      </p:sp>
      <p:pic>
        <p:nvPicPr>
          <p:cNvPr id="363" name="Google Shape;36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35" y="1529336"/>
            <a:ext cx="3019959" cy="1620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3741" y="1247313"/>
            <a:ext cx="3605162" cy="2766337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2"/>
          <p:cNvSpPr txBox="1"/>
          <p:nvPr/>
        </p:nvSpPr>
        <p:spPr>
          <a:xfrm>
            <a:off x="4855221" y="4035504"/>
            <a:ext cx="4288779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 these matter?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different forms: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improve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symmetry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signals.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used in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Fourier-based filtering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69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align better with certain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even/odd properties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signals</a:t>
            </a:r>
            <a:endParaRPr/>
          </a:p>
        </p:txBody>
      </p:sp>
      <p:pic>
        <p:nvPicPr>
          <p:cNvPr id="366" name="Google Shape;366;p42" title="cv ta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078175"/>
            <a:ext cx="4694876" cy="91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"/>
          <p:cNvSpPr txBox="1"/>
          <p:nvPr/>
        </p:nvSpPr>
        <p:spPr>
          <a:xfrm>
            <a:off x="35157" y="43006"/>
            <a:ext cx="3724386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Multiplication Property (CMP)</a:t>
            </a:r>
            <a:endParaRPr/>
          </a:p>
        </p:txBody>
      </p:sp>
      <p:sp>
        <p:nvSpPr>
          <p:cNvPr id="372" name="Google Shape;372;p43"/>
          <p:cNvSpPr txBox="1"/>
          <p:nvPr/>
        </p:nvSpPr>
        <p:spPr>
          <a:xfrm>
            <a:off x="64736" y="375789"/>
            <a:ext cx="886887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Multiplication Property (CMP)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fundamental principle in signal processing and transform theory. It describes how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in one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(time or space) becomes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multiplication in the frequency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vice versa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3" name="Google Shape;37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35" y="1159105"/>
            <a:ext cx="4268299" cy="216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3"/>
          <p:cNvPicPr preferRelativeResize="0"/>
          <p:nvPr/>
        </p:nvPicPr>
        <p:blipFill rotWithShape="1">
          <a:blip r:embed="rId4">
            <a:alphaModFix/>
          </a:blip>
          <a:srcRect b="22654" l="0" r="26038" t="0"/>
          <a:stretch/>
        </p:blipFill>
        <p:spPr>
          <a:xfrm>
            <a:off x="4689061" y="1288210"/>
            <a:ext cx="4390204" cy="164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57" y="3322129"/>
            <a:ext cx="4966761" cy="177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4"/>
          <p:cNvSpPr txBox="1"/>
          <p:nvPr/>
        </p:nvSpPr>
        <p:spPr>
          <a:xfrm>
            <a:off x="35157" y="43006"/>
            <a:ext cx="1579330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2-D Transforms</a:t>
            </a:r>
            <a:endParaRPr/>
          </a:p>
        </p:txBody>
      </p:sp>
      <p:sp>
        <p:nvSpPr>
          <p:cNvPr id="381" name="Google Shape;381;p44"/>
          <p:cNvSpPr txBox="1"/>
          <p:nvPr/>
        </p:nvSpPr>
        <p:spPr>
          <a:xfrm>
            <a:off x="145657" y="429863"/>
            <a:ext cx="899834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2D transform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two-dimensional extension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1D transform, used for images (which are 2D signals).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frequency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both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and vertical directions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382" name="Google Shape;382;p44"/>
          <p:cNvSpPr txBox="1"/>
          <p:nvPr/>
        </p:nvSpPr>
        <p:spPr>
          <a:xfrm>
            <a:off x="4199766" y="1626498"/>
            <a:ext cx="480666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transform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an image from one domain (usually the spatial domain: pixels and intensities) to another domain (usually frequency domain). This helps to analyze, compress, or enhance the image based on its </a:t>
            </a:r>
            <a:r>
              <a:rPr b="1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components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44"/>
          <p:cNvSpPr txBox="1"/>
          <p:nvPr/>
        </p:nvSpPr>
        <p:spPr>
          <a:xfrm>
            <a:off x="5813435" y="1318544"/>
            <a:ext cx="2149128" cy="284663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2-D Image Transforms</a:t>
            </a:r>
            <a:endParaRPr/>
          </a:p>
        </p:txBody>
      </p:sp>
      <p:sp>
        <p:nvSpPr>
          <p:cNvPr id="384" name="Google Shape;384;p44"/>
          <p:cNvSpPr txBox="1"/>
          <p:nvPr/>
        </p:nvSpPr>
        <p:spPr>
          <a:xfrm>
            <a:off x="3296363" y="2736881"/>
            <a:ext cx="2149128" cy="284663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DFT in Image Processing</a:t>
            </a:r>
            <a:endParaRPr/>
          </a:p>
        </p:txBody>
      </p:sp>
      <p:sp>
        <p:nvSpPr>
          <p:cNvPr id="385" name="Google Shape;385;p44"/>
          <p:cNvSpPr txBox="1"/>
          <p:nvPr/>
        </p:nvSpPr>
        <p:spPr>
          <a:xfrm>
            <a:off x="6498561" y="2733151"/>
            <a:ext cx="2149128" cy="284663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DCT in Image Processing</a:t>
            </a:r>
            <a:endParaRPr/>
          </a:p>
        </p:txBody>
      </p:sp>
      <p:pic>
        <p:nvPicPr>
          <p:cNvPr id="386" name="Google Shape;38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6226" y="3089531"/>
            <a:ext cx="3253188" cy="196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2121" y="3195048"/>
            <a:ext cx="3351879" cy="1846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451957"/>
            <a:ext cx="29464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/>
        </p:nvSpPr>
        <p:spPr>
          <a:xfrm>
            <a:off x="1576714" y="0"/>
            <a:ext cx="5952949" cy="2846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Key Transform Terms in Signal &amp; Image Processing</a:t>
            </a:r>
            <a:endParaRPr/>
          </a:p>
        </p:txBody>
      </p:sp>
      <p:graphicFrame>
        <p:nvGraphicFramePr>
          <p:cNvPr id="394" name="Google Shape;394;p45"/>
          <p:cNvGraphicFramePr/>
          <p:nvPr/>
        </p:nvGraphicFramePr>
        <p:xfrm>
          <a:off x="380326" y="37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{2BB3CF98-B47B-416F-AA16-001E98970F66}</a:tableStyleId>
              </a:tblPr>
              <a:tblGrid>
                <a:gridCol w="1877350"/>
                <a:gridCol w="1230000"/>
                <a:gridCol w="3319750"/>
                <a:gridCol w="2142375"/>
              </a:tblGrid>
              <a:tr h="9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Use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Transform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Any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Converts an image to another domain (e.g., frequency)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Analysis, compression, filtering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Orthogonal Expansion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Varies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Represents a signal/image as a sum of orthogonal basis functions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Compression, simplification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 Transform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 Signal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Applies transform to 1D signals (e.g., sound, image rows)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Audio processing, row-wise image ops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37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Fourier Transform (FT)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Continuous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Transforms a continuous signal from time to frequency domain using sine/cosine basis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 analysis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 Linear Transform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Any linear transform applied on sampled data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Foundation for DFT, DCT, DWT, etc.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37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DFT</a:t>
                      </a: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(Discrete Fourier Transform)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Converts digital signal/image to frequency domain with complex output (sine + cosine basis)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Filtering, frequency analysis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DCT</a:t>
                      </a: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(Discrete Cosine Transform)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Real-valued transform using only cosine basis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JPEG compression, energy compaction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2D Transform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Applies transform in both dimensions of an image (rows &amp; columns)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 compression, filtering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2D DFT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2D frequency representation using sine/cosine components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Spectral analysis, filtering in image domain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23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2D DCT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Image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2D cosine transform ideal for energy compaction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JPEG and MPEG compression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  <a:tr h="30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CMP</a:t>
                      </a: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(Convolution Multiplication Property)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 &amp; Frequency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Convolution in time ↔ multiplication in frequency domain (and vice versa)</a:t>
                      </a:r>
                      <a:endParaRPr/>
                    </a:p>
                  </a:txBody>
                  <a:tcPr marT="14825" marB="14825" marR="29650" marL="29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filtering, signal systems</a:t>
                      </a:r>
                      <a:endParaRPr/>
                    </a:p>
                  </a:txBody>
                  <a:tcPr marT="14825" marB="14825" marR="29650" marL="29650" anchor="ctr"/>
                </a:tc>
              </a:tr>
            </a:tbl>
          </a:graphicData>
        </a:graphic>
      </p:graphicFrame>
      <p:sp>
        <p:nvSpPr>
          <p:cNvPr id="395" name="Google Shape;395;p45"/>
          <p:cNvSpPr txBox="1"/>
          <p:nvPr/>
        </p:nvSpPr>
        <p:spPr>
          <a:xfrm>
            <a:off x="113288" y="4020300"/>
            <a:ext cx="2055377" cy="284663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Analogy to Remember</a:t>
            </a:r>
            <a:endParaRPr/>
          </a:p>
        </p:txBody>
      </p:sp>
      <p:sp>
        <p:nvSpPr>
          <p:cNvPr id="396" name="Google Shape;396;p45"/>
          <p:cNvSpPr txBox="1"/>
          <p:nvPr/>
        </p:nvSpPr>
        <p:spPr>
          <a:xfrm>
            <a:off x="113288" y="4304963"/>
            <a:ext cx="65626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image transforms as changing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you see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changes happen (edges, lines).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domain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you see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fast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changes happen (high or low frequencies).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"/>
          <p:cNvSpPr txBox="1"/>
          <p:nvPr/>
        </p:nvSpPr>
        <p:spPr>
          <a:xfrm>
            <a:off x="1379617" y="1208450"/>
            <a:ext cx="7197365" cy="20082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Definition of Image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Concepts and Operations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Transforms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6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1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7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47"/>
          <p:cNvSpPr txBox="1"/>
          <p:nvPr/>
        </p:nvSpPr>
        <p:spPr>
          <a:xfrm>
            <a:off x="0" y="239630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47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2" name="Google Shape;412;p4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3" name="Google Shape;413;p47"/>
          <p:cNvSpPr txBox="1"/>
          <p:nvPr/>
        </p:nvSpPr>
        <p:spPr>
          <a:xfrm>
            <a:off x="74506" y="0"/>
            <a:ext cx="9069494" cy="19633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24" l="-27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aphicFrame>
        <p:nvGraphicFramePr>
          <p:cNvPr id="414" name="Google Shape;414;p47"/>
          <p:cNvGraphicFramePr/>
          <p:nvPr/>
        </p:nvGraphicFramePr>
        <p:xfrm>
          <a:off x="3867993" y="2297969"/>
          <a:ext cx="3000000" cy="3000000"/>
        </p:xfrm>
        <a:graphic>
          <a:graphicData uri="http://schemas.openxmlformats.org/drawingml/2006/table">
            <a:tbl>
              <a:tblPr firstCol="1" firstRow="1">
                <a:noFill/>
                <a:tableStyleId>{A1D68C35-FC4B-47E0-A846-D8F17172BD1B}</a:tableStyleId>
              </a:tblPr>
              <a:tblGrid>
                <a:gridCol w="1040300"/>
                <a:gridCol w="1040300"/>
                <a:gridCol w="1040300"/>
                <a:gridCol w="1040300"/>
                <a:gridCol w="1040300"/>
              </a:tblGrid>
              <a:tr h="4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Pixel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Frequency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Cumulative Sum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Normalized Sum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New Pixel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0.72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1.44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2.64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3.60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4.32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21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5.04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6.00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415" name="Google Shape;415;p47"/>
          <p:cNvSpPr txBox="1"/>
          <p:nvPr/>
        </p:nvSpPr>
        <p:spPr>
          <a:xfrm>
            <a:off x="74507" y="3018885"/>
            <a:ext cx="3696382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 of Histogram equalization is shown in the following table.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 to the above table pixel value 3 becomes 4. Hence, 4 is the answer.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48"/>
          <p:cNvSpPr txBox="1"/>
          <p:nvPr/>
        </p:nvSpPr>
        <p:spPr>
          <a:xfrm>
            <a:off x="-1" y="451791"/>
            <a:ext cx="9022619" cy="1731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Note that the probability of a normal variable P(z &gt; 2.5) = 0.062. X is a normally distributed variable with mean μ = 30 and standard deviation σ = 4. Compute P(X &lt; 40).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0.0238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0.9380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0.1538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0.0918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3" name="Google Shape;423;p48"/>
          <p:cNvSpPr txBox="1"/>
          <p:nvPr/>
        </p:nvSpPr>
        <p:spPr>
          <a:xfrm>
            <a:off x="0" y="216155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4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48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6" name="Google Shape;426;p4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27" name="Google Shape;4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8820" y="2202234"/>
            <a:ext cx="4434237" cy="2443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49"/>
          <p:cNvSpPr txBox="1"/>
          <p:nvPr/>
        </p:nvSpPr>
        <p:spPr>
          <a:xfrm>
            <a:off x="0" y="432561"/>
            <a:ext cx="8833402" cy="17927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815" l="-574" r="0" t="-14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35" name="Google Shape;435;p4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49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7" name="Google Shape;437;p4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38" name="Google Shape;43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451" y="1505279"/>
            <a:ext cx="3326145" cy="15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9"/>
          <p:cNvSpPr txBox="1"/>
          <p:nvPr/>
        </p:nvSpPr>
        <p:spPr>
          <a:xfrm>
            <a:off x="3334209" y="1159030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0" name="Google Shape;44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06" y="2475352"/>
            <a:ext cx="3286603" cy="223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4209" y="2966907"/>
            <a:ext cx="3153019" cy="1796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 txBox="1"/>
          <p:nvPr/>
        </p:nvSpPr>
        <p:spPr>
          <a:xfrm>
            <a:off x="0" y="3341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50"/>
          <p:cNvSpPr txBox="1"/>
          <p:nvPr/>
        </p:nvSpPr>
        <p:spPr>
          <a:xfrm>
            <a:off x="3274127" y="201959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50"/>
          <p:cNvSpPr txBox="1"/>
          <p:nvPr/>
        </p:nvSpPr>
        <p:spPr>
          <a:xfrm>
            <a:off x="0" y="386979"/>
            <a:ext cx="8833402" cy="2038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image taken using a camera can be enhanced by different techniques. Suppose, a software is developed which can detect if an image has been enhanced or not with 96% accuracy. A survey is done, and it is found that 75% of all images are enhanced. If the software predicts that an image is enhanced, what is the probability that the image is actually enhanced?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0.9663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0.9930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0.9863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0.5940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" name="Google Shape;45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67064"/>
            <a:ext cx="3274127" cy="229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740" y="3107190"/>
            <a:ext cx="3163922" cy="1004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5500" y="2700653"/>
            <a:ext cx="3058500" cy="1829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51"/>
          <p:cNvSpPr txBox="1"/>
          <p:nvPr/>
        </p:nvSpPr>
        <p:spPr>
          <a:xfrm>
            <a:off x="3877540" y="93630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3" name="Google Shape;463;p5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51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65" name="Google Shape;465;p5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6" name="Google Shape;466;p51"/>
          <p:cNvSpPr txBox="1"/>
          <p:nvPr/>
        </p:nvSpPr>
        <p:spPr>
          <a:xfrm>
            <a:off x="58100" y="459194"/>
            <a:ext cx="9027800" cy="1477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127" l="-561" r="0" t="-17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467" name="Google Shape;46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2959" y="1284516"/>
            <a:ext cx="4615297" cy="90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393746"/>
            <a:ext cx="3277274" cy="134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0" y="3713020"/>
            <a:ext cx="3392941" cy="1015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51"/>
          <p:cNvGrpSpPr/>
          <p:nvPr/>
        </p:nvGrpSpPr>
        <p:grpSpPr>
          <a:xfrm>
            <a:off x="4572000" y="2413588"/>
            <a:ext cx="3404884" cy="2556043"/>
            <a:chOff x="4161970" y="2250195"/>
            <a:chExt cx="3404884" cy="2556043"/>
          </a:xfrm>
        </p:grpSpPr>
        <p:pic>
          <p:nvPicPr>
            <p:cNvPr id="471" name="Google Shape;471;p5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61970" y="2250195"/>
              <a:ext cx="3277274" cy="14350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5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73912" y="3713020"/>
              <a:ext cx="3392942" cy="10932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3" name="Google Shape;473;p51"/>
          <p:cNvSpPr txBox="1"/>
          <p:nvPr/>
        </p:nvSpPr>
        <p:spPr>
          <a:xfrm>
            <a:off x="4470628" y="2304209"/>
            <a:ext cx="159839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Alternatively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52"/>
          <p:cNvSpPr txBox="1"/>
          <p:nvPr/>
        </p:nvSpPr>
        <p:spPr>
          <a:xfrm>
            <a:off x="0" y="228562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5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52"/>
          <p:cNvSpPr txBox="1"/>
          <p:nvPr/>
        </p:nvSpPr>
        <p:spPr>
          <a:xfrm>
            <a:off x="3017816" y="4763840"/>
            <a:ext cx="537908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83" name="Google Shape;483;p5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4" name="Google Shape;484;p52"/>
          <p:cNvSpPr txBox="1"/>
          <p:nvPr/>
        </p:nvSpPr>
        <p:spPr>
          <a:xfrm>
            <a:off x="-98" y="451449"/>
            <a:ext cx="883350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a binary image with a small fully filled white circle on a black background. How does this image look like after applying image gradient operation?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Same as the original image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 thin line surrounding the boundary of that fully filled white circle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thin line surrounding the boundary of whole image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An image with a white dot at the center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5" name="Google Shape;4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13" y="2666890"/>
            <a:ext cx="6621308" cy="60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827" y="3318832"/>
            <a:ext cx="3555822" cy="1212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6152" y="2967100"/>
            <a:ext cx="5375135" cy="126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62999" y="4275832"/>
            <a:ext cx="5444151" cy="510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3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53"/>
          <p:cNvSpPr txBox="1"/>
          <p:nvPr/>
        </p:nvSpPr>
        <p:spPr>
          <a:xfrm>
            <a:off x="1946370" y="1437060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5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53"/>
          <p:cNvSpPr txBox="1"/>
          <p:nvPr/>
        </p:nvSpPr>
        <p:spPr>
          <a:xfrm>
            <a:off x="3017815" y="4763840"/>
            <a:ext cx="85099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8" name="Google Shape;498;p5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99" name="Google Shape;499;p53"/>
          <p:cNvGrpSpPr/>
          <p:nvPr/>
        </p:nvGrpSpPr>
        <p:grpSpPr>
          <a:xfrm>
            <a:off x="114207" y="415995"/>
            <a:ext cx="8753745" cy="2042130"/>
            <a:chOff x="97105" y="341861"/>
            <a:chExt cx="8753745" cy="2042130"/>
          </a:xfrm>
        </p:grpSpPr>
        <p:sp>
          <p:nvSpPr>
            <p:cNvPr id="500" name="Google Shape;500;p53"/>
            <p:cNvSpPr txBox="1"/>
            <p:nvPr/>
          </p:nvSpPr>
          <p:spPr>
            <a:xfrm>
              <a:off x="97105" y="453873"/>
              <a:ext cx="87537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onsider the following 3-bit grey scale image</a:t>
              </a:r>
              <a:endParaRPr/>
            </a:p>
          </p:txBody>
        </p:sp>
        <p:pic>
          <p:nvPicPr>
            <p:cNvPr id="501" name="Google Shape;501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36392" y="341861"/>
              <a:ext cx="1485900" cy="12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53"/>
            <p:cNvSpPr txBox="1"/>
            <p:nvPr/>
          </p:nvSpPr>
          <p:spPr>
            <a:xfrm>
              <a:off x="97105" y="814331"/>
              <a:ext cx="645744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is the value when vertical Sobel operator and horizontal Sobel operator are applied on the orange colored pixel?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a) 0 and 2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b) 7 and -3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c) 10 and 2</a:t>
              </a:r>
              <a:endParaRPr/>
            </a:p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d) 2 and 10</a:t>
              </a:r>
              <a:endParaRPr/>
            </a:p>
          </p:txBody>
        </p:sp>
      </p:grpSp>
      <p:grpSp>
        <p:nvGrpSpPr>
          <p:cNvPr id="503" name="Google Shape;503;p53"/>
          <p:cNvGrpSpPr/>
          <p:nvPr/>
        </p:nvGrpSpPr>
        <p:grpSpPr>
          <a:xfrm>
            <a:off x="1899605" y="1919588"/>
            <a:ext cx="2397497" cy="1078258"/>
            <a:chOff x="1867006" y="1788172"/>
            <a:chExt cx="2397497" cy="1078258"/>
          </a:xfrm>
        </p:grpSpPr>
        <p:pic>
          <p:nvPicPr>
            <p:cNvPr id="504" name="Google Shape;504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23068" y="1788172"/>
              <a:ext cx="2341435" cy="3126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67006" y="2089193"/>
              <a:ext cx="1091625" cy="7772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6" name="Google Shape;506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8449" y="1713461"/>
            <a:ext cx="2455608" cy="144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7191" y="3200204"/>
            <a:ext cx="4079974" cy="190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4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54"/>
          <p:cNvSpPr txBox="1"/>
          <p:nvPr/>
        </p:nvSpPr>
        <p:spPr>
          <a:xfrm>
            <a:off x="3118297" y="167870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5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54"/>
          <p:cNvSpPr txBox="1"/>
          <p:nvPr/>
        </p:nvSpPr>
        <p:spPr>
          <a:xfrm>
            <a:off x="3017816" y="4763840"/>
            <a:ext cx="99583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7" name="Google Shape;517;p5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518" name="Google Shape;51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4"/>
          <p:cNvSpPr txBox="1"/>
          <p:nvPr/>
        </p:nvSpPr>
        <p:spPr>
          <a:xfrm>
            <a:off x="9525" y="287217"/>
            <a:ext cx="8993784" cy="15850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380" l="0" r="0" t="-7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522" name="Google Shape;52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297" y="2034960"/>
            <a:ext cx="3640308" cy="105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693" y="3377816"/>
            <a:ext cx="2567792" cy="120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3562" y="2342456"/>
            <a:ext cx="5008880" cy="2421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5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5"/>
          <p:cNvSpPr txBox="1"/>
          <p:nvPr/>
        </p:nvSpPr>
        <p:spPr>
          <a:xfrm>
            <a:off x="0" y="192817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55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55"/>
          <p:cNvSpPr txBox="1"/>
          <p:nvPr/>
        </p:nvSpPr>
        <p:spPr>
          <a:xfrm>
            <a:off x="3301082" y="4771806"/>
            <a:ext cx="83065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4" name="Google Shape;534;p55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5" name="Google Shape;535;p55"/>
          <p:cNvSpPr txBox="1"/>
          <p:nvPr/>
        </p:nvSpPr>
        <p:spPr>
          <a:xfrm>
            <a:off x="0" y="391209"/>
            <a:ext cx="908735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a 3-bit grey scale image with dimension 32 × 32. What will be the range of values in its X-axis?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0 to 7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1 to 7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0 to 15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0 to 255</a:t>
            </a:r>
            <a:endParaRPr/>
          </a:p>
        </p:txBody>
      </p:sp>
      <p:pic>
        <p:nvPicPr>
          <p:cNvPr id="536" name="Google Shape;53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63" y="2499223"/>
            <a:ext cx="5627758" cy="181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6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56"/>
          <p:cNvSpPr txBox="1"/>
          <p:nvPr/>
        </p:nvSpPr>
        <p:spPr>
          <a:xfrm>
            <a:off x="1946695" y="1657930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56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56"/>
          <p:cNvSpPr txBox="1"/>
          <p:nvPr/>
        </p:nvSpPr>
        <p:spPr>
          <a:xfrm>
            <a:off x="3127729" y="4771822"/>
            <a:ext cx="61115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6" name="Google Shape;546;p56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47" name="Google Shape;547;p56"/>
          <p:cNvGrpSpPr/>
          <p:nvPr/>
        </p:nvGrpSpPr>
        <p:grpSpPr>
          <a:xfrm>
            <a:off x="42643" y="582778"/>
            <a:ext cx="8348469" cy="1861553"/>
            <a:chOff x="156259" y="445214"/>
            <a:chExt cx="9230503" cy="1861553"/>
          </a:xfrm>
        </p:grpSpPr>
        <p:sp>
          <p:nvSpPr>
            <p:cNvPr id="548" name="Google Shape;548;p56"/>
            <p:cNvSpPr txBox="1"/>
            <p:nvPr/>
          </p:nvSpPr>
          <p:spPr>
            <a:xfrm>
              <a:off x="156259" y="445214"/>
              <a:ext cx="9230503" cy="338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Consider the following 3-bit grey scale image</a:t>
              </a:r>
              <a:endParaRPr/>
            </a:p>
          </p:txBody>
        </p:sp>
        <p:sp>
          <p:nvSpPr>
            <p:cNvPr id="549" name="Google Shape;549;p56"/>
            <p:cNvSpPr txBox="1"/>
            <p:nvPr/>
          </p:nvSpPr>
          <p:spPr>
            <a:xfrm>
              <a:off x="156259" y="736867"/>
              <a:ext cx="61716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is the value when horizontal Prewitt operator and </a:t>
              </a:r>
              <a:r>
                <a:rPr lang="e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vertical Prewitt operator </a:t>
              </a: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are applied on the orange colored pixel?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a) 0 and 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b) −4 and −2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c) 4 and −2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d) −4 and 2</a:t>
              </a:r>
              <a:endParaRPr/>
            </a:p>
          </p:txBody>
        </p:sp>
        <p:pic>
          <p:nvPicPr>
            <p:cNvPr id="550" name="Google Shape;550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12116" y="545538"/>
              <a:ext cx="1485900" cy="133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1" name="Google Shape;55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140" y="2055358"/>
            <a:ext cx="3184328" cy="1046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6019" y="1946851"/>
            <a:ext cx="2131727" cy="1314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7706" y="3469650"/>
            <a:ext cx="3710040" cy="167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