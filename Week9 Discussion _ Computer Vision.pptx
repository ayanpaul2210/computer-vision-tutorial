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Tahoma"/>
      <p:regular r:id="rId37"/>
      <p:bold r:id="rId38"/>
    </p:embeddedFont>
    <p:embeddedFont>
      <p:font typeface="Arial Black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E93DF7-F4BD-48E9-B125-BA9540786C1A}">
  <a:tblStyle styleId="{04E93DF7-F4BD-48E9-B125-BA9540786C1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Tahoma-regular.fntdata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ArialBlack-regular.fntdata"/><Relationship Id="rId16" Type="http://schemas.openxmlformats.org/officeDocument/2006/relationships/slide" Target="slides/slide9.xml"/><Relationship Id="rId38" Type="http://schemas.openxmlformats.org/officeDocument/2006/relationships/font" Target="fonts/Tahoma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15303cfd8_2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815303cfd8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15303cfd8_2_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815303cfd8_2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2" name="Google Shape;45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5" name="Google Shape;46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6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35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34.png"/><Relationship Id="rId6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1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Relationship Id="rId4" Type="http://schemas.openxmlformats.org/officeDocument/2006/relationships/image" Target="../media/image61.png"/><Relationship Id="rId5" Type="http://schemas.openxmlformats.org/officeDocument/2006/relationships/image" Target="../media/image41.png"/><Relationship Id="rId6" Type="http://schemas.openxmlformats.org/officeDocument/2006/relationships/image" Target="../media/image51.png"/><Relationship Id="rId7" Type="http://schemas.openxmlformats.org/officeDocument/2006/relationships/image" Target="../media/image45.png"/><Relationship Id="rId8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Relationship Id="rId4" Type="http://schemas.openxmlformats.org/officeDocument/2006/relationships/image" Target="../media/image63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Relationship Id="rId5" Type="http://schemas.openxmlformats.org/officeDocument/2006/relationships/image" Target="../media/image59.png"/><Relationship Id="rId6" Type="http://schemas.openxmlformats.org/officeDocument/2006/relationships/image" Target="../media/image53.png"/><Relationship Id="rId7" Type="http://schemas.openxmlformats.org/officeDocument/2006/relationships/image" Target="../media/image5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Relationship Id="rId4" Type="http://schemas.openxmlformats.org/officeDocument/2006/relationships/image" Target="../media/image66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7.png"/><Relationship Id="rId4" Type="http://schemas.openxmlformats.org/officeDocument/2006/relationships/image" Target="../media/image7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5.png"/><Relationship Id="rId4" Type="http://schemas.openxmlformats.org/officeDocument/2006/relationships/image" Target="../media/image83.png"/><Relationship Id="rId5" Type="http://schemas.openxmlformats.org/officeDocument/2006/relationships/image" Target="../media/image74.png"/><Relationship Id="rId6" Type="http://schemas.openxmlformats.org/officeDocument/2006/relationships/image" Target="../media/image8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0.png"/><Relationship Id="rId4" Type="http://schemas.openxmlformats.org/officeDocument/2006/relationships/image" Target="../media/image72.png"/><Relationship Id="rId5" Type="http://schemas.openxmlformats.org/officeDocument/2006/relationships/image" Target="../media/image68.png"/><Relationship Id="rId6" Type="http://schemas.openxmlformats.org/officeDocument/2006/relationships/image" Target="../media/image8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7.png"/><Relationship Id="rId4" Type="http://schemas.openxmlformats.org/officeDocument/2006/relationships/image" Target="../media/image8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9.png"/><Relationship Id="rId4" Type="http://schemas.openxmlformats.org/officeDocument/2006/relationships/image" Target="../media/image8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9.png"/><Relationship Id="rId4" Type="http://schemas.openxmlformats.org/officeDocument/2006/relationships/image" Target="../media/image8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6.png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80000"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2296980" y="128010"/>
            <a:ext cx="4550044" cy="1315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Week-9 (Discussion)</a:t>
            </a:r>
            <a:endParaRPr b="0" i="0" sz="1100" u="none" cap="none" strike="noStrike">
              <a:solidFill>
                <a:srgbClr val="F7CA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b="1" baseline="30000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th </a:t>
            </a: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Sept, 2025</a:t>
            </a:r>
            <a:endParaRPr b="1" i="0" sz="41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1" y="122195"/>
            <a:ext cx="1477652" cy="14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1774" y="122195"/>
            <a:ext cx="1133573" cy="126960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/>
        </p:nvSpPr>
        <p:spPr>
          <a:xfrm>
            <a:off x="0" y="1922667"/>
            <a:ext cx="7105200" cy="1915879"/>
          </a:xfrm>
          <a:prstGeom prst="rect">
            <a:avLst/>
          </a:prstGeom>
          <a:solidFill>
            <a:srgbClr val="FBE4D4">
              <a:alpha val="74117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IN" sz="3000" u="none" cap="none" strike="noStrike">
                <a:solidFill>
                  <a:srgbClr val="AC1684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b="0" i="0" sz="1800" u="none" cap="none" strike="noStrike">
              <a:solidFill>
                <a:srgbClr val="AC168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Prof. Jayanta Mukhopadhyay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Professor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Computer Science and Engineering Department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1" y="3965274"/>
            <a:ext cx="6440864" cy="10737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Ayan Paul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PMRF Research Scholar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1" i="0" sz="15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6084" y="1585053"/>
            <a:ext cx="3777916" cy="355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/>
        </p:nvSpPr>
        <p:spPr>
          <a:xfrm>
            <a:off x="0" y="1804"/>
            <a:ext cx="1378209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data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92752" y="3420550"/>
            <a:ext cx="508553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image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special type of image in which each pixel value does not represent brightness or color, but rather the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(range)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sensor to the surface of an object in the scene.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other words: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conventional image → pixel = intensity/color.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range image → pixel = depth (distance from viewpoint).</a:t>
            </a:r>
            <a:endParaRPr/>
          </a:p>
        </p:txBody>
      </p:sp>
      <p:sp>
        <p:nvSpPr>
          <p:cNvPr id="171" name="Google Shape;171;p26"/>
          <p:cNvSpPr txBox="1"/>
          <p:nvPr/>
        </p:nvSpPr>
        <p:spPr>
          <a:xfrm>
            <a:off x="5956852" y="36"/>
            <a:ext cx="2839278" cy="284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Imaging Techniques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4572000" y="317245"/>
            <a:ext cx="4224130" cy="1756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699" lvl="0" marL="266224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653"/>
              <a:buFont typeface="Noto Sans Symbols"/>
              <a:buChar char="■"/>
            </a:pP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Passive imaging.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Extracts depth information </a:t>
            </a:r>
            <a:r>
              <a:rPr b="1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projecting any energy</a:t>
            </a: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the scene.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4312" lvl="1" marL="566261" marR="0" rtl="0" algn="just">
              <a:lnSpc>
                <a:spcPct val="100000"/>
              </a:lnSpc>
              <a:spcBef>
                <a:spcPts val="521"/>
              </a:spcBef>
              <a:spcAft>
                <a:spcPts val="0"/>
              </a:spcAft>
              <a:buClr>
                <a:srgbClr val="FF0000"/>
              </a:buClr>
              <a:buSzPts val="589"/>
              <a:buFont typeface="Noto Sans Symbols"/>
              <a:buChar char="■"/>
            </a:pP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Stereo imaging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just">
              <a:lnSpc>
                <a:spcPct val="100000"/>
              </a:lnSpc>
              <a:spcBef>
                <a:spcPts val="506"/>
              </a:spcBef>
              <a:spcAft>
                <a:spcPts val="0"/>
              </a:spcAft>
              <a:buClr>
                <a:srgbClr val="3333CC"/>
              </a:buClr>
              <a:buSzPts val="653"/>
              <a:buFont typeface="Noto Sans Symbols"/>
              <a:buChar char="■"/>
            </a:pP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Active range sensing.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Actively </a:t>
            </a:r>
            <a:r>
              <a:rPr b="1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projects energy (light, laser, IR, etc.) onto the scene</a:t>
            </a: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measures its reflection to compute depth.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0035" lvl="0" marL="631983" marR="0" rtl="0" algn="just">
              <a:lnSpc>
                <a:spcPct val="100000"/>
              </a:lnSpc>
              <a:spcBef>
                <a:spcPts val="19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Time-of-flight sensors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3359" lvl="0" marL="565309" marR="0" rtl="0" algn="just">
              <a:lnSpc>
                <a:spcPct val="100000"/>
              </a:lnSpc>
              <a:spcBef>
                <a:spcPts val="56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Triangulation-based sensors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6703" lvl="0" marL="648652" marR="0" rtl="0" algn="just">
              <a:lnSpc>
                <a:spcPct val="100000"/>
              </a:lnSpc>
              <a:spcBef>
                <a:spcPts val="4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-IN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Structured Light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5804448" y="2287087"/>
            <a:ext cx="2567616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Time-of-Flight Range Sensors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7955"/>
            <a:ext cx="44196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4848" y="2784701"/>
            <a:ext cx="37846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234498" y="7796"/>
            <a:ext cx="2567616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Triangulation based Sensors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5406159" y="0"/>
            <a:ext cx="2567616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Light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663177" y="2693588"/>
            <a:ext cx="1710258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Encoding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3879812" y="2693588"/>
            <a:ext cx="1526347" cy="2862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6436519" y="2690016"/>
            <a:ext cx="2139260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Codification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30" y="330986"/>
            <a:ext cx="37084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4017" y="407462"/>
            <a:ext cx="37719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3143793"/>
            <a:ext cx="3289300" cy="19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82485" y="3053487"/>
            <a:ext cx="2921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00" y="3053487"/>
            <a:ext cx="2971800" cy="20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/>
        </p:nvSpPr>
        <p:spPr>
          <a:xfrm>
            <a:off x="5221357" y="73188"/>
            <a:ext cx="3015769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RGBD images from Microsoft Kinect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7500" y="2517307"/>
            <a:ext cx="5016500" cy="262619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/>
          <p:nvPr/>
        </p:nvSpPr>
        <p:spPr>
          <a:xfrm>
            <a:off x="5309602" y="2183112"/>
            <a:ext cx="2839278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Range Sensing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6" y="314201"/>
            <a:ext cx="4919869" cy="206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/>
          <p:nvPr/>
        </p:nvSpPr>
        <p:spPr>
          <a:xfrm>
            <a:off x="906874" y="0"/>
            <a:ext cx="2839278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Coding Strategies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906874" y="2476412"/>
            <a:ext cx="1502537" cy="284663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Lasers?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1352" y="406380"/>
            <a:ext cx="3632200" cy="17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3107" y="2832100"/>
            <a:ext cx="3848100" cy="23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/>
        </p:nvSpPr>
        <p:spPr>
          <a:xfrm>
            <a:off x="32548" y="26459"/>
            <a:ext cx="2567616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Parametric curve (2D)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21" y="402967"/>
            <a:ext cx="4105590" cy="190648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/>
          <p:nvPr/>
        </p:nvSpPr>
        <p:spPr>
          <a:xfrm>
            <a:off x="5260030" y="5402"/>
            <a:ext cx="2567616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Parametric curve (3D)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8685" y="311122"/>
            <a:ext cx="4317264" cy="2090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29"/>
          <p:cNvGrpSpPr/>
          <p:nvPr/>
        </p:nvGrpSpPr>
        <p:grpSpPr>
          <a:xfrm>
            <a:off x="367749" y="2484784"/>
            <a:ext cx="3438938" cy="2499690"/>
            <a:chOff x="318053" y="2393014"/>
            <a:chExt cx="3657599" cy="2750486"/>
          </a:xfrm>
        </p:grpSpPr>
        <p:pic>
          <p:nvPicPr>
            <p:cNvPr id="211" name="Google Shape;211;p29"/>
            <p:cNvPicPr preferRelativeResize="0"/>
            <p:nvPr/>
          </p:nvPicPr>
          <p:blipFill rotWithShape="1">
            <a:blip r:embed="rId5">
              <a:alphaModFix/>
            </a:blip>
            <a:srcRect b="0" l="727" r="0" t="0"/>
            <a:stretch/>
          </p:blipFill>
          <p:spPr>
            <a:xfrm>
              <a:off x="318053" y="2393014"/>
              <a:ext cx="3657599" cy="27504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9"/>
            <p:cNvSpPr txBox="1"/>
            <p:nvPr/>
          </p:nvSpPr>
          <p:spPr>
            <a:xfrm>
              <a:off x="318053" y="2723322"/>
              <a:ext cx="2822712" cy="513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9"/>
            <p:cNvSpPr txBox="1"/>
            <p:nvPr/>
          </p:nvSpPr>
          <p:spPr>
            <a:xfrm>
              <a:off x="410819" y="4563157"/>
              <a:ext cx="384312" cy="513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29"/>
          <p:cNvGrpSpPr/>
          <p:nvPr/>
        </p:nvGrpSpPr>
        <p:grpSpPr>
          <a:xfrm>
            <a:off x="4124311" y="2703555"/>
            <a:ext cx="5019689" cy="2259310"/>
            <a:chOff x="4124311" y="2703555"/>
            <a:chExt cx="5019689" cy="2259310"/>
          </a:xfrm>
        </p:grpSpPr>
        <p:pic>
          <p:nvPicPr>
            <p:cNvPr id="215" name="Google Shape;215;p29"/>
            <p:cNvPicPr preferRelativeResize="0"/>
            <p:nvPr/>
          </p:nvPicPr>
          <p:blipFill rotWithShape="1">
            <a:blip r:embed="rId6">
              <a:alphaModFix/>
            </a:blip>
            <a:srcRect b="0" l="0" r="5368" t="0"/>
            <a:stretch/>
          </p:blipFill>
          <p:spPr>
            <a:xfrm>
              <a:off x="4124311" y="2703555"/>
              <a:ext cx="3070739" cy="22593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7355" y="3352828"/>
              <a:ext cx="3186645" cy="763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7" name="Google Shape;217;p29"/>
          <p:cNvSpPr txBox="1"/>
          <p:nvPr/>
        </p:nvSpPr>
        <p:spPr>
          <a:xfrm>
            <a:off x="5094771" y="2449636"/>
            <a:ext cx="2567616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Parametric surfaces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/>
        </p:nvSpPr>
        <p:spPr>
          <a:xfrm>
            <a:off x="6169184" y="86257"/>
            <a:ext cx="2289016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Fundamental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1139406" y="91527"/>
            <a:ext cx="2289016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Fundamental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9020"/>
            <a:ext cx="4511667" cy="2729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111" y="3756113"/>
            <a:ext cx="4129607" cy="125481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0"/>
          <p:cNvSpPr txBox="1"/>
          <p:nvPr/>
        </p:nvSpPr>
        <p:spPr>
          <a:xfrm>
            <a:off x="1101379" y="3321208"/>
            <a:ext cx="2289016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Curvature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30"/>
          <p:cNvGrpSpPr/>
          <p:nvPr/>
        </p:nvGrpSpPr>
        <p:grpSpPr>
          <a:xfrm>
            <a:off x="4721087" y="3001617"/>
            <a:ext cx="4203802" cy="2141883"/>
            <a:chOff x="4721087" y="3001617"/>
            <a:chExt cx="4203802" cy="2141883"/>
          </a:xfrm>
        </p:grpSpPr>
        <p:pic>
          <p:nvPicPr>
            <p:cNvPr id="228" name="Google Shape;228;p30"/>
            <p:cNvPicPr preferRelativeResize="0"/>
            <p:nvPr/>
          </p:nvPicPr>
          <p:blipFill rotWithShape="1">
            <a:blip r:embed="rId5">
              <a:alphaModFix/>
            </a:blip>
            <a:srcRect b="0" l="0" r="0" t="14369"/>
            <a:stretch/>
          </p:blipFill>
          <p:spPr>
            <a:xfrm>
              <a:off x="4721087" y="3001617"/>
              <a:ext cx="4203802" cy="21418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30"/>
            <p:cNvSpPr txBox="1"/>
            <p:nvPr/>
          </p:nvSpPr>
          <p:spPr>
            <a:xfrm>
              <a:off x="4721087" y="4914176"/>
              <a:ext cx="473765" cy="1935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30"/>
          <p:cNvGrpSpPr/>
          <p:nvPr/>
        </p:nvGrpSpPr>
        <p:grpSpPr>
          <a:xfrm>
            <a:off x="4632335" y="447098"/>
            <a:ext cx="4365249" cy="2406056"/>
            <a:chOff x="4632335" y="447098"/>
            <a:chExt cx="4365249" cy="2406056"/>
          </a:xfrm>
        </p:grpSpPr>
        <p:pic>
          <p:nvPicPr>
            <p:cNvPr id="231" name="Google Shape;231;p3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32335" y="476292"/>
              <a:ext cx="4365249" cy="23768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30"/>
            <p:cNvSpPr txBox="1"/>
            <p:nvPr/>
          </p:nvSpPr>
          <p:spPr>
            <a:xfrm>
              <a:off x="4823740" y="2637128"/>
              <a:ext cx="473765" cy="1935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0"/>
            <p:cNvSpPr txBox="1"/>
            <p:nvPr/>
          </p:nvSpPr>
          <p:spPr>
            <a:xfrm>
              <a:off x="4823740" y="447098"/>
              <a:ext cx="473765" cy="1935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/>
        </p:nvSpPr>
        <p:spPr>
          <a:xfrm>
            <a:off x="6520070" y="63816"/>
            <a:ext cx="2528056" cy="500107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Eight visible Surface types from signs of curvatures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9" name="Google Shape;239;p31"/>
          <p:cNvPicPr preferRelativeResize="0"/>
          <p:nvPr/>
        </p:nvPicPr>
        <p:blipFill rotWithShape="1">
          <a:blip r:embed="rId3">
            <a:alphaModFix/>
          </a:blip>
          <a:srcRect b="0" l="0" r="0" t="8826"/>
          <a:stretch/>
        </p:blipFill>
        <p:spPr>
          <a:xfrm>
            <a:off x="240925" y="0"/>
            <a:ext cx="4940300" cy="324212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1"/>
          <p:cNvSpPr txBox="1"/>
          <p:nvPr/>
        </p:nvSpPr>
        <p:spPr>
          <a:xfrm>
            <a:off x="567294" y="171537"/>
            <a:ext cx="3612232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map, Gaussian and Mean curvatures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147290"/>
            <a:ext cx="36576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0732" y="653989"/>
            <a:ext cx="2603500" cy="43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/>
        </p:nvSpPr>
        <p:spPr>
          <a:xfrm>
            <a:off x="2506940" y="33973"/>
            <a:ext cx="3612232" cy="34621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curvatures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0" y="358213"/>
            <a:ext cx="862611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we talk about curvature, we’re asking: </a:t>
            </a: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this surface bend around you?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0" y="704300"/>
            <a:ext cx="3351600" cy="346200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Curvature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76964"/>
            <a:ext cx="4572000" cy="268214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2"/>
          <p:cNvSpPr txBox="1"/>
          <p:nvPr/>
        </p:nvSpPr>
        <p:spPr>
          <a:xfrm>
            <a:off x="5016997" y="704300"/>
            <a:ext cx="2893200" cy="346200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Gaussian Curvature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32"/>
          <p:cNvPicPr preferRelativeResize="0"/>
          <p:nvPr/>
        </p:nvPicPr>
        <p:blipFill rotWithShape="1">
          <a:blip r:embed="rId4">
            <a:alphaModFix/>
          </a:blip>
          <a:srcRect b="0" l="0" r="0" t="6829"/>
          <a:stretch/>
        </p:blipFill>
        <p:spPr>
          <a:xfrm>
            <a:off x="4572000" y="1103250"/>
            <a:ext cx="4415365" cy="40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3"/>
          <p:cNvPicPr preferRelativeResize="0"/>
          <p:nvPr/>
        </p:nvPicPr>
        <p:blipFill rotWithShape="1">
          <a:blip r:embed="rId3">
            <a:alphaModFix/>
          </a:blip>
          <a:srcRect b="0" l="0" r="0" t="11549"/>
          <a:stretch/>
        </p:blipFill>
        <p:spPr>
          <a:xfrm>
            <a:off x="41462" y="138224"/>
            <a:ext cx="4203123" cy="2907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3"/>
          <p:cNvSpPr txBox="1"/>
          <p:nvPr/>
        </p:nvSpPr>
        <p:spPr>
          <a:xfrm>
            <a:off x="1928823" y="0"/>
            <a:ext cx="2991900" cy="346200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Curvature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3"/>
          <p:cNvSpPr txBox="1"/>
          <p:nvPr/>
        </p:nvSpPr>
        <p:spPr>
          <a:xfrm>
            <a:off x="4374104" y="2750925"/>
            <a:ext cx="3466200" cy="346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Analogy for Curvatures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5098" y="3193490"/>
            <a:ext cx="6230177" cy="19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/>
        </p:nvSpPr>
        <p:spPr>
          <a:xfrm>
            <a:off x="1301708" y="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34"/>
          <p:cNvSpPr txBox="1"/>
          <p:nvPr/>
        </p:nvSpPr>
        <p:spPr>
          <a:xfrm>
            <a:off x="942353" y="1398453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7" name="Google Shape;26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128" y="284663"/>
            <a:ext cx="3522594" cy="971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128" y="1941701"/>
            <a:ext cx="4545511" cy="3067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87616" y="71164"/>
            <a:ext cx="3607905" cy="288032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 txBox="1"/>
          <p:nvPr/>
        </p:nvSpPr>
        <p:spPr>
          <a:xfrm>
            <a:off x="5709400" y="2866972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- 2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0639" y="3210072"/>
            <a:ext cx="35433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6281"/>
            <a:ext cx="4184374" cy="232987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5"/>
          <p:cNvSpPr txBox="1"/>
          <p:nvPr/>
        </p:nvSpPr>
        <p:spPr>
          <a:xfrm>
            <a:off x="1200770" y="0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8" name="Google Shape;27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536" y="284663"/>
            <a:ext cx="4260673" cy="238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8285" y="2750448"/>
            <a:ext cx="3812552" cy="2393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/>
        </p:nvSpPr>
        <p:spPr>
          <a:xfrm>
            <a:off x="-1" y="16417"/>
            <a:ext cx="3463391" cy="284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and Roof Edges in Range Images</a:t>
            </a:r>
            <a:endParaRPr/>
          </a:p>
        </p:txBody>
      </p:sp>
      <p:sp>
        <p:nvSpPr>
          <p:cNvPr id="285" name="Google Shape;285;p36"/>
          <p:cNvSpPr txBox="1"/>
          <p:nvPr/>
        </p:nvSpPr>
        <p:spPr>
          <a:xfrm>
            <a:off x="-1" y="301080"/>
            <a:ext cx="8745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images,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discontinuities often occur. Two important types of discontinuities (or edges) are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edges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roof edges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</p:txBody>
      </p:sp>
      <p:sp>
        <p:nvSpPr>
          <p:cNvPr id="286" name="Google Shape;286;p36"/>
          <p:cNvSpPr txBox="1"/>
          <p:nvPr/>
        </p:nvSpPr>
        <p:spPr>
          <a:xfrm>
            <a:off x="-2" y="1166975"/>
            <a:ext cx="596383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step edge occurs when there is a </a:t>
            </a: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sudden change in depth (range value)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adjacent pixels.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Interpretation: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happens at </a:t>
            </a: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boundaries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occluding edges where one object ends and another (or the background) begins.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Appearance in range images: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sharp jump in pixel values.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 between a box and the wall behind it.</a:t>
            </a:r>
            <a:endParaRPr/>
          </a:p>
        </p:txBody>
      </p:sp>
      <p:sp>
        <p:nvSpPr>
          <p:cNvPr id="287" name="Google Shape;287;p36"/>
          <p:cNvSpPr txBox="1"/>
          <p:nvPr/>
        </p:nvSpPr>
        <p:spPr>
          <a:xfrm>
            <a:off x="24000" y="889558"/>
            <a:ext cx="2565451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Edges in Range Images</a:t>
            </a:r>
            <a:endParaRPr/>
          </a:p>
        </p:txBody>
      </p:sp>
      <p:sp>
        <p:nvSpPr>
          <p:cNvPr id="288" name="Google Shape;288;p36"/>
          <p:cNvSpPr txBox="1"/>
          <p:nvPr/>
        </p:nvSpPr>
        <p:spPr>
          <a:xfrm>
            <a:off x="24000" y="2567647"/>
            <a:ext cx="2565451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Roof Edges in Range Images</a:t>
            </a:r>
            <a:endParaRPr/>
          </a:p>
        </p:txBody>
      </p:sp>
      <p:sp>
        <p:nvSpPr>
          <p:cNvPr id="289" name="Google Shape;289;p36"/>
          <p:cNvSpPr txBox="1"/>
          <p:nvPr/>
        </p:nvSpPr>
        <p:spPr>
          <a:xfrm>
            <a:off x="24000" y="2788197"/>
            <a:ext cx="593982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roof edge occurs when the depth values </a:t>
            </a: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gradually to a peak or ridge and then decrease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Interpretation: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represents a </a:t>
            </a: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surface discontinuity due to curvature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often at ridges or corners of an object where two faces meet smoothly.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Appearance in range images: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line of local maxima/minima in depth gradient.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edge along the ridge of a roof, or the sharp fold on the corner of a cube.</a:t>
            </a:r>
            <a:endParaRPr/>
          </a:p>
        </p:txBody>
      </p:sp>
      <p:graphicFrame>
        <p:nvGraphicFramePr>
          <p:cNvPr id="290" name="Google Shape;290;p36"/>
          <p:cNvGraphicFramePr/>
          <p:nvPr/>
        </p:nvGraphicFramePr>
        <p:xfrm>
          <a:off x="1306724" y="4054937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9B5FF"/>
                    </a:gs>
                    <a:gs pos="35000">
                      <a:srgbClr val="B9CBFF"/>
                    </a:gs>
                    <a:gs pos="100000">
                      <a:srgbClr val="E2E9FF"/>
                    </a:gs>
                  </a:gsLst>
                  <a:lin ang="16200000" scaled="0"/>
                </a:gradFill>
                <a:tableStyleId>{04E93DF7-F4BD-48E9-B125-BA9540786C1A}</a:tableStyleId>
              </a:tblPr>
              <a:tblGrid>
                <a:gridCol w="1421675"/>
                <a:gridCol w="2117500"/>
                <a:gridCol w="2332850"/>
              </a:tblGrid>
              <a:tr h="21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Step Edge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Roof Edge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1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Depth change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Abrupt jump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Gradual slope with a peak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1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Occurs at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 boundary / occlusion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Ridge, crease, or fold on a surface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58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Gradient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high, sudden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at the peak, zero at the ridge center</a:t>
                      </a:r>
                      <a:endParaRPr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291" name="Google Shape;29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2606" y="642982"/>
            <a:ext cx="2047394" cy="146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8228" y="1816157"/>
            <a:ext cx="2806700" cy="113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6406" y="2999534"/>
            <a:ext cx="26924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/>
        </p:nvSpPr>
        <p:spPr>
          <a:xfrm>
            <a:off x="0" y="15182"/>
            <a:ext cx="2023009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Characterizing Edges</a:t>
            </a:r>
            <a:endParaRPr/>
          </a:p>
        </p:txBody>
      </p:sp>
      <p:pic>
        <p:nvPicPr>
          <p:cNvPr id="299" name="Google Shape;29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6504" y="111857"/>
            <a:ext cx="4487155" cy="255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7"/>
          <p:cNvSpPr txBox="1"/>
          <p:nvPr/>
        </p:nvSpPr>
        <p:spPr>
          <a:xfrm>
            <a:off x="1587386" y="2959424"/>
            <a:ext cx="1666960" cy="2846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</a:t>
            </a:r>
            <a:endParaRPr/>
          </a:p>
        </p:txBody>
      </p:sp>
      <p:sp>
        <p:nvSpPr>
          <p:cNvPr id="301" name="Google Shape;301;p37"/>
          <p:cNvSpPr txBox="1"/>
          <p:nvPr/>
        </p:nvSpPr>
        <p:spPr>
          <a:xfrm>
            <a:off x="5889655" y="2678085"/>
            <a:ext cx="2445142" cy="284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Multi-scale edge tracking</a:t>
            </a:r>
            <a:endParaRPr/>
          </a:p>
        </p:txBody>
      </p:sp>
      <p:pic>
        <p:nvPicPr>
          <p:cNvPr id="302" name="Google Shape;30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7610" y="3024118"/>
            <a:ext cx="3241465" cy="200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59" y="299845"/>
            <a:ext cx="4470400" cy="25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59" y="3253643"/>
            <a:ext cx="5499100" cy="17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72" y="284662"/>
            <a:ext cx="4186988" cy="164124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8"/>
          <p:cNvSpPr txBox="1"/>
          <p:nvPr/>
        </p:nvSpPr>
        <p:spPr>
          <a:xfrm>
            <a:off x="1301708" y="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- 3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5848217" y="9532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2" name="Google Shape;312;p38"/>
          <p:cNvGrpSpPr/>
          <p:nvPr/>
        </p:nvGrpSpPr>
        <p:grpSpPr>
          <a:xfrm>
            <a:off x="4814840" y="284662"/>
            <a:ext cx="4329160" cy="2750909"/>
            <a:chOff x="4814840" y="284662"/>
            <a:chExt cx="4329160" cy="2750909"/>
          </a:xfrm>
        </p:grpSpPr>
        <p:pic>
          <p:nvPicPr>
            <p:cNvPr id="313" name="Google Shape;31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43050" y="284662"/>
              <a:ext cx="3604440" cy="22205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14840" y="2525057"/>
              <a:ext cx="4329160" cy="510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5" name="Google Shape;315;p38"/>
          <p:cNvGrpSpPr/>
          <p:nvPr/>
        </p:nvGrpSpPr>
        <p:grpSpPr>
          <a:xfrm>
            <a:off x="142172" y="2010189"/>
            <a:ext cx="4172602" cy="3103906"/>
            <a:chOff x="142172" y="2010189"/>
            <a:chExt cx="4172602" cy="3103906"/>
          </a:xfrm>
        </p:grpSpPr>
        <p:pic>
          <p:nvPicPr>
            <p:cNvPr id="316" name="Google Shape;316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2172" y="2010189"/>
              <a:ext cx="3746612" cy="25634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2172" y="4603581"/>
              <a:ext cx="4172602" cy="51051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8" name="Google Shape;318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125" y="3445030"/>
            <a:ext cx="4366289" cy="115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/>
        </p:nvSpPr>
        <p:spPr>
          <a:xfrm>
            <a:off x="0" y="16417"/>
            <a:ext cx="3884178" cy="284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Segmentation into Planes via Region Growing</a:t>
            </a:r>
            <a:endParaRPr/>
          </a:p>
        </p:txBody>
      </p:sp>
      <p:sp>
        <p:nvSpPr>
          <p:cNvPr id="324" name="Google Shape;324;p39"/>
          <p:cNvSpPr txBox="1"/>
          <p:nvPr/>
        </p:nvSpPr>
        <p:spPr>
          <a:xfrm>
            <a:off x="4785853" y="2742"/>
            <a:ext cx="4264503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image segmentation: Morphological approach</a:t>
            </a:r>
            <a:endParaRPr/>
          </a:p>
        </p:txBody>
      </p:sp>
      <p:sp>
        <p:nvSpPr>
          <p:cNvPr id="325" name="Google Shape;325;p39"/>
          <p:cNvSpPr txBox="1"/>
          <p:nvPr/>
        </p:nvSpPr>
        <p:spPr>
          <a:xfrm>
            <a:off x="28807" y="411683"/>
            <a:ext cx="4924241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have a </a:t>
            </a: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image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(depth map), surfaces of real-world objects often form </a:t>
            </a: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planar regions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(like walls, floors, table surfaces).</a:t>
            </a:r>
            <a:b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growing method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segmentation approach where: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pick a </a:t>
            </a: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seed pixel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(starting point).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check its </a:t>
            </a: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neighborhood pixels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neighbors have </a:t>
            </a: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plane properties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(i.e., they belong to the same plane), we add them to the region.</a:t>
            </a:r>
            <a:endParaRPr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continues until no more pixels can be added.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it “grows” a region corresponding to one plane in the scene. This is useful in </a:t>
            </a:r>
            <a:r>
              <a:rPr b="1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reconstruction, robotics, and object recognition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326" name="Google Shape;3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1188" y="301079"/>
            <a:ext cx="4399168" cy="1393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0713" y="1695979"/>
            <a:ext cx="4409644" cy="113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9035" y="2837895"/>
            <a:ext cx="2982806" cy="79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807" y="2461278"/>
            <a:ext cx="4851400" cy="24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64150" y="3634971"/>
            <a:ext cx="2730500" cy="1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5935"/>
            <a:ext cx="2747865" cy="315287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 txBox="1"/>
          <p:nvPr/>
        </p:nvSpPr>
        <p:spPr>
          <a:xfrm>
            <a:off x="49478" y="23982"/>
            <a:ext cx="2842809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3-D Neighborhood of a point p</a:t>
            </a:r>
            <a:endParaRPr/>
          </a:p>
        </p:txBody>
      </p:sp>
      <p:sp>
        <p:nvSpPr>
          <p:cNvPr id="337" name="Google Shape;337;p40"/>
          <p:cNvSpPr txBox="1"/>
          <p:nvPr/>
        </p:nvSpPr>
        <p:spPr>
          <a:xfrm>
            <a:off x="6904961" y="2571750"/>
            <a:ext cx="1666960" cy="2846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</a:t>
            </a:r>
            <a:endParaRPr/>
          </a:p>
        </p:txBody>
      </p:sp>
      <p:pic>
        <p:nvPicPr>
          <p:cNvPr id="338" name="Google Shape;33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3803" y="166313"/>
            <a:ext cx="35433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0013" y="2714081"/>
            <a:ext cx="32639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3722" y="137545"/>
            <a:ext cx="2590800" cy="2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2104" y="3133198"/>
            <a:ext cx="3505200" cy="17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"/>
          <p:cNvSpPr txBox="1"/>
          <p:nvPr/>
        </p:nvSpPr>
        <p:spPr>
          <a:xfrm>
            <a:off x="0" y="16417"/>
            <a:ext cx="2504661" cy="284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 of range data</a:t>
            </a:r>
            <a:endParaRPr/>
          </a:p>
        </p:txBody>
      </p:sp>
      <p:sp>
        <p:nvSpPr>
          <p:cNvPr id="347" name="Google Shape;347;p41"/>
          <p:cNvSpPr txBox="1"/>
          <p:nvPr/>
        </p:nvSpPr>
        <p:spPr>
          <a:xfrm>
            <a:off x="-1" y="301080"/>
            <a:ext cx="91440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range data is the process of aligning two or more </a:t>
            </a: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images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(or 3D point clouds) of the same object or scene into a </a:t>
            </a: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coordinate system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 image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(or point cloud) is captured from a specific viewpoint (e.g., by a laser scanner, LiDAR, or depth camera).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one viewpoint only covers part of the object, we need to </a:t>
            </a: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multiple views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reconstruct the whole 3D shape.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 finds the </a:t>
            </a: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rigid transformation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(rotation + translation) that best aligns these partial scans.</a:t>
            </a:r>
            <a:endParaRPr/>
          </a:p>
        </p:txBody>
      </p:sp>
      <p:pic>
        <p:nvPicPr>
          <p:cNvPr id="348" name="Google Shape;34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5627" y="2800192"/>
            <a:ext cx="5198372" cy="211785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1"/>
          <p:cNvSpPr txBox="1"/>
          <p:nvPr/>
        </p:nvSpPr>
        <p:spPr>
          <a:xfrm>
            <a:off x="5347044" y="2285974"/>
            <a:ext cx="2395537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 in Registration</a:t>
            </a:r>
            <a:endParaRPr/>
          </a:p>
        </p:txBody>
      </p:sp>
      <p:pic>
        <p:nvPicPr>
          <p:cNvPr id="350" name="Google Shape;35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79" y="2555847"/>
            <a:ext cx="39624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"/>
          <p:cNvSpPr txBox="1"/>
          <p:nvPr/>
        </p:nvSpPr>
        <p:spPr>
          <a:xfrm>
            <a:off x="56726" y="10716"/>
            <a:ext cx="3636283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Estimation of rigid body transformation</a:t>
            </a:r>
            <a:endParaRPr/>
          </a:p>
        </p:txBody>
      </p:sp>
      <p:sp>
        <p:nvSpPr>
          <p:cNvPr id="356" name="Google Shape;356;p42"/>
          <p:cNvSpPr txBox="1"/>
          <p:nvPr/>
        </p:nvSpPr>
        <p:spPr>
          <a:xfrm>
            <a:off x="56726" y="2613461"/>
            <a:ext cx="4654422" cy="2846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Iterative Closest Point (ICP) Registration Algorithm</a:t>
            </a:r>
            <a:endParaRPr/>
          </a:p>
        </p:txBody>
      </p:sp>
      <p:sp>
        <p:nvSpPr>
          <p:cNvPr id="357" name="Google Shape;357;p42"/>
          <p:cNvSpPr txBox="1"/>
          <p:nvPr/>
        </p:nvSpPr>
        <p:spPr>
          <a:xfrm>
            <a:off x="77686" y="2939835"/>
            <a:ext cx="81519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Iteratively finds closest points between two scans and updates transformation until convergence.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8" name="Google Shape;35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86" y="294839"/>
            <a:ext cx="3886200" cy="2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1073" y="161306"/>
            <a:ext cx="3962400" cy="26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6483" y="3213693"/>
            <a:ext cx="38227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0343" y="3221516"/>
            <a:ext cx="1676400" cy="19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3"/>
          <p:cNvSpPr txBox="1"/>
          <p:nvPr/>
        </p:nvSpPr>
        <p:spPr>
          <a:xfrm>
            <a:off x="1260348" y="969911"/>
            <a:ext cx="7197365" cy="33932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types of range sensors - Stereo imaging, Time of flight, Triangulation through scanning beams, Structured light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Differential geometry in extracting local features of a pixel (point) in a range image - Surface normal, Principal Curvatures, Gaussian curvature, mean curvature.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Characterization of step and roof edges.</a:t>
            </a:r>
            <a:endParaRPr/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Segmenting range images into planar patches.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 of range images.</a:t>
            </a:r>
            <a:endParaRPr/>
          </a:p>
        </p:txBody>
      </p:sp>
      <p:sp>
        <p:nvSpPr>
          <p:cNvPr id="367" name="Google Shape;367;p43"/>
          <p:cNvSpPr txBox="1"/>
          <p:nvPr/>
        </p:nvSpPr>
        <p:spPr>
          <a:xfrm>
            <a:off x="1538924" y="283105"/>
            <a:ext cx="6066149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on which Week 9 Assignment Questions are based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4"/>
          <p:cNvSpPr txBox="1"/>
          <p:nvPr/>
        </p:nvSpPr>
        <p:spPr>
          <a:xfrm>
            <a:off x="0" y="7168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4"/>
          <p:cNvSpPr txBox="1"/>
          <p:nvPr/>
        </p:nvSpPr>
        <p:spPr>
          <a:xfrm>
            <a:off x="148293" y="210836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4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4"/>
          <p:cNvSpPr txBox="1"/>
          <p:nvPr/>
        </p:nvSpPr>
        <p:spPr>
          <a:xfrm>
            <a:off x="3017817" y="4763840"/>
            <a:ext cx="664060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7" name="Google Shape;377;p44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8" name="Google Shape;378;p44"/>
          <p:cNvSpPr txBox="1"/>
          <p:nvPr/>
        </p:nvSpPr>
        <p:spPr>
          <a:xfrm>
            <a:off x="0" y="347698"/>
            <a:ext cx="9069494" cy="138495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634" l="-279" r="0" t="-9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79" name="Google Shape;37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293" y="2571750"/>
            <a:ext cx="5739048" cy="134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"/>
          <p:cNvSpPr txBox="1"/>
          <p:nvPr/>
        </p:nvSpPr>
        <p:spPr>
          <a:xfrm>
            <a:off x="0" y="5656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45"/>
          <p:cNvSpPr txBox="1"/>
          <p:nvPr/>
        </p:nvSpPr>
        <p:spPr>
          <a:xfrm>
            <a:off x="-1" y="438374"/>
            <a:ext cx="8796043" cy="11464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is true about Microsoft kinect sensor: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Uses infrared laser light with speckle pattern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If a point is at a higher depth from the sensor, it looks more blurry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Uses the principle of structured light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All of the above</a:t>
            </a:r>
            <a:endParaRPr/>
          </a:p>
        </p:txBody>
      </p:sp>
      <p:sp>
        <p:nvSpPr>
          <p:cNvPr id="387" name="Google Shape;387;p45"/>
          <p:cNvSpPr txBox="1"/>
          <p:nvPr/>
        </p:nvSpPr>
        <p:spPr>
          <a:xfrm>
            <a:off x="0" y="1610020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45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45"/>
          <p:cNvSpPr txBox="1"/>
          <p:nvPr/>
        </p:nvSpPr>
        <p:spPr>
          <a:xfrm>
            <a:off x="3017817" y="4763840"/>
            <a:ext cx="688336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/>
          </a:p>
        </p:txBody>
      </p:sp>
      <p:cxnSp>
        <p:nvCxnSpPr>
          <p:cNvPr id="390" name="Google Shape;390;p45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91" name="Google Shape;39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44" y="2097081"/>
            <a:ext cx="4752047" cy="2608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6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46"/>
          <p:cNvSpPr txBox="1"/>
          <p:nvPr/>
        </p:nvSpPr>
        <p:spPr>
          <a:xfrm>
            <a:off x="0" y="432561"/>
            <a:ext cx="9034670" cy="1361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coefficients of first fundamental form are given by E = 5, F = 1, G = 3 and the coefficients of second fundamental form as e = 3, f = 7, g = 3. Compute the Gaussian curvature 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−23/7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−20/7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−8/8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23/4</a:t>
            </a:r>
            <a:endParaRPr/>
          </a:p>
        </p:txBody>
      </p:sp>
      <p:sp>
        <p:nvSpPr>
          <p:cNvPr id="399" name="Google Shape;399;p46"/>
          <p:cNvSpPr txBox="1"/>
          <p:nvPr/>
        </p:nvSpPr>
        <p:spPr>
          <a:xfrm>
            <a:off x="961534" y="94037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46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46"/>
          <p:cNvSpPr txBox="1"/>
          <p:nvPr/>
        </p:nvSpPr>
        <p:spPr>
          <a:xfrm>
            <a:off x="3017817" y="4763840"/>
            <a:ext cx="744058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/>
          </a:p>
        </p:txBody>
      </p:sp>
      <p:cxnSp>
        <p:nvCxnSpPr>
          <p:cNvPr id="402" name="Google Shape;402;p46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03" name="Google Shape;40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326" y="1394411"/>
            <a:ext cx="3618988" cy="1713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6"/>
          <p:cNvPicPr preferRelativeResize="0"/>
          <p:nvPr/>
        </p:nvPicPr>
        <p:blipFill rotWithShape="1">
          <a:blip r:embed="rId4">
            <a:alphaModFix/>
          </a:blip>
          <a:srcRect b="0" l="0" r="0" t="19244"/>
          <a:stretch/>
        </p:blipFill>
        <p:spPr>
          <a:xfrm>
            <a:off x="4493633" y="940376"/>
            <a:ext cx="4035286" cy="2621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6"/>
          <p:cNvPicPr preferRelativeResize="0"/>
          <p:nvPr/>
        </p:nvPicPr>
        <p:blipFill rotWithShape="1">
          <a:blip r:embed="rId5">
            <a:alphaModFix/>
          </a:blip>
          <a:srcRect b="0" l="0" r="0" t="63091"/>
          <a:stretch/>
        </p:blipFill>
        <p:spPr>
          <a:xfrm>
            <a:off x="4517335" y="4242507"/>
            <a:ext cx="4440734" cy="89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6"/>
          <p:cNvPicPr preferRelativeResize="0"/>
          <p:nvPr/>
        </p:nvPicPr>
        <p:blipFill rotWithShape="1">
          <a:blip r:embed="rId5">
            <a:alphaModFix/>
          </a:blip>
          <a:srcRect b="75654" l="0" r="15208" t="0"/>
          <a:stretch/>
        </p:blipFill>
        <p:spPr>
          <a:xfrm>
            <a:off x="4493633" y="3561956"/>
            <a:ext cx="4193099" cy="65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081" y="3467750"/>
            <a:ext cx="3451296" cy="1234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/>
        </p:nvSpPr>
        <p:spPr>
          <a:xfrm>
            <a:off x="13348" y="-1127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47"/>
          <p:cNvSpPr txBox="1"/>
          <p:nvPr/>
        </p:nvSpPr>
        <p:spPr>
          <a:xfrm>
            <a:off x="13348" y="1721573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47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47"/>
          <p:cNvSpPr txBox="1"/>
          <p:nvPr/>
        </p:nvSpPr>
        <p:spPr>
          <a:xfrm>
            <a:off x="3017816" y="4763840"/>
            <a:ext cx="1097835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b), 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7" name="Google Shape;417;p47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8" name="Google Shape;418;p47"/>
          <p:cNvSpPr txBox="1"/>
          <p:nvPr/>
        </p:nvSpPr>
        <p:spPr>
          <a:xfrm>
            <a:off x="-5917" y="334972"/>
            <a:ext cx="8833402" cy="13003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the correct option: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Eight illumination levels are used in binary coding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n patterns must be projected in order to encode 2n stripes in space encoding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Every encoded point in binary encoding is identified by the sequence of occurrences that it receives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Every decoded point in space encoding is identified by the sequence of intensities that it receives)</a:t>
            </a:r>
            <a:endParaRPr/>
          </a:p>
        </p:txBody>
      </p:sp>
      <p:pic>
        <p:nvPicPr>
          <p:cNvPr id="419" name="Google Shape;41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52" y="2100078"/>
            <a:ext cx="6038969" cy="2631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8"/>
          <p:cNvSpPr txBox="1"/>
          <p:nvPr/>
        </p:nvSpPr>
        <p:spPr>
          <a:xfrm>
            <a:off x="0" y="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48"/>
          <p:cNvSpPr txBox="1"/>
          <p:nvPr/>
        </p:nvSpPr>
        <p:spPr>
          <a:xfrm>
            <a:off x="2705890" y="924535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48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48"/>
          <p:cNvSpPr txBox="1"/>
          <p:nvPr/>
        </p:nvSpPr>
        <p:spPr>
          <a:xfrm>
            <a:off x="3017816" y="4763840"/>
            <a:ext cx="10461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9" name="Google Shape;429;p48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0" name="Google Shape;430;p48"/>
          <p:cNvSpPr txBox="1"/>
          <p:nvPr/>
        </p:nvSpPr>
        <p:spPr>
          <a:xfrm>
            <a:off x="0" y="346249"/>
            <a:ext cx="9027800" cy="138495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634" l="-279" r="-279" t="-9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431" name="Google Shape;43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0887" y="1270784"/>
            <a:ext cx="6468288" cy="18861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" name="Google Shape;432;p48"/>
          <p:cNvGrpSpPr/>
          <p:nvPr/>
        </p:nvGrpSpPr>
        <p:grpSpPr>
          <a:xfrm>
            <a:off x="177800" y="3180857"/>
            <a:ext cx="7772400" cy="1423586"/>
            <a:chOff x="58100" y="3180856"/>
            <a:chExt cx="7772400" cy="1423586"/>
          </a:xfrm>
        </p:grpSpPr>
        <p:pic>
          <p:nvPicPr>
            <p:cNvPr id="433" name="Google Shape;433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0312" y="3180856"/>
              <a:ext cx="4140200" cy="35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4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100" y="3497429"/>
              <a:ext cx="7772400" cy="11070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9"/>
          <p:cNvSpPr txBox="1"/>
          <p:nvPr/>
        </p:nvSpPr>
        <p:spPr>
          <a:xfrm>
            <a:off x="0" y="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49"/>
          <p:cNvSpPr txBox="1"/>
          <p:nvPr/>
        </p:nvSpPr>
        <p:spPr>
          <a:xfrm>
            <a:off x="47019" y="1605018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49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49"/>
          <p:cNvSpPr txBox="1"/>
          <p:nvPr/>
        </p:nvSpPr>
        <p:spPr>
          <a:xfrm>
            <a:off x="3017815" y="4763840"/>
            <a:ext cx="866361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a), </a:t>
            </a:r>
            <a:r>
              <a:rPr b="1" lang="en-I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cxnSp>
        <p:nvCxnSpPr>
          <p:cNvPr id="444" name="Google Shape;444;p49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5" name="Google Shape;445;p49"/>
          <p:cNvSpPr txBox="1"/>
          <p:nvPr/>
        </p:nvSpPr>
        <p:spPr>
          <a:xfrm>
            <a:off x="0" y="341471"/>
            <a:ext cx="88335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statements are not true for detection of edges in a range image?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Roof edge points are detected from zero crossings of Gaussian curvature.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Step edge points are detected from zero crossings of Gaussian curvature.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Step edge points are detected by the extrema of dominant principal curvature corresponding to its direction.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Roof edge points are detected by the extrema of dominant principal curvature corresponding to its direction.</a:t>
            </a:r>
            <a:endParaRPr/>
          </a:p>
        </p:txBody>
      </p:sp>
      <p:sp>
        <p:nvSpPr>
          <p:cNvPr id="446" name="Google Shape;446;p49"/>
          <p:cNvSpPr txBox="1"/>
          <p:nvPr/>
        </p:nvSpPr>
        <p:spPr>
          <a:xfrm>
            <a:off x="87743" y="2942876"/>
            <a:ext cx="44842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447" name="Google Shape;447;p49"/>
          <p:cNvPicPr preferRelativeResize="0"/>
          <p:nvPr/>
        </p:nvPicPr>
        <p:blipFill rotWithShape="1">
          <a:blip r:embed="rId3">
            <a:alphaModFix/>
          </a:blip>
          <a:srcRect b="0" l="0" r="0" t="50814"/>
          <a:stretch/>
        </p:blipFill>
        <p:spPr>
          <a:xfrm>
            <a:off x="0" y="3183072"/>
            <a:ext cx="4815202" cy="114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9"/>
          <p:cNvPicPr preferRelativeResize="0"/>
          <p:nvPr/>
        </p:nvPicPr>
        <p:blipFill rotWithShape="1">
          <a:blip r:embed="rId4">
            <a:alphaModFix/>
          </a:blip>
          <a:srcRect b="0" l="0" r="0" t="50765"/>
          <a:stretch/>
        </p:blipFill>
        <p:spPr>
          <a:xfrm>
            <a:off x="4659750" y="3183075"/>
            <a:ext cx="4466049" cy="121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0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50"/>
          <p:cNvSpPr txBox="1"/>
          <p:nvPr/>
        </p:nvSpPr>
        <p:spPr>
          <a:xfrm>
            <a:off x="1094747" y="1082467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50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50"/>
          <p:cNvSpPr txBox="1"/>
          <p:nvPr/>
        </p:nvSpPr>
        <p:spPr>
          <a:xfrm>
            <a:off x="3017815" y="4763840"/>
            <a:ext cx="728797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8" name="Google Shape;458;p50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9" name="Google Shape;459;p50"/>
          <p:cNvSpPr txBox="1"/>
          <p:nvPr/>
        </p:nvSpPr>
        <p:spPr>
          <a:xfrm>
            <a:off x="0" y="389969"/>
            <a:ext cx="888505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coefficients of first fundamental form are given by E = 2, F = 3, G = 7 and the coefficients of second fundamental form as e = 4, f = 0, g = 3. Compute the mean curvature H. (Answer upto 2 decimal places)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4.25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3.40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3.25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3</a:t>
            </a:r>
            <a:endParaRPr/>
          </a:p>
        </p:txBody>
      </p:sp>
      <p:pic>
        <p:nvPicPr>
          <p:cNvPr id="460" name="Google Shape;46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115" y="1436272"/>
            <a:ext cx="2993151" cy="331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7173" y="1124011"/>
            <a:ext cx="3916017" cy="4019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1"/>
          <p:cNvSpPr txBox="1"/>
          <p:nvPr/>
        </p:nvSpPr>
        <p:spPr>
          <a:xfrm>
            <a:off x="0" y="191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51"/>
          <p:cNvSpPr txBox="1"/>
          <p:nvPr/>
        </p:nvSpPr>
        <p:spPr>
          <a:xfrm>
            <a:off x="3726760" y="760323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51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51"/>
          <p:cNvSpPr txBox="1"/>
          <p:nvPr/>
        </p:nvSpPr>
        <p:spPr>
          <a:xfrm>
            <a:off x="3017817" y="4763840"/>
            <a:ext cx="1201258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a), b), c)</a:t>
            </a:r>
            <a:endParaRPr/>
          </a:p>
        </p:txBody>
      </p:sp>
      <p:cxnSp>
        <p:nvCxnSpPr>
          <p:cNvPr id="471" name="Google Shape;471;p51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72" name="Google Shape;47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51"/>
          <p:cNvSpPr txBox="1"/>
          <p:nvPr/>
        </p:nvSpPr>
        <p:spPr>
          <a:xfrm>
            <a:off x="9525" y="348673"/>
            <a:ext cx="899378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are examples of active imaging?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Time-of-flight sensors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Triangulation-based sensors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Structured light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Stereo imaging.</a:t>
            </a:r>
            <a:endParaRPr/>
          </a:p>
        </p:txBody>
      </p:sp>
      <p:pic>
        <p:nvPicPr>
          <p:cNvPr id="476" name="Google Shape;47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3068" y="1106572"/>
            <a:ext cx="5953815" cy="3509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2"/>
          <p:cNvSpPr txBox="1"/>
          <p:nvPr/>
        </p:nvSpPr>
        <p:spPr>
          <a:xfrm>
            <a:off x="-1" y="1252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52"/>
          <p:cNvSpPr txBox="1"/>
          <p:nvPr/>
        </p:nvSpPr>
        <p:spPr>
          <a:xfrm>
            <a:off x="102569" y="208768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52"/>
          <p:cNvSpPr txBox="1"/>
          <p:nvPr/>
        </p:nvSpPr>
        <p:spPr>
          <a:xfrm>
            <a:off x="-1" y="4763840"/>
            <a:ext cx="2817743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52"/>
          <p:cNvSpPr txBox="1"/>
          <p:nvPr/>
        </p:nvSpPr>
        <p:spPr>
          <a:xfrm>
            <a:off x="3301082" y="4771806"/>
            <a:ext cx="765592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86" name="Google Shape;486;p52"/>
          <p:cNvCxnSpPr/>
          <p:nvPr/>
        </p:nvCxnSpPr>
        <p:spPr>
          <a:xfrm>
            <a:off x="2964542" y="4944930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7" name="Google Shape;487;p52"/>
          <p:cNvSpPr txBox="1"/>
          <p:nvPr/>
        </p:nvSpPr>
        <p:spPr>
          <a:xfrm>
            <a:off x="0" y="439852"/>
            <a:ext cx="91440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uses laser radar (LADAR) sensors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Time-of-flight sensors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Triangulation-based sensors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Stereo imaging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Structured Light</a:t>
            </a:r>
            <a:endParaRPr/>
          </a:p>
        </p:txBody>
      </p:sp>
      <p:sp>
        <p:nvSpPr>
          <p:cNvPr id="488" name="Google Shape;488;p52"/>
          <p:cNvSpPr txBox="1"/>
          <p:nvPr/>
        </p:nvSpPr>
        <p:spPr>
          <a:xfrm>
            <a:off x="102569" y="2993295"/>
            <a:ext cx="77319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489" name="Google Shape;48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2571750"/>
            <a:ext cx="7772400" cy="1858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3"/>
          <p:cNvSpPr txBox="1"/>
          <p:nvPr/>
        </p:nvSpPr>
        <p:spPr>
          <a:xfrm>
            <a:off x="0" y="3344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53"/>
          <p:cNvSpPr txBox="1"/>
          <p:nvPr/>
        </p:nvSpPr>
        <p:spPr>
          <a:xfrm>
            <a:off x="45716" y="203969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53"/>
          <p:cNvSpPr txBox="1"/>
          <p:nvPr/>
        </p:nvSpPr>
        <p:spPr>
          <a:xfrm>
            <a:off x="-1" y="4763840"/>
            <a:ext cx="2688731" cy="346218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53"/>
          <p:cNvSpPr txBox="1"/>
          <p:nvPr/>
        </p:nvSpPr>
        <p:spPr>
          <a:xfrm>
            <a:off x="3127729" y="4771822"/>
            <a:ext cx="1115408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a), b), 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9" name="Google Shape;499;p53"/>
          <p:cNvCxnSpPr/>
          <p:nvPr/>
        </p:nvCxnSpPr>
        <p:spPr>
          <a:xfrm>
            <a:off x="2798643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0" name="Google Shape;500;p53"/>
          <p:cNvSpPr txBox="1"/>
          <p:nvPr/>
        </p:nvSpPr>
        <p:spPr>
          <a:xfrm>
            <a:off x="38437" y="417149"/>
            <a:ext cx="884423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the correct options regarding Digital Neighborhood Planes (DNPs) for a 3D neighborhood of a point p: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Number of principal planes are 3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Number of diagonal planes are 6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Total number of digital neighborhood planes are 9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Total number of digital neighborhood planes are 8</a:t>
            </a:r>
            <a:endParaRPr/>
          </a:p>
        </p:txBody>
      </p:sp>
      <p:pic>
        <p:nvPicPr>
          <p:cNvPr id="501" name="Google Shape;50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6" y="2399629"/>
            <a:ext cx="3498575" cy="2326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0622" y="2571750"/>
            <a:ext cx="3841473" cy="175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