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Tahoma"/>
      <p:regular r:id="rId37"/>
      <p:bold r:id="rId38"/>
    </p:embeddedFont>
    <p:embeddedFont>
      <p:font typeface="Arial Black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Tahoma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ArialBlack-regular.fntdata"/><Relationship Id="rId16" Type="http://schemas.openxmlformats.org/officeDocument/2006/relationships/slide" Target="slides/slide11.xml"/><Relationship Id="rId38" Type="http://schemas.openxmlformats.org/officeDocument/2006/relationships/font" Target="fonts/Tahoma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9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49.png"/><Relationship Id="rId5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Relationship Id="rId10" Type="http://schemas.openxmlformats.org/officeDocument/2006/relationships/image" Target="../media/image23.png"/><Relationship Id="rId9" Type="http://schemas.openxmlformats.org/officeDocument/2006/relationships/image" Target="../media/image21.png"/><Relationship Id="rId5" Type="http://schemas.openxmlformats.org/officeDocument/2006/relationships/image" Target="../media/image39.png"/><Relationship Id="rId6" Type="http://schemas.openxmlformats.org/officeDocument/2006/relationships/image" Target="../media/image25.png"/><Relationship Id="rId7" Type="http://schemas.openxmlformats.org/officeDocument/2006/relationships/image" Target="../media/image36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44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35.png"/><Relationship Id="rId5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5.png"/><Relationship Id="rId4" Type="http://schemas.openxmlformats.org/officeDocument/2006/relationships/image" Target="../media/image64.png"/><Relationship Id="rId5" Type="http://schemas.openxmlformats.org/officeDocument/2006/relationships/image" Target="../media/image38.png"/><Relationship Id="rId6" Type="http://schemas.openxmlformats.org/officeDocument/2006/relationships/image" Target="../media/image46.png"/><Relationship Id="rId7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Relationship Id="rId4" Type="http://schemas.openxmlformats.org/officeDocument/2006/relationships/image" Target="../media/image45.png"/><Relationship Id="rId5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0.png"/><Relationship Id="rId4" Type="http://schemas.openxmlformats.org/officeDocument/2006/relationships/image" Target="../media/image75.png"/><Relationship Id="rId5" Type="http://schemas.openxmlformats.org/officeDocument/2006/relationships/image" Target="../media/image61.png"/><Relationship Id="rId6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5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Relationship Id="rId4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8.png"/><Relationship Id="rId4" Type="http://schemas.openxmlformats.org/officeDocument/2006/relationships/image" Target="../media/image68.png"/><Relationship Id="rId5" Type="http://schemas.openxmlformats.org/officeDocument/2006/relationships/image" Target="../media/image74.png"/><Relationship Id="rId6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9.png"/><Relationship Id="rId4" Type="http://schemas.openxmlformats.org/officeDocument/2006/relationships/image" Target="../media/image76.png"/><Relationship Id="rId5" Type="http://schemas.openxmlformats.org/officeDocument/2006/relationships/image" Target="../media/image6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2.png"/><Relationship Id="rId4" Type="http://schemas.openxmlformats.org/officeDocument/2006/relationships/image" Target="../media/image77.png"/><Relationship Id="rId5" Type="http://schemas.openxmlformats.org/officeDocument/2006/relationships/image" Target="../media/image8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0.png"/><Relationship Id="rId4" Type="http://schemas.openxmlformats.org/officeDocument/2006/relationships/image" Target="../media/image79.png"/><Relationship Id="rId5" Type="http://schemas.openxmlformats.org/officeDocument/2006/relationships/image" Target="../media/image9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4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0.png"/><Relationship Id="rId4" Type="http://schemas.openxmlformats.org/officeDocument/2006/relationships/image" Target="../media/image86.png"/><Relationship Id="rId5" Type="http://schemas.openxmlformats.org/officeDocument/2006/relationships/image" Target="../media/image92.png"/><Relationship Id="rId6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80000"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2296980" y="128010"/>
            <a:ext cx="4550044" cy="1315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Week-7 (Discussion)</a:t>
            </a:r>
            <a:endParaRPr b="0" i="0" sz="1100" u="none" cap="none" strike="noStrike">
              <a:solidFill>
                <a:srgbClr val="F7CA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baseline="30000" i="0" lang="en-US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th </a:t>
            </a:r>
            <a:r>
              <a:rPr b="1" i="0" lang="en-US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Sept, 2025</a:t>
            </a:r>
            <a:endParaRPr b="1" i="0" sz="41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11" y="122195"/>
            <a:ext cx="1477652" cy="147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1774" y="122195"/>
            <a:ext cx="1133573" cy="12696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0" y="1922667"/>
            <a:ext cx="7105200" cy="1915879"/>
          </a:xfrm>
          <a:prstGeom prst="rect">
            <a:avLst/>
          </a:prstGeom>
          <a:solidFill>
            <a:srgbClr val="FBE4D4">
              <a:alpha val="74117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AC1684"/>
                </a:solidFill>
                <a:latin typeface="Arial Black"/>
                <a:ea typeface="Arial Black"/>
                <a:cs typeface="Arial Black"/>
                <a:sym typeface="Arial Black"/>
              </a:rPr>
              <a:t>Computer Vision</a:t>
            </a:r>
            <a:endParaRPr b="0" i="0" sz="1800" u="none" cap="none" strike="noStrike">
              <a:solidFill>
                <a:srgbClr val="AC168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Prof. Jayanta Mukhopadhyay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Professor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Computer Science and Engineering Department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" y="3965274"/>
            <a:ext cx="6440864" cy="107375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Ayan Paul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PMRF Research Scholar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1" i="0" sz="15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6084" y="1585053"/>
            <a:ext cx="3777916" cy="355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0" y="6709"/>
            <a:ext cx="2047285" cy="3154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Matching key points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0231" y="380077"/>
            <a:ext cx="4551769" cy="16004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149" l="-278" r="-555" t="-7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123101" y="22097"/>
            <a:ext cx="2524716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Distance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156621" y="2446356"/>
            <a:ext cx="2947691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few other similarity measures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36118" y="2370664"/>
            <a:ext cx="2947800" cy="28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131" y="2718761"/>
            <a:ext cx="3378200" cy="18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8178" y="380077"/>
            <a:ext cx="3310284" cy="188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90617" y="2914672"/>
            <a:ext cx="2679700" cy="19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/>
          </a:blip>
          <a:srcRect b="69339" l="0" r="0" t="0"/>
          <a:stretch/>
        </p:blipFill>
        <p:spPr>
          <a:xfrm>
            <a:off x="184881" y="362063"/>
            <a:ext cx="2922461" cy="46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42468"/>
            <a:ext cx="3901654" cy="98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4615" y="330154"/>
            <a:ext cx="4383156" cy="772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8386" y="1342468"/>
            <a:ext cx="4815614" cy="1428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5945" y="3180841"/>
            <a:ext cx="4037204" cy="825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40851" y="3180840"/>
            <a:ext cx="4115753" cy="183826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982281" y="1558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6371" y="995263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4453023" y="1022393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870466" y="2771100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014794" y="-17047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- 2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82281" y="2771099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- 3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45702"/>
          <a:stretch/>
        </p:blipFill>
        <p:spPr>
          <a:xfrm>
            <a:off x="0" y="319832"/>
            <a:ext cx="3558209" cy="41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27180"/>
          <a:stretch/>
        </p:blipFill>
        <p:spPr>
          <a:xfrm>
            <a:off x="42925" y="569778"/>
            <a:ext cx="4942383" cy="1179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1929" y="192788"/>
            <a:ext cx="3485456" cy="1697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62" y="2039753"/>
            <a:ext cx="3916017" cy="227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24272" y="1994721"/>
            <a:ext cx="4740766" cy="2540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39589" y="4562238"/>
            <a:ext cx="3492854" cy="581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232127" y="-1633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982281" y="1558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- 4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/>
        </p:nvSpPr>
        <p:spPr>
          <a:xfrm>
            <a:off x="74825" y="47934"/>
            <a:ext cx="1834896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Matching criteria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780534" y="11361"/>
            <a:ext cx="1834896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Matching histograms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25" y="425673"/>
            <a:ext cx="3835400" cy="19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039" y="2449149"/>
            <a:ext cx="332740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0011" y="296024"/>
            <a:ext cx="38989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30517" l="0" r="0" t="0"/>
          <a:stretch/>
        </p:blipFill>
        <p:spPr>
          <a:xfrm>
            <a:off x="1" y="369224"/>
            <a:ext cx="4641574" cy="115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835390"/>
            <a:ext cx="2146852" cy="23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8956" y="369224"/>
            <a:ext cx="3558208" cy="1152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9992" y="1872937"/>
            <a:ext cx="4035286" cy="7974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18"/>
          <p:cNvGrpSpPr/>
          <p:nvPr/>
        </p:nvGrpSpPr>
        <p:grpSpPr>
          <a:xfrm>
            <a:off x="208722" y="2421693"/>
            <a:ext cx="1933159" cy="936763"/>
            <a:chOff x="94424" y="2601060"/>
            <a:chExt cx="2763078" cy="1272273"/>
          </a:xfrm>
        </p:grpSpPr>
        <p:pic>
          <p:nvPicPr>
            <p:cNvPr id="148" name="Google Shape;148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4424" y="2601060"/>
              <a:ext cx="2226364" cy="9276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4424" y="3525720"/>
              <a:ext cx="2763078" cy="3476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0" name="Google Shape;15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01" y="3554362"/>
            <a:ext cx="3414090" cy="1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4860495"/>
            <a:ext cx="3737113" cy="2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0" y="1487318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982281" y="1558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- 5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5068956" y="10464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- 6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4714461" y="1550727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24250" y="2109183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- 7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1344506" y="3384183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4" y="1016673"/>
            <a:ext cx="3687417" cy="1555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148" y="2645116"/>
            <a:ext cx="3687417" cy="2498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53041" y="1619896"/>
            <a:ext cx="4064185" cy="925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2607818"/>
            <a:ext cx="4268534" cy="244172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826565" y="2177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- 8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139148" y="676142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13282" y="329449"/>
            <a:ext cx="6520070" cy="662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>
            <a:off x="53072" y="0"/>
            <a:ext cx="3505138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computation of feature matching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164496" y="95671"/>
            <a:ext cx="45720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Indexing/Hashing?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matching features: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image can have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thousands of descriptors.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Brute force search = compare every descriptor in Image A to all descriptors in Image B →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slow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large datasets.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Indexing and hashing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make nearest-neighbor search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much faster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72" y="2107096"/>
            <a:ext cx="4386342" cy="3019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3664160" y="1751311"/>
            <a:ext cx="1550507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K-D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160" y="307563"/>
            <a:ext cx="34290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3339" y="2259495"/>
            <a:ext cx="45720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70" y="490587"/>
            <a:ext cx="5522356" cy="325436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3282447" y="76329"/>
            <a:ext cx="2899692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Locality sensitive hashing (LSH)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21"/>
          <p:cNvGrpSpPr/>
          <p:nvPr/>
        </p:nvGrpSpPr>
        <p:grpSpPr>
          <a:xfrm>
            <a:off x="775252" y="3744954"/>
            <a:ext cx="7772400" cy="1322217"/>
            <a:chOff x="775252" y="3744954"/>
            <a:chExt cx="7772400" cy="1322217"/>
          </a:xfrm>
        </p:grpSpPr>
        <p:pic>
          <p:nvPicPr>
            <p:cNvPr id="186" name="Google Shape;18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5252" y="4085906"/>
              <a:ext cx="7772400" cy="981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93055" y="3744954"/>
              <a:ext cx="1878496" cy="36774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8" name="Google Shape;18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8130" y="728005"/>
            <a:ext cx="3352800" cy="21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22237"/>
            <a:ext cx="5605670" cy="337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02634"/>
            <a:ext cx="5100910" cy="3940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9933" y="2256182"/>
            <a:ext cx="1639620" cy="116139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1828800" y="65889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- 9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149087" y="952254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80590" y="1440505"/>
            <a:ext cx="5363410" cy="52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35067" y="2126974"/>
            <a:ext cx="4608933" cy="289975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6462202" y="1155842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- 10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6391082" y="1885250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/>
        </p:nvSpPr>
        <p:spPr>
          <a:xfrm>
            <a:off x="89452" y="1797896"/>
            <a:ext cx="47409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375">
            <a:spAutoFit/>
          </a:bodyPr>
          <a:lstStyle/>
          <a:p>
            <a:pPr indent="-250825" lvl="0" marL="266700" marR="326231" rtl="0" algn="l">
              <a:lnSpc>
                <a:spcPct val="156062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843"/>
              <a:buFont typeface="Noto Sans Symbols"/>
              <a:buChar char="■"/>
            </a:pPr>
            <a:r>
              <a:rPr b="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Given a set of data points fit a model to establish relationship among the data points.</a:t>
            </a:r>
            <a:endParaRPr b="0" i="0" sz="1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7962" lvl="1" marL="566738" marR="113348" rtl="0" algn="l">
              <a:lnSpc>
                <a:spcPct val="179416"/>
              </a:lnSpc>
              <a:spcBef>
                <a:spcPts val="454"/>
              </a:spcBef>
              <a:spcAft>
                <a:spcPts val="0"/>
              </a:spcAft>
              <a:buClr>
                <a:srgbClr val="FF0000"/>
              </a:buClr>
              <a:buSzPts val="550"/>
              <a:buFont typeface="Noto Sans Symbols"/>
              <a:buChar char="■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Homography matrix between pixels in two images of the same planar scene.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7962" lvl="1" marL="566738" marR="3810" rtl="0" algn="l">
              <a:lnSpc>
                <a:spcPct val="179416"/>
              </a:lnSpc>
              <a:spcBef>
                <a:spcPts val="446"/>
              </a:spcBef>
              <a:spcAft>
                <a:spcPts val="0"/>
              </a:spcAft>
              <a:buClr>
                <a:srgbClr val="FF0000"/>
              </a:buClr>
              <a:buSzPts val="550"/>
              <a:buFont typeface="Noto Sans Symbols"/>
              <a:buChar char="■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Fundamental matrix between corresponding points in two stereo images.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7962" lvl="1" marL="566738" marR="295751" rtl="0" algn="l">
              <a:lnSpc>
                <a:spcPct val="179416"/>
              </a:lnSpc>
              <a:spcBef>
                <a:spcPts val="446"/>
              </a:spcBef>
              <a:spcAft>
                <a:spcPts val="0"/>
              </a:spcAft>
              <a:buClr>
                <a:srgbClr val="FF0000"/>
              </a:buClr>
              <a:buSzPts val="550"/>
              <a:buFont typeface="Noto Sans Symbols"/>
              <a:buChar char="■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Given a set of 2-D points fit a straight line / parabolic curve / circle / a high degree polynomial curve passing through them.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0349" lvl="0" marL="266224" marR="0" rtl="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>
                <a:srgbClr val="3333CC"/>
              </a:buClr>
              <a:buSzPts val="843"/>
              <a:buFont typeface="Noto Sans Symbols"/>
              <a:buChar char="■"/>
            </a:pPr>
            <a:r>
              <a:rPr b="0" i="0" lang="en-US" sz="1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Obtain data points and fit appropriate model.</a:t>
            </a:r>
            <a:endParaRPr b="0" i="0" sz="1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7485" lvl="1" marL="566261" marR="0" rtl="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rgbClr val="FF0000"/>
              </a:buClr>
              <a:buSzPts val="550"/>
              <a:buFont typeface="Noto Sans Symbols"/>
              <a:buChar char="■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Preprocessing, feature detection-description-matching.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1" y="6709"/>
            <a:ext cx="1709530" cy="3154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fitting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52" y="322150"/>
            <a:ext cx="7616434" cy="147574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6175513" y="1917694"/>
            <a:ext cx="1709530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Choice of a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4967909" y="2498682"/>
            <a:ext cx="4124739" cy="256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325">
            <a:spAutoFit/>
          </a:bodyPr>
          <a:lstStyle/>
          <a:p>
            <a:pPr indent="-256699" lvl="0" marL="26622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825"/>
              <a:buFont typeface="Noto Sans Symbols"/>
              <a:buChar char="■"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Error of fitting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3835" lvl="1" marL="566261" marR="0" rtl="0" algn="l">
              <a:lnSpc>
                <a:spcPct val="100000"/>
              </a:lnSpc>
              <a:spcBef>
                <a:spcPts val="428"/>
              </a:spcBef>
              <a:spcAft>
                <a:spcPts val="0"/>
              </a:spcAft>
              <a:buClr>
                <a:srgbClr val="FF0000"/>
              </a:buClr>
              <a:buSzPts val="596"/>
              <a:buFont typeface="Noto Sans Symbols"/>
              <a:buChar char="■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Mean square error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491"/>
              </a:spcBef>
              <a:spcAft>
                <a:spcPts val="0"/>
              </a:spcAft>
              <a:buClr>
                <a:srgbClr val="3333CC"/>
              </a:buClr>
              <a:buSzPts val="825"/>
              <a:buFont typeface="Noto Sans Symbols"/>
              <a:buChar char="■"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Likelihood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7180" lvl="1" marL="649605" marR="0" rtl="0" algn="l">
              <a:lnSpc>
                <a:spcPct val="100000"/>
              </a:lnSpc>
              <a:spcBef>
                <a:spcPts val="806"/>
              </a:spcBef>
              <a:spcAft>
                <a:spcPts val="0"/>
              </a:spcAft>
              <a:buClr>
                <a:srgbClr val="FF0000"/>
              </a:buClr>
              <a:buSzPts val="688"/>
              <a:buFont typeface="Noto Sans Symbols"/>
              <a:buChar char="■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 (Data | Model)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563"/>
              </a:spcBef>
              <a:spcAft>
                <a:spcPts val="0"/>
              </a:spcAft>
              <a:buClr>
                <a:srgbClr val="3333CC"/>
              </a:buClr>
              <a:buSzPts val="825"/>
              <a:buFont typeface="Noto Sans Symbols"/>
              <a:buChar char="■"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Size of a model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3835" lvl="1" marL="566261" marR="0" rtl="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rgbClr val="FF0000"/>
              </a:buClr>
              <a:buSzPts val="596"/>
              <a:buFont typeface="Noto Sans Symbols"/>
              <a:buChar char="■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Number of independent parameters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rgbClr val="3333CC"/>
              </a:buClr>
              <a:buSzPts val="825"/>
              <a:buFont typeface="Noto Sans Symbols"/>
              <a:buChar char="■"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Training and Test Error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0973" lvl="1" marL="866298" marR="0" rtl="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rgbClr val="3333CC"/>
              </a:buClr>
              <a:buSzPts val="550"/>
              <a:buFont typeface="Noto Sans Symbols"/>
              <a:buChar char="■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Large training error: Under-fitting.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0973" lvl="1" marL="866298" marR="0" rtl="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>
                <a:srgbClr val="3333CC"/>
              </a:buClr>
              <a:buSzPts val="550"/>
              <a:buFont typeface="Noto Sans Symbols"/>
              <a:buChar char="■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Low training error, but large test error: Over-fitting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0973" lvl="1" marL="866298" marR="0" rtl="0" algn="l">
              <a:lnSpc>
                <a:spcPct val="100000"/>
              </a:lnSpc>
              <a:spcBef>
                <a:spcPts val="416"/>
              </a:spcBef>
              <a:spcAft>
                <a:spcPts val="0"/>
              </a:spcAft>
              <a:buClr>
                <a:srgbClr val="3333CC"/>
              </a:buClr>
              <a:buSzPts val="550"/>
              <a:buFont typeface="Noto Sans Symbols"/>
              <a:buChar char="■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Low training and test error: A good fit.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/>
        </p:nvSpPr>
        <p:spPr>
          <a:xfrm>
            <a:off x="0" y="284663"/>
            <a:ext cx="4114800" cy="1573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4750">
            <a:spAutoFit/>
          </a:bodyPr>
          <a:lstStyle/>
          <a:p>
            <a:pPr indent="-256699" lvl="0" marL="26622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950"/>
              <a:buFont typeface="Noto Sans Symbols"/>
              <a:buChar char="■"/>
            </a:pPr>
            <a:r>
              <a:rPr b="0" i="0" lang="en-US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Fitting techniques</a:t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4312" lvl="1" marL="566261" marR="0" rtl="0" algn="l">
              <a:lnSpc>
                <a:spcPct val="100000"/>
              </a:lnSpc>
              <a:spcBef>
                <a:spcPts val="521"/>
              </a:spcBef>
              <a:spcAft>
                <a:spcPts val="0"/>
              </a:spcAft>
              <a:buClr>
                <a:srgbClr val="FF0000"/>
              </a:buClr>
              <a:buSzPts val="857"/>
              <a:buFont typeface="Noto Sans Symbols"/>
              <a:buChar char="■"/>
            </a:pPr>
            <a:r>
              <a:rPr b="0" i="0" lang="en-US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Least Squares</a:t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4312" lvl="1" marL="566261" marR="0" rtl="0" algn="l">
              <a:lnSpc>
                <a:spcPct val="100000"/>
              </a:lnSpc>
              <a:spcBef>
                <a:spcPts val="506"/>
              </a:spcBef>
              <a:spcAft>
                <a:spcPts val="0"/>
              </a:spcAft>
              <a:buClr>
                <a:srgbClr val="FF0000"/>
              </a:buClr>
              <a:buSzPts val="857"/>
              <a:buFont typeface="Noto Sans Symbols"/>
              <a:buChar char="■"/>
            </a:pPr>
            <a:r>
              <a:rPr b="0" i="0" lang="en-US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Total Least Squares</a:t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4312" lvl="1" marL="566261" marR="0" rtl="0" algn="l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FF0000"/>
              </a:buClr>
              <a:buSzPts val="857"/>
              <a:buFont typeface="Noto Sans Symbols"/>
              <a:buChar char="■"/>
            </a:pPr>
            <a:r>
              <a:rPr b="0" i="0" lang="en-US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Random Sample Consensus (RANSAC)</a:t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4312" lvl="1" marL="566261" marR="0" rtl="0" algn="l">
              <a:lnSpc>
                <a:spcPct val="100000"/>
              </a:lnSpc>
              <a:spcBef>
                <a:spcPts val="506"/>
              </a:spcBef>
              <a:spcAft>
                <a:spcPts val="0"/>
              </a:spcAft>
              <a:buClr>
                <a:srgbClr val="FF0000"/>
              </a:buClr>
              <a:buSzPts val="857"/>
              <a:buFont typeface="Noto Sans Symbols"/>
              <a:buChar char="■"/>
            </a:pPr>
            <a:r>
              <a:rPr b="0" i="0" lang="en-US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Hough Voting</a:t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0" y="0"/>
            <a:ext cx="3009703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Fitting a straight line over 2D points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4312464" y="284663"/>
            <a:ext cx="4831536" cy="186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-257175" lvl="0" marL="266700" marR="3810" rtl="0" algn="l">
              <a:lnSpc>
                <a:spcPct val="216916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713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Given points belonging to a line, to find the “optimal” line parameters.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3835" lvl="1" marL="566261" marR="0" rtl="0" algn="l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rgbClr val="FF0000"/>
              </a:buClr>
              <a:buSzPts val="643"/>
              <a:buFont typeface="Noto Sans Symbols"/>
              <a:buChar char="■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Least squares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3333CC"/>
              </a:buClr>
              <a:buSzPts val="713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handle outliers.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3835" lvl="1" marL="566261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FF0000"/>
              </a:buClr>
              <a:buSzPts val="643"/>
              <a:buFont typeface="Noto Sans Symbols"/>
              <a:buChar char="■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RANSAC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3333CC"/>
              </a:buClr>
              <a:buSzPts val="713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Presence of many lines.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3835" lvl="1" marL="566261" marR="0" rtl="0" algn="l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>
                <a:srgbClr val="FF0000"/>
              </a:buClr>
              <a:buSzPts val="643"/>
              <a:buFont typeface="Noto Sans Symbols"/>
              <a:buChar char="■"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Voting methods: Hough transform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5223380" y="-1"/>
            <a:ext cx="3009703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fitting in varying contexts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2712095" y="2153123"/>
            <a:ext cx="2297228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Least squares line fitting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201" y="2678561"/>
            <a:ext cx="39624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7401" y="2153123"/>
            <a:ext cx="3962400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/>
        </p:nvSpPr>
        <p:spPr>
          <a:xfrm>
            <a:off x="1079478" y="48012"/>
            <a:ext cx="2453351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least squares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2358" y="338064"/>
            <a:ext cx="4811642" cy="316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2510" y="588069"/>
            <a:ext cx="3905687" cy="4555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6543262" y="48012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- 11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3770185" y="629678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896" y="496531"/>
            <a:ext cx="4876800" cy="3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/>
        </p:nvSpPr>
        <p:spPr>
          <a:xfrm>
            <a:off x="203584" y="6416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- 12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132464" y="793186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8" name="Google Shape;2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2675"/>
            <a:ext cx="4701209" cy="37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22513"/>
            <a:ext cx="4071292" cy="392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2711" y="6416"/>
            <a:ext cx="2590360" cy="2332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72710" y="2326112"/>
            <a:ext cx="3425247" cy="2810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 txBox="1"/>
          <p:nvPr/>
        </p:nvSpPr>
        <p:spPr>
          <a:xfrm>
            <a:off x="95504" y="26409"/>
            <a:ext cx="3393131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sample consensus (RANSAC)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89" y="311072"/>
            <a:ext cx="5636378" cy="1120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89" y="1431235"/>
            <a:ext cx="4834786" cy="3678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8759" y="4138331"/>
            <a:ext cx="2781024" cy="972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7048"/>
            <a:ext cx="3955774" cy="1184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8"/>
          <p:cNvPicPr preferRelativeResize="0"/>
          <p:nvPr/>
        </p:nvPicPr>
        <p:blipFill rotWithShape="1">
          <a:blip r:embed="rId4">
            <a:alphaModFix/>
          </a:blip>
          <a:srcRect b="33442" l="0" r="37458" t="329"/>
          <a:stretch/>
        </p:blipFill>
        <p:spPr>
          <a:xfrm>
            <a:off x="78336" y="2060785"/>
            <a:ext cx="3042551" cy="308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8"/>
          <p:cNvPicPr preferRelativeResize="0"/>
          <p:nvPr/>
        </p:nvPicPr>
        <p:blipFill rotWithShape="1">
          <a:blip r:embed="rId4">
            <a:alphaModFix/>
          </a:blip>
          <a:srcRect b="0" l="0" r="19598" t="69179"/>
          <a:stretch/>
        </p:blipFill>
        <p:spPr>
          <a:xfrm>
            <a:off x="3877543" y="3463786"/>
            <a:ext cx="4322239" cy="158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8"/>
          <p:cNvSpPr txBox="1"/>
          <p:nvPr/>
        </p:nvSpPr>
        <p:spPr>
          <a:xfrm>
            <a:off x="78336" y="60722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- 13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8"/>
          <p:cNvSpPr txBox="1"/>
          <p:nvPr/>
        </p:nvSpPr>
        <p:spPr>
          <a:xfrm>
            <a:off x="63886" y="1713101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"/>
          <p:cNvSpPr txBox="1"/>
          <p:nvPr/>
        </p:nvSpPr>
        <p:spPr>
          <a:xfrm>
            <a:off x="95505" y="26409"/>
            <a:ext cx="208116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Hough transform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05" y="383484"/>
            <a:ext cx="6007121" cy="1047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05" y="1574713"/>
            <a:ext cx="4556008" cy="1456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8462" y="1113183"/>
            <a:ext cx="4240033" cy="2355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0726" y="3684106"/>
            <a:ext cx="4240033" cy="865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066" y="400327"/>
            <a:ext cx="5295900" cy="20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0"/>
          <p:cNvPicPr preferRelativeResize="0"/>
          <p:nvPr/>
        </p:nvPicPr>
        <p:blipFill rotWithShape="1">
          <a:blip r:embed="rId4">
            <a:alphaModFix/>
          </a:blip>
          <a:srcRect b="50950" l="0" r="33222" t="0"/>
          <a:stretch/>
        </p:blipFill>
        <p:spPr>
          <a:xfrm>
            <a:off x="125066" y="2837705"/>
            <a:ext cx="3393385" cy="2187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0"/>
          <p:cNvPicPr preferRelativeResize="0"/>
          <p:nvPr/>
        </p:nvPicPr>
        <p:blipFill rotWithShape="1">
          <a:blip r:embed="rId4">
            <a:alphaModFix/>
          </a:blip>
          <a:srcRect b="0" l="0" r="0" t="50950"/>
          <a:stretch/>
        </p:blipFill>
        <p:spPr>
          <a:xfrm>
            <a:off x="4142935" y="2872409"/>
            <a:ext cx="5001065" cy="215264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0"/>
          <p:cNvSpPr txBox="1"/>
          <p:nvPr/>
        </p:nvSpPr>
        <p:spPr>
          <a:xfrm>
            <a:off x="203584" y="6416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- 14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132464" y="2534950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/>
          <p:nvPr/>
        </p:nvSpPr>
        <p:spPr>
          <a:xfrm>
            <a:off x="95505" y="26409"/>
            <a:ext cx="2081166" cy="284663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Dealing with noise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1072"/>
            <a:ext cx="5814391" cy="138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05" y="1699094"/>
            <a:ext cx="4933598" cy="2127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0358" y="1699094"/>
            <a:ext cx="4208138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 txBox="1"/>
          <p:nvPr/>
        </p:nvSpPr>
        <p:spPr>
          <a:xfrm>
            <a:off x="2968343" y="94554"/>
            <a:ext cx="3207313" cy="284663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of Line Fitting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562665"/>
            <a:ext cx="7772400" cy="43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 txBox="1"/>
          <p:nvPr/>
        </p:nvSpPr>
        <p:spPr>
          <a:xfrm>
            <a:off x="1379617" y="1208450"/>
            <a:ext cx="7197365" cy="25622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 matching – distance and similarity functions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Matching criteria – distance-based and matching histograms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computation of feature matching – range query, indexing (K-D tree) and hashing (LSH)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Straight line Model fitting – Least squares, Total least squares, RANSAC, Hough voting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3"/>
          <p:cNvSpPr txBox="1"/>
          <p:nvPr/>
        </p:nvSpPr>
        <p:spPr>
          <a:xfrm>
            <a:off x="1538924" y="283105"/>
            <a:ext cx="6066149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on which Week 7 Assignment Questions are based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/>
          <p:nvPr/>
        </p:nvSpPr>
        <p:spPr>
          <a:xfrm>
            <a:off x="0" y="28778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34"/>
          <p:cNvSpPr txBox="1"/>
          <p:nvPr/>
        </p:nvSpPr>
        <p:spPr>
          <a:xfrm>
            <a:off x="3109019" y="123841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34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34"/>
          <p:cNvSpPr txBox="1"/>
          <p:nvPr/>
        </p:nvSpPr>
        <p:spPr>
          <a:xfrm>
            <a:off x="3017817" y="4763840"/>
            <a:ext cx="664060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6" name="Google Shape;306;p34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7" name="Google Shape;307;p34"/>
          <p:cNvSpPr txBox="1"/>
          <p:nvPr/>
        </p:nvSpPr>
        <p:spPr>
          <a:xfrm>
            <a:off x="74506" y="375027"/>
            <a:ext cx="9069494" cy="1384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two features each of size 4 as f = [4, 1, 2, 4] and g = [9, 1, 2, 2]. Compute normalized cross correlation and cosine similarity, respectively.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7 and 5.38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0.632 and 0.849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2 and 4.38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8 and 4.38</a:t>
            </a:r>
            <a:endParaRPr/>
          </a:p>
        </p:txBody>
      </p:sp>
      <p:pic>
        <p:nvPicPr>
          <p:cNvPr id="308" name="Google Shape;30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836" y="2165754"/>
            <a:ext cx="4624932" cy="2593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7904" y="1816400"/>
            <a:ext cx="2325298" cy="284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9828" y="2218351"/>
            <a:ext cx="4314172" cy="1648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-2837" y="33411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35"/>
          <p:cNvSpPr txBox="1"/>
          <p:nvPr/>
        </p:nvSpPr>
        <p:spPr>
          <a:xfrm>
            <a:off x="-2837" y="423496"/>
            <a:ext cx="8796043" cy="13618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d1 (10), d2 (8) be the distances to the nearest and the next nearest neighbors from a query feature, respectively for a threshold limit of 0.6. Choose the correct option: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Nearest neighbor distance ratio d1/d2 accepts nearest neighbor as a match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Nearest neighbor distance ratio d1/d2 rejects nearest neighbor as a match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Both a and b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None of the above</a:t>
            </a:r>
            <a:endParaRPr/>
          </a:p>
        </p:txBody>
      </p:sp>
      <p:sp>
        <p:nvSpPr>
          <p:cNvPr id="318" name="Google Shape;318;p35"/>
          <p:cNvSpPr txBox="1"/>
          <p:nvPr/>
        </p:nvSpPr>
        <p:spPr>
          <a:xfrm>
            <a:off x="-2837" y="183842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35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3017817" y="4763840"/>
            <a:ext cx="688336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/>
          </a:p>
        </p:txBody>
      </p:sp>
      <p:cxnSp>
        <p:nvCxnSpPr>
          <p:cNvPr id="321" name="Google Shape;321;p35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22" name="Google Shape;3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13" y="2187108"/>
            <a:ext cx="6103418" cy="616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13" y="2649984"/>
            <a:ext cx="3085089" cy="204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5184" y="2610156"/>
            <a:ext cx="2806315" cy="2153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/>
        </p:nvSpPr>
        <p:spPr>
          <a:xfrm>
            <a:off x="0" y="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6"/>
          <p:cNvSpPr txBox="1"/>
          <p:nvPr/>
        </p:nvSpPr>
        <p:spPr>
          <a:xfrm>
            <a:off x="0" y="372190"/>
            <a:ext cx="8833402" cy="13618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KL distance between A and B with probability distribution (0.2, 0.4, 0.15, 0.1, 0.05) and (0.3, 0.35, 0.05, 0.2, 0.15) respectively.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0.0129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−0.158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−0.084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None of the above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36"/>
          <p:cNvSpPr txBox="1"/>
          <p:nvPr/>
        </p:nvSpPr>
        <p:spPr>
          <a:xfrm>
            <a:off x="29532" y="173407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36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36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5" name="Google Shape;335;p36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36" name="Google Shape;33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32" y="2109005"/>
            <a:ext cx="4542468" cy="1239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971899"/>
            <a:ext cx="4474896" cy="207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 txBox="1"/>
          <p:nvPr/>
        </p:nvSpPr>
        <p:spPr>
          <a:xfrm>
            <a:off x="0" y="29914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37"/>
          <p:cNvSpPr txBox="1"/>
          <p:nvPr/>
        </p:nvSpPr>
        <p:spPr>
          <a:xfrm>
            <a:off x="60960" y="168234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37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37"/>
          <p:cNvSpPr txBox="1"/>
          <p:nvPr/>
        </p:nvSpPr>
        <p:spPr>
          <a:xfrm>
            <a:off x="3017816" y="4763840"/>
            <a:ext cx="1097835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7" name="Google Shape;347;p37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8" name="Google Shape;348;p37"/>
          <p:cNvSpPr txBox="1"/>
          <p:nvPr/>
        </p:nvSpPr>
        <p:spPr>
          <a:xfrm>
            <a:off x="60960" y="404879"/>
            <a:ext cx="8833402" cy="10541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RANSAC is best suited to find the ‘optimal’ line parameters when points belonging to a line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given.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True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False</a:t>
            </a:r>
            <a:endParaRPr/>
          </a:p>
        </p:txBody>
      </p:sp>
      <p:pic>
        <p:nvPicPr>
          <p:cNvPr id="349" name="Google Shape;34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" y="2180934"/>
            <a:ext cx="7772400" cy="2302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38"/>
          <p:cNvSpPr txBox="1"/>
          <p:nvPr/>
        </p:nvSpPr>
        <p:spPr>
          <a:xfrm>
            <a:off x="58100" y="222550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38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38"/>
          <p:cNvSpPr txBox="1"/>
          <p:nvPr/>
        </p:nvSpPr>
        <p:spPr>
          <a:xfrm>
            <a:off x="3017816" y="4763840"/>
            <a:ext cx="104618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9" name="Google Shape;359;p38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0" name="Google Shape;360;p38"/>
          <p:cNvSpPr txBox="1"/>
          <p:nvPr/>
        </p:nvSpPr>
        <p:spPr>
          <a:xfrm>
            <a:off x="58100" y="481186"/>
            <a:ext cx="9027800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methods is best suited for line fitting with outliers.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Least squares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RANSAC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Hough transform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Kullback-Leiber Divergence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1" name="Google Shape;36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0" y="2785516"/>
            <a:ext cx="7772400" cy="1478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9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39"/>
          <p:cNvSpPr txBox="1"/>
          <p:nvPr/>
        </p:nvSpPr>
        <p:spPr>
          <a:xfrm>
            <a:off x="29532" y="1637718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39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39"/>
          <p:cNvSpPr txBox="1"/>
          <p:nvPr/>
        </p:nvSpPr>
        <p:spPr>
          <a:xfrm>
            <a:off x="3017815" y="4763840"/>
            <a:ext cx="866361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endParaRPr/>
          </a:p>
        </p:txBody>
      </p:sp>
      <p:cxnSp>
        <p:nvCxnSpPr>
          <p:cNvPr id="371" name="Google Shape;371;p39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2" name="Google Shape;372;p39"/>
          <p:cNvSpPr txBox="1"/>
          <p:nvPr/>
        </p:nvSpPr>
        <p:spPr>
          <a:xfrm>
            <a:off x="37921" y="463668"/>
            <a:ext cx="8833500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training error necessarily indicates overfitting.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True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False</a:t>
            </a:r>
            <a:endParaRPr/>
          </a:p>
        </p:txBody>
      </p:sp>
      <p:pic>
        <p:nvPicPr>
          <p:cNvPr id="373" name="Google Shape;37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21" y="2229491"/>
            <a:ext cx="7772400" cy="1691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0"/>
          <p:cNvSpPr txBox="1"/>
          <p:nvPr/>
        </p:nvSpPr>
        <p:spPr>
          <a:xfrm>
            <a:off x="-2836" y="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40"/>
          <p:cNvSpPr txBox="1"/>
          <p:nvPr/>
        </p:nvSpPr>
        <p:spPr>
          <a:xfrm>
            <a:off x="4357709" y="862039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40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40"/>
          <p:cNvSpPr txBox="1"/>
          <p:nvPr/>
        </p:nvSpPr>
        <p:spPr>
          <a:xfrm>
            <a:off x="3017815" y="4763840"/>
            <a:ext cx="728797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3" name="Google Shape;383;p40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4" name="Google Shape;384;p40"/>
          <p:cNvSpPr txBox="1"/>
          <p:nvPr/>
        </p:nvSpPr>
        <p:spPr>
          <a:xfrm>
            <a:off x="-2836" y="342667"/>
            <a:ext cx="888505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two points a = (1, 3) and b = (3, 5) in image space, compute two lines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corresponding to them in parameter space.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c = -m + 2 and c = -3m + 4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c = -m + 2 and c = -3m + 2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c = -m + 3 and c = -3m + 5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c = -m + 1 and c = -3m + 1</a:t>
            </a:r>
            <a:endParaRPr/>
          </a:p>
        </p:txBody>
      </p:sp>
      <p:pic>
        <p:nvPicPr>
          <p:cNvPr id="385" name="Google Shape;38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8820" y="1336164"/>
            <a:ext cx="5480847" cy="3354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/>
          <p:nvPr/>
        </p:nvSpPr>
        <p:spPr>
          <a:xfrm>
            <a:off x="0" y="1919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41"/>
          <p:cNvSpPr txBox="1"/>
          <p:nvPr/>
        </p:nvSpPr>
        <p:spPr>
          <a:xfrm>
            <a:off x="3544883" y="994663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41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41"/>
          <p:cNvSpPr txBox="1"/>
          <p:nvPr/>
        </p:nvSpPr>
        <p:spPr>
          <a:xfrm>
            <a:off x="3017817" y="4763840"/>
            <a:ext cx="696428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/>
          </a:p>
        </p:txBody>
      </p:sp>
      <p:cxnSp>
        <p:nvCxnSpPr>
          <p:cNvPr id="395" name="Google Shape;395;p41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96" name="Google Shape;39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1"/>
          <p:cNvSpPr txBox="1"/>
          <p:nvPr/>
        </p:nvSpPr>
        <p:spPr>
          <a:xfrm>
            <a:off x="9525" y="348673"/>
            <a:ext cx="899378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cosine similarity between [3, 2, 8, 2, 5] and [4, 2, 8, 9, 4].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0.584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0.851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0.807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None of the above</a:t>
            </a:r>
            <a:endParaRPr/>
          </a:p>
        </p:txBody>
      </p:sp>
      <p:pic>
        <p:nvPicPr>
          <p:cNvPr id="400" name="Google Shape;40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8731" y="1384057"/>
            <a:ext cx="3901873" cy="901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769" y="2448981"/>
            <a:ext cx="4884102" cy="228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56591" y="2448981"/>
            <a:ext cx="3885107" cy="1984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2"/>
          <p:cNvSpPr txBox="1"/>
          <p:nvPr/>
        </p:nvSpPr>
        <p:spPr>
          <a:xfrm>
            <a:off x="-1" y="1252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42"/>
          <p:cNvSpPr txBox="1"/>
          <p:nvPr/>
        </p:nvSpPr>
        <p:spPr>
          <a:xfrm>
            <a:off x="11637" y="1986837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42"/>
          <p:cNvSpPr txBox="1"/>
          <p:nvPr/>
        </p:nvSpPr>
        <p:spPr>
          <a:xfrm>
            <a:off x="-1" y="4763840"/>
            <a:ext cx="2817743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42"/>
          <p:cNvSpPr txBox="1"/>
          <p:nvPr/>
        </p:nvSpPr>
        <p:spPr>
          <a:xfrm>
            <a:off x="3301082" y="4771806"/>
            <a:ext cx="1165722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a), b), 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2" name="Google Shape;412;p42"/>
          <p:cNvCxnSpPr/>
          <p:nvPr/>
        </p:nvCxnSpPr>
        <p:spPr>
          <a:xfrm>
            <a:off x="2964542" y="4944930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3" name="Google Shape;413;p42"/>
          <p:cNvSpPr txBox="1"/>
          <p:nvPr/>
        </p:nvSpPr>
        <p:spPr>
          <a:xfrm>
            <a:off x="-1" y="358776"/>
            <a:ext cx="91440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the correct options: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Hough transform requires appropriate resolution of discretization of the grid in parameter space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If grids are too coarse, too many different points in image space map to single bucket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If grids are too fine, some points may not be exactly collinear voting different buckets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Hough transform does not require any discretization of the grid in parameter space</a:t>
            </a:r>
            <a:endParaRPr/>
          </a:p>
        </p:txBody>
      </p:sp>
      <p:sp>
        <p:nvSpPr>
          <p:cNvPr id="414" name="Google Shape;414;p42"/>
          <p:cNvSpPr txBox="1"/>
          <p:nvPr/>
        </p:nvSpPr>
        <p:spPr>
          <a:xfrm>
            <a:off x="265763" y="2885281"/>
            <a:ext cx="77319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415" name="Google Shape;41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6" y="2373371"/>
            <a:ext cx="7853821" cy="2143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3"/>
          <p:cNvSpPr txBox="1"/>
          <p:nvPr/>
        </p:nvSpPr>
        <p:spPr>
          <a:xfrm>
            <a:off x="0" y="3344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43"/>
          <p:cNvSpPr txBox="1"/>
          <p:nvPr/>
        </p:nvSpPr>
        <p:spPr>
          <a:xfrm>
            <a:off x="3827891" y="748775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43"/>
          <p:cNvSpPr txBox="1"/>
          <p:nvPr/>
        </p:nvSpPr>
        <p:spPr>
          <a:xfrm>
            <a:off x="-1" y="4763840"/>
            <a:ext cx="2688731" cy="346218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43"/>
          <p:cNvSpPr txBox="1"/>
          <p:nvPr/>
        </p:nvSpPr>
        <p:spPr>
          <a:xfrm>
            <a:off x="3127729" y="4771822"/>
            <a:ext cx="845460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5" name="Google Shape;425;p43"/>
          <p:cNvCxnSpPr/>
          <p:nvPr/>
        </p:nvCxnSpPr>
        <p:spPr>
          <a:xfrm>
            <a:off x="2798643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6" name="Google Shape;426;p43"/>
          <p:cNvSpPr txBox="1"/>
          <p:nvPr/>
        </p:nvSpPr>
        <p:spPr>
          <a:xfrm>
            <a:off x="57003" y="402527"/>
            <a:ext cx="884423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the method of least squares, find an equation of the form y = ax + b that fits the data given as (x, y) coordinates. [(0, 1), (1, 5), (2, 10), (3, 11), (4, 13)]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y = 8x − 8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y = 3x + 12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y = 3x + 2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y = 3x − 2</a:t>
            </a:r>
            <a:endParaRPr/>
          </a:p>
        </p:txBody>
      </p:sp>
      <p:grpSp>
        <p:nvGrpSpPr>
          <p:cNvPr id="427" name="Google Shape;427;p43"/>
          <p:cNvGrpSpPr/>
          <p:nvPr/>
        </p:nvGrpSpPr>
        <p:grpSpPr>
          <a:xfrm>
            <a:off x="2688730" y="1201917"/>
            <a:ext cx="4686117" cy="894151"/>
            <a:chOff x="57003" y="2240114"/>
            <a:chExt cx="4686117" cy="894151"/>
          </a:xfrm>
        </p:grpSpPr>
        <p:pic>
          <p:nvPicPr>
            <p:cNvPr id="428" name="Google Shape;428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003" y="2240114"/>
              <a:ext cx="4686117" cy="7199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003" y="2851433"/>
              <a:ext cx="1391830" cy="28283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30" name="Google Shape;43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003" y="2417255"/>
            <a:ext cx="4897035" cy="204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6878" y="2417255"/>
            <a:ext cx="3990119" cy="2314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