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Tahoma"/>
      <p:regular r:id="rId49"/>
      <p:bold r:id="rId50"/>
    </p:embeddedFont>
    <p:embeddedFont>
      <p:font typeface="Arial Black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alBlack-regular.fntdata"/><Relationship Id="rId50" Type="http://schemas.openxmlformats.org/officeDocument/2006/relationships/font" Target="fonts/Tahom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8f1b04055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8f1b0405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8f1b04055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8f1b04055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b="0" i="0" sz="33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75.png"/><Relationship Id="rId6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56.png"/><Relationship Id="rId5" Type="http://schemas.openxmlformats.org/officeDocument/2006/relationships/image" Target="../media/image46.png"/><Relationship Id="rId6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39.png"/><Relationship Id="rId6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62.png"/><Relationship Id="rId5" Type="http://schemas.openxmlformats.org/officeDocument/2006/relationships/image" Target="../media/image5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8.png"/><Relationship Id="rId4" Type="http://schemas.openxmlformats.org/officeDocument/2006/relationships/image" Target="../media/image50.png"/><Relationship Id="rId5" Type="http://schemas.openxmlformats.org/officeDocument/2006/relationships/image" Target="../media/image67.png"/><Relationship Id="rId6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77.png"/><Relationship Id="rId6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Relationship Id="rId6" Type="http://schemas.openxmlformats.org/officeDocument/2006/relationships/image" Target="../media/image6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Relationship Id="rId4" Type="http://schemas.openxmlformats.org/officeDocument/2006/relationships/image" Target="../media/image76.png"/><Relationship Id="rId5" Type="http://schemas.openxmlformats.org/officeDocument/2006/relationships/image" Target="../media/image70.png"/><Relationship Id="rId6" Type="http://schemas.openxmlformats.org/officeDocument/2006/relationships/image" Target="../media/image80.png"/><Relationship Id="rId7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6.png"/><Relationship Id="rId4" Type="http://schemas.openxmlformats.org/officeDocument/2006/relationships/image" Target="../media/image91.png"/><Relationship Id="rId5" Type="http://schemas.openxmlformats.org/officeDocument/2006/relationships/image" Target="../media/image8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7.png"/><Relationship Id="rId4" Type="http://schemas.openxmlformats.org/officeDocument/2006/relationships/image" Target="../media/image90.png"/><Relationship Id="rId5" Type="http://schemas.openxmlformats.org/officeDocument/2006/relationships/image" Target="../media/image8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4.png"/><Relationship Id="rId4" Type="http://schemas.openxmlformats.org/officeDocument/2006/relationships/image" Target="../media/image94.png"/><Relationship Id="rId5" Type="http://schemas.openxmlformats.org/officeDocument/2006/relationships/image" Target="../media/image8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2.png"/><Relationship Id="rId4" Type="http://schemas.openxmlformats.org/officeDocument/2006/relationships/image" Target="../media/image93.png"/><Relationship Id="rId5" Type="http://schemas.openxmlformats.org/officeDocument/2006/relationships/image" Target="../media/image97.png"/><Relationship Id="rId6" Type="http://schemas.openxmlformats.org/officeDocument/2006/relationships/image" Target="../media/image8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8.png"/><Relationship Id="rId4" Type="http://schemas.openxmlformats.org/officeDocument/2006/relationships/image" Target="../media/image120.png"/><Relationship Id="rId5" Type="http://schemas.openxmlformats.org/officeDocument/2006/relationships/image" Target="../media/image1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7.png"/><Relationship Id="rId4" Type="http://schemas.openxmlformats.org/officeDocument/2006/relationships/image" Target="../media/image10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5.png"/><Relationship Id="rId4" Type="http://schemas.openxmlformats.org/officeDocument/2006/relationships/image" Target="../media/image10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4.png"/><Relationship Id="rId4" Type="http://schemas.openxmlformats.org/officeDocument/2006/relationships/image" Target="../media/image10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6.png"/><Relationship Id="rId4" Type="http://schemas.openxmlformats.org/officeDocument/2006/relationships/image" Target="../media/image9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0.png"/><Relationship Id="rId4" Type="http://schemas.openxmlformats.org/officeDocument/2006/relationships/image" Target="../media/image1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2296979" y="128010"/>
            <a:ext cx="4938009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Week-12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baseline="30000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Oct,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0" y="5475"/>
            <a:ext cx="1900776" cy="3240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Layer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2267863" y="0"/>
            <a:ext cx="639071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features (edges, textures, shapes, etc.) from the input image.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small matrix called a </a:t>
            </a: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filter/kernel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slides (convolves) over the image.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each position, it performs an </a:t>
            </a: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element-wise multiplication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sums the result → producing a </a:t>
            </a: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map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filters learn to detect different features (edges, corners, patterns).</a:t>
            </a:r>
            <a:endParaRPr/>
          </a:p>
        </p:txBody>
      </p:sp>
      <p:grpSp>
        <p:nvGrpSpPr>
          <p:cNvPr id="101" name="Google Shape;101;p15"/>
          <p:cNvGrpSpPr/>
          <p:nvPr/>
        </p:nvGrpSpPr>
        <p:grpSpPr>
          <a:xfrm>
            <a:off x="6040456" y="1047684"/>
            <a:ext cx="3103544" cy="1102944"/>
            <a:chOff x="6040456" y="1047684"/>
            <a:chExt cx="3103544" cy="1102944"/>
          </a:xfrm>
        </p:grpSpPr>
        <p:pic>
          <p:nvPicPr>
            <p:cNvPr id="102" name="Google Shape;102;p15"/>
            <p:cNvPicPr preferRelativeResize="0"/>
            <p:nvPr/>
          </p:nvPicPr>
          <p:blipFill rotWithShape="1">
            <a:blip r:embed="rId3">
              <a:alphaModFix/>
            </a:blip>
            <a:srcRect b="0" l="0" r="66047" t="46807"/>
            <a:stretch/>
          </p:blipFill>
          <p:spPr>
            <a:xfrm>
              <a:off x="7631702" y="1463712"/>
              <a:ext cx="1320800" cy="686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 rotWithShape="1">
            <a:blip r:embed="rId3">
              <a:alphaModFix/>
            </a:blip>
            <a:srcRect b="54832" l="20220" r="0" t="12986"/>
            <a:stretch/>
          </p:blipFill>
          <p:spPr>
            <a:xfrm>
              <a:off x="6040456" y="1047684"/>
              <a:ext cx="3103544" cy="4155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498" y="1107996"/>
            <a:ext cx="32639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5398" y="1107996"/>
            <a:ext cx="2921000" cy="19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722" y="3155016"/>
            <a:ext cx="2743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74532" y="3161351"/>
            <a:ext cx="2692400" cy="165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5597" y="2850216"/>
            <a:ext cx="32766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0" y="5475"/>
            <a:ext cx="1900776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CONV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796469" y="5475"/>
            <a:ext cx="3381154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Convolutional Neural Networks (CNN)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671730" y="2286816"/>
            <a:ext cx="3890200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 involved in the convolution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92" y="450850"/>
            <a:ext cx="4267200" cy="4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1730" y="364883"/>
            <a:ext cx="35687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565400"/>
            <a:ext cx="4305300" cy="25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0" y="5475"/>
            <a:ext cx="2404533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Pooling Layer (POOL)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017707" y="2096764"/>
            <a:ext cx="3890200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 involved in the pooling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92" y="3902848"/>
            <a:ext cx="4767927" cy="10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7" y="267421"/>
            <a:ext cx="4787900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9889" y="121371"/>
            <a:ext cx="25273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7800" y="2451821"/>
            <a:ext cx="38862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0" y="5475"/>
            <a:ext cx="2698044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Connected Layer (FC)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-2822" y="446726"/>
            <a:ext cx="50038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 final decisions (classification/regression) after features are extracted.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Flattens the feature maps into a 1D vector.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neuron is connected to every neuron in the next layer (like in a traditional neural network).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Learns to map high-level features → class scores (e.g., "dog", "cat").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6445958" y="45801"/>
            <a:ext cx="1529644" cy="31544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Flow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252154" y="619427"/>
            <a:ext cx="341489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 Layers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Extract features.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Pooling Layers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Reduce dimension, keep strong features.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(Repeat convolution + pooling multiple times)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Connected Layers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Use extracted features to classify the image.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0816" y="2262607"/>
            <a:ext cx="4839252" cy="1169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388418"/>
            <a:ext cx="45720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100291" y="19550"/>
            <a:ext cx="219135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Normalization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00291" y="417791"/>
            <a:ext cx="873890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Makes training faster, more stable, and less sensitive to initialization.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needed: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During training, the distribution of activations in hidden layers keeps changing (called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covariate shift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BN fixes this by normalizing.</a:t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91" y="1985362"/>
            <a:ext cx="5158806" cy="260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726" y="3361867"/>
            <a:ext cx="4011983" cy="1226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/>
        </p:nvSpPr>
        <p:spPr>
          <a:xfrm>
            <a:off x="0" y="0"/>
            <a:ext cx="219135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0" y="327988"/>
            <a:ext cx="809977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Prevents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forcing the network to not rely on specific neurons.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During training, randomly "drop" (set to 0) a fraction of neurons with probability p.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the network learn more robust, distributed representations.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-11288" y="1238883"/>
            <a:ext cx="4583288" cy="1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699" lvl="0" marL="2662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061"/>
              <a:buFont typeface="Noto Sans Symbols"/>
              <a:buChar char="■"/>
            </a:pP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Implementation</a:t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Clr>
                <a:srgbClr val="FF0000"/>
              </a:buClr>
              <a:buSzPts val="758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Retain output of a node with a probability p.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1449" lvl="2" marL="866298" marR="14288" rtl="0" algn="l">
              <a:lnSpc>
                <a:spcPct val="100000"/>
              </a:lnSpc>
              <a:spcBef>
                <a:spcPts val="368"/>
              </a:spcBef>
              <a:spcAft>
                <a:spcPts val="0"/>
              </a:spcAft>
              <a:buClr>
                <a:srgbClr val="3333CC"/>
              </a:buClr>
              <a:buSzPts val="600"/>
              <a:buFont typeface="Noto Sans Symbols"/>
              <a:buChar char="■"/>
            </a:pPr>
            <a:r>
              <a:rPr b="0" i="0" lang="en-IN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Typically within [0.5,1] at hidden layers and [0.8,1] in visible layers.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288" y="2408472"/>
            <a:ext cx="6391505" cy="105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200" y="3492756"/>
            <a:ext cx="7772400" cy="132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/>
        </p:nvSpPr>
        <p:spPr>
          <a:xfrm>
            <a:off x="0" y="5475"/>
            <a:ext cx="1900776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Architectures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1552222" y="375414"/>
            <a:ext cx="835378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6643689" y="0"/>
            <a:ext cx="835378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AlexNet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71" y="639160"/>
            <a:ext cx="44450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28" y="3148156"/>
            <a:ext cx="5232400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6202" y="281436"/>
            <a:ext cx="2650065" cy="1472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469" y="1786020"/>
            <a:ext cx="3927859" cy="121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2428" y="3085357"/>
            <a:ext cx="3517900" cy="20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163689" y="27899"/>
            <a:ext cx="835378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ZFNet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6750755" y="49270"/>
            <a:ext cx="835378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VGG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076"/>
            <a:ext cx="4292600" cy="25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1562" y="440267"/>
            <a:ext cx="41275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00" y="3023101"/>
            <a:ext cx="7772400" cy="201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/>
        </p:nvSpPr>
        <p:spPr>
          <a:xfrm>
            <a:off x="163688" y="27899"/>
            <a:ext cx="1144333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688" y="455246"/>
            <a:ext cx="42291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3098800"/>
            <a:ext cx="4775200" cy="17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5667" y="455246"/>
            <a:ext cx="37084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/>
        </p:nvSpPr>
        <p:spPr>
          <a:xfrm>
            <a:off x="163688" y="27899"/>
            <a:ext cx="1144333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5740708" y="2571750"/>
            <a:ext cx="1975556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" y="354703"/>
            <a:ext cx="3835400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7736" y="178887"/>
            <a:ext cx="4381500" cy="2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688" y="2870010"/>
            <a:ext cx="4165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856414"/>
            <a:ext cx="42672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771" y="-1"/>
            <a:ext cx="7442229" cy="420478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/>
        </p:nvSpPr>
        <p:spPr>
          <a:xfrm>
            <a:off x="84667" y="4204781"/>
            <a:ext cx="5695244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LeNet → AlexNet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from shallow digit recognition to large-scale image classification.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AlexNet → ZFNet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improved hyperparameters + visualization.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ZFNet → VGG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deeper &amp; simpler design using only small filters.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VGG → GoogLeNet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depth + efficiency using inception modules.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GoogLeNet → ResNet</a:t>
            </a:r>
            <a:r>
              <a:rPr b="0" i="0" lang="en-I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solved vanishing gradient, enabling ultra-deep networks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84667" y="3920118"/>
            <a:ext cx="1484489" cy="25388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Trend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150974" y="1568216"/>
            <a:ext cx="1484489" cy="4077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CNN Architectures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/>
        </p:nvSpPr>
        <p:spPr>
          <a:xfrm>
            <a:off x="52130" y="0"/>
            <a:ext cx="2081469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steps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153731" y="2668433"/>
            <a:ext cx="2132269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Training Tips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30" y="348937"/>
            <a:ext cx="4572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0676" y="42164"/>
            <a:ext cx="4330700" cy="2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30" y="2912196"/>
            <a:ext cx="4572000" cy="21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/>
        </p:nvSpPr>
        <p:spPr>
          <a:xfrm>
            <a:off x="52130" y="0"/>
            <a:ext cx="2081469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6134412" y="2571750"/>
            <a:ext cx="2081469" cy="315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CNN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4695"/>
            <a:ext cx="5969000" cy="1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883" y="1754462"/>
            <a:ext cx="5219700" cy="32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4583" y="3003295"/>
            <a:ext cx="3822700" cy="13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/>
        </p:nvSpPr>
        <p:spPr>
          <a:xfrm>
            <a:off x="6599834" y="28844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157265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7" y="393700"/>
            <a:ext cx="4635500" cy="43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512233"/>
            <a:ext cx="4876800" cy="30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/>
        </p:nvSpPr>
        <p:spPr>
          <a:xfrm>
            <a:off x="140012" y="64749"/>
            <a:ext cx="3427277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Recognition and Localization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140012" y="2287439"/>
            <a:ext cx="3427277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RCNN with CNN feature extractor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497688" y="2188261"/>
            <a:ext cx="3427277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RCNN – Region Proposal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3614148" y="1839441"/>
            <a:ext cx="1308102" cy="315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RCNN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2" y="448894"/>
            <a:ext cx="55499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4388" y="138226"/>
            <a:ext cx="314960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400" y="2992624"/>
            <a:ext cx="47244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600" y="2639799"/>
            <a:ext cx="39624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/>
        </p:nvSpPr>
        <p:spPr>
          <a:xfrm>
            <a:off x="0" y="58545"/>
            <a:ext cx="1964267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RCNN Problems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5887155" y="58545"/>
            <a:ext cx="2737556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RCNN Inference Time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74082" y="2844800"/>
            <a:ext cx="1771498" cy="315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RCNN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66" y="491793"/>
            <a:ext cx="39624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23850"/>
            <a:ext cx="43053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82" y="3278048"/>
            <a:ext cx="457200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3149" y="3310524"/>
            <a:ext cx="3898900" cy="1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/>
        </p:nvSpPr>
        <p:spPr>
          <a:xfrm>
            <a:off x="807155" y="2526798"/>
            <a:ext cx="2737556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RCNN Loss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34" y="31211"/>
            <a:ext cx="50546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257" y="2973098"/>
            <a:ext cx="46736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2043" y="88398"/>
            <a:ext cx="34417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/>
        </p:nvSpPr>
        <p:spPr>
          <a:xfrm>
            <a:off x="0" y="0"/>
            <a:ext cx="1771498" cy="315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RCNN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163688" y="2427111"/>
            <a:ext cx="2500489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Proposal Network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5935255" y="2367567"/>
            <a:ext cx="2032503" cy="3154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RPN Loss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6893"/>
            <a:ext cx="4292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0830" y="-23392"/>
            <a:ext cx="4565652" cy="2337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2640" y="2787153"/>
            <a:ext cx="4572000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360" y="2787153"/>
            <a:ext cx="43561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5" y="447808"/>
            <a:ext cx="9019852" cy="239699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2276082" y="63865"/>
            <a:ext cx="4580517" cy="284663"/>
          </a:xfrm>
          <a:prstGeom prst="rect">
            <a:avLst/>
          </a:prstGeom>
          <a:solidFill>
            <a:srgbClr val="833C0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R-CNN, Fast R-CNN and Faster R-CNN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3632135" y="3086411"/>
            <a:ext cx="1648319" cy="284663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Trend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1986845" y="3349063"/>
            <a:ext cx="6084711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R-CNN (2014):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 accuracy but very slow (feature extraction for each region separately).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R-CNN (2015):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Shared feature maps + RoI pooling → faster, single-stage training.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R-CNN (2015):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Added RPN → proposals generated by CNN itself → major speed boost.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RPN (Region Proposal Network):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backbone of Faster R-CNN, enabling near end-to-end training.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/>
        </p:nvSpPr>
        <p:spPr>
          <a:xfrm>
            <a:off x="140012" y="64749"/>
            <a:ext cx="2232485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Segmentation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584887" y="2502817"/>
            <a:ext cx="2965622" cy="284663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Up-Sampling: Max Unpooling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5070390" y="2429418"/>
            <a:ext cx="2965622" cy="284663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Up-Sampling: Upconvolution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2" y="453228"/>
            <a:ext cx="40132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712" y="3134784"/>
            <a:ext cx="37465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714081"/>
            <a:ext cx="457200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31988" y="222469"/>
            <a:ext cx="4572000" cy="19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/>
        </p:nvSpPr>
        <p:spPr>
          <a:xfrm>
            <a:off x="77653" y="58545"/>
            <a:ext cx="2965622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as matrix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5478066" y="2601536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387925" y="2610584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67" y="372052"/>
            <a:ext cx="40767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67" y="2950848"/>
            <a:ext cx="3860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0900" y="295259"/>
            <a:ext cx="39370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9067" y="2946829"/>
            <a:ext cx="38100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/>
        </p:nvSpPr>
        <p:spPr>
          <a:xfrm>
            <a:off x="5741259" y="58545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651118" y="67593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6"/>
          <p:cNvSpPr txBox="1"/>
          <p:nvPr/>
        </p:nvSpPr>
        <p:spPr>
          <a:xfrm>
            <a:off x="536042" y="2449122"/>
            <a:ext cx="2232485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Segmentation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6"/>
          <p:cNvSpPr txBox="1"/>
          <p:nvPr/>
        </p:nvSpPr>
        <p:spPr>
          <a:xfrm>
            <a:off x="5035668" y="2505271"/>
            <a:ext cx="3471667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Segmentation (Encoder-Decoder)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84" y="587889"/>
            <a:ext cx="34290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3025" y="329217"/>
            <a:ext cx="22352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1233" y="200876"/>
            <a:ext cx="2362200" cy="21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884" y="2812677"/>
            <a:ext cx="3937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8551" y="2768435"/>
            <a:ext cx="4025900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/>
        </p:nvSpPr>
        <p:spPr>
          <a:xfrm>
            <a:off x="109441" y="46605"/>
            <a:ext cx="3471667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Segmentation (Encoder-Decoder)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4862082" y="46605"/>
            <a:ext cx="4167447" cy="284663"/>
          </a:xfrm>
          <a:prstGeom prst="rect">
            <a:avLst/>
          </a:prstGeom>
          <a:solidFill>
            <a:srgbClr val="77D3E8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Segmentation (Decoder): Various options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73776" y="2181866"/>
            <a:ext cx="1771498" cy="315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U-Net architecture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20" y="489359"/>
            <a:ext cx="4749800" cy="14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250" y="370747"/>
            <a:ext cx="36703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20" y="2635281"/>
            <a:ext cx="41783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38429" y="2571750"/>
            <a:ext cx="4991100" cy="23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575" y="40846"/>
            <a:ext cx="4533900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4097" y="40846"/>
            <a:ext cx="3962400" cy="26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575" y="1895046"/>
            <a:ext cx="45466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/>
          <p:nvPr/>
        </p:nvSpPr>
        <p:spPr>
          <a:xfrm>
            <a:off x="527804" y="117814"/>
            <a:ext cx="3088607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4862082" y="46605"/>
            <a:ext cx="4167447" cy="284663"/>
          </a:xfrm>
          <a:prstGeom prst="rect">
            <a:avLst/>
          </a:prstGeom>
          <a:solidFill>
            <a:srgbClr val="77D3E8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Networks: A few Applications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9"/>
          <p:cNvSpPr txBox="1"/>
          <p:nvPr/>
        </p:nvSpPr>
        <p:spPr>
          <a:xfrm>
            <a:off x="3237497" y="2922394"/>
            <a:ext cx="1877778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Unrolling of RNN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069" y="3313749"/>
            <a:ext cx="8442431" cy="171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91" y="117814"/>
            <a:ext cx="4724400" cy="29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4605" y="454477"/>
            <a:ext cx="39624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/>
        </p:nvSpPr>
        <p:spPr>
          <a:xfrm>
            <a:off x="0" y="37154"/>
            <a:ext cx="3709750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 (Cont.)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0"/>
          <p:cNvSpPr txBox="1"/>
          <p:nvPr/>
        </p:nvSpPr>
        <p:spPr>
          <a:xfrm>
            <a:off x="205973" y="2571750"/>
            <a:ext cx="3503777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Network: An example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2476" y="1579285"/>
            <a:ext cx="3983166" cy="356421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0"/>
          <p:cNvSpPr txBox="1"/>
          <p:nvPr/>
        </p:nvSpPr>
        <p:spPr>
          <a:xfrm>
            <a:off x="6378774" y="1274507"/>
            <a:ext cx="1301153" cy="253885"/>
          </a:xfrm>
          <a:prstGeom prst="rect">
            <a:avLst/>
          </a:prstGeom>
          <a:solidFill>
            <a:srgbClr val="833C0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vs. RNN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40" y="37154"/>
            <a:ext cx="5859793" cy="223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973" y="2895600"/>
            <a:ext cx="39878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/>
        </p:nvSpPr>
        <p:spPr>
          <a:xfrm>
            <a:off x="282410" y="54236"/>
            <a:ext cx="3503777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Network: Types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410" y="2812451"/>
            <a:ext cx="7772400" cy="2200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317" y="130694"/>
            <a:ext cx="36703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937" y="508875"/>
            <a:ext cx="41529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/>
        </p:nvSpPr>
        <p:spPr>
          <a:xfrm>
            <a:off x="694140" y="988317"/>
            <a:ext cx="7755715" cy="2562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Neural Network (CNN)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Architectures – LeNet, AlexNet, ZFNet, VGG, GoogleNet, and ResNet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for Detection – RCNN, Fast RCNN, and Faster RCNN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for Semantic Segmentation – Unet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Recurrent Neural Network (RNN)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12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 txBox="1"/>
          <p:nvPr/>
        </p:nvSpPr>
        <p:spPr>
          <a:xfrm>
            <a:off x="0" y="-1432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3652" y="172265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3017816" y="4763840"/>
            <a:ext cx="114229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c), 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5" name="Google Shape;375;p4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6" name="Google Shape;376;p43"/>
          <p:cNvSpPr txBox="1"/>
          <p:nvPr/>
        </p:nvSpPr>
        <p:spPr>
          <a:xfrm>
            <a:off x="0" y="343261"/>
            <a:ext cx="9069494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are true for Pooling?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It is common to use zero padding in pooling layers.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It progressively reduces the spatial size.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It operates over each activation map independently.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It partitions the image into overlapping rectangles, taking the maximum (MaxPool) 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(AvgPool) value from each of these sub-regions.</a:t>
            </a:r>
            <a:endParaRPr/>
          </a:p>
        </p:txBody>
      </p:sp>
      <p:pic>
        <p:nvPicPr>
          <p:cNvPr id="377" name="Google Shape;3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81" y="2110356"/>
            <a:ext cx="5233397" cy="2560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 txBox="1"/>
          <p:nvPr/>
        </p:nvSpPr>
        <p:spPr>
          <a:xfrm>
            <a:off x="-1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44"/>
          <p:cNvSpPr txBox="1"/>
          <p:nvPr/>
        </p:nvSpPr>
        <p:spPr>
          <a:xfrm>
            <a:off x="0" y="134736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-1" y="346249"/>
            <a:ext cx="8796043" cy="9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Up-convolve the following input x using the filter h. What is the value at (2, 2) in the up-convolved feature map? We assume index of first cell of any 2D-matrix is (0,0).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Given: x(0, 0) = 1, x(0, 1) = 2, x(1, 0) = 3, x(1, 1) = 1.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h(0, 0) = 0, h(0, 1) = 1, h(0, 2) = 0, h(1, 0) = 2, h(1, 1) = 2, h(1, 2) = 1, h(2, 0) = 0, h(2, 1) =1, h(2, 2) = 0.</a:t>
            </a:r>
            <a:endParaRPr/>
          </a:p>
        </p:txBody>
      </p:sp>
      <p:pic>
        <p:nvPicPr>
          <p:cNvPr id="386" name="Google Shape;38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970225"/>
            <a:ext cx="4552519" cy="175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26" y="4003100"/>
            <a:ext cx="3805881" cy="8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7857" y="1277693"/>
            <a:ext cx="3498261" cy="386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16163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8746" y="0"/>
            <a:ext cx="45462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6290" y="907020"/>
            <a:ext cx="4164056" cy="173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3805" y="2637905"/>
            <a:ext cx="3599935" cy="161440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5"/>
          <p:cNvSpPr txBox="1"/>
          <p:nvPr/>
        </p:nvSpPr>
        <p:spPr>
          <a:xfrm>
            <a:off x="5135584" y="4722651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5"/>
          <p:cNvSpPr txBox="1"/>
          <p:nvPr/>
        </p:nvSpPr>
        <p:spPr>
          <a:xfrm>
            <a:off x="8153401" y="4722651"/>
            <a:ext cx="688336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cxnSp>
        <p:nvCxnSpPr>
          <p:cNvPr id="399" name="Google Shape;399;p45"/>
          <p:cNvCxnSpPr/>
          <p:nvPr/>
        </p:nvCxnSpPr>
        <p:spPr>
          <a:xfrm>
            <a:off x="7824315" y="4903742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326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93851" cy="17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20250"/>
            <a:ext cx="5435746" cy="297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151" y="2823275"/>
            <a:ext cx="4231441" cy="171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8"/>
          <p:cNvSpPr txBox="1"/>
          <p:nvPr/>
        </p:nvSpPr>
        <p:spPr>
          <a:xfrm>
            <a:off x="0" y="90848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4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3017816" y="4763840"/>
            <a:ext cx="118521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0.9163</a:t>
            </a:r>
            <a:endParaRPr/>
          </a:p>
        </p:txBody>
      </p:sp>
      <p:cxnSp>
        <p:nvCxnSpPr>
          <p:cNvPr id="421" name="Google Shape;421;p4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2" name="Google Shape;422;p48"/>
          <p:cNvSpPr txBox="1"/>
          <p:nvPr/>
        </p:nvSpPr>
        <p:spPr>
          <a:xfrm>
            <a:off x="0" y="377314"/>
            <a:ext cx="9047747" cy="500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softmax predictions of four different classes are [0.1 0.3 0.2 0.4]. Calculate the cross entropy loss for this sample (use natural logarithm) if the true labels are [0 0 0 1]. Round off the answer to 4 places of decimals.</a:t>
            </a:r>
            <a:endParaRPr/>
          </a:p>
        </p:txBody>
      </p:sp>
      <p:pic>
        <p:nvPicPr>
          <p:cNvPr id="423" name="Google Shape;42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5706"/>
            <a:ext cx="4053016" cy="202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3237" y="999150"/>
            <a:ext cx="3403890" cy="4110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"/>
          <p:cNvSpPr txBox="1"/>
          <p:nvPr/>
        </p:nvSpPr>
        <p:spPr>
          <a:xfrm>
            <a:off x="0" y="1214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9"/>
          <p:cNvSpPr txBox="1"/>
          <p:nvPr/>
        </p:nvSpPr>
        <p:spPr>
          <a:xfrm>
            <a:off x="4598979" y="68054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4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49"/>
          <p:cNvSpPr txBox="1"/>
          <p:nvPr/>
        </p:nvSpPr>
        <p:spPr>
          <a:xfrm>
            <a:off x="3017816" y="4763840"/>
            <a:ext cx="109783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4" name="Google Shape;434;p4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5" name="Google Shape;435;p49"/>
          <p:cNvSpPr txBox="1"/>
          <p:nvPr/>
        </p:nvSpPr>
        <p:spPr>
          <a:xfrm>
            <a:off x="31205" y="382978"/>
            <a:ext cx="8833402" cy="11464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main problem in stacking multiple layers to learn a large network with limited data?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over-fitting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high bias of the model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vanishing/exploding gradients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possibility of data augmentation</a:t>
            </a:r>
            <a:endParaRPr/>
          </a:p>
        </p:txBody>
      </p:sp>
      <p:pic>
        <p:nvPicPr>
          <p:cNvPr id="436" name="Google Shape;43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4464" y="1106084"/>
            <a:ext cx="6608187" cy="24846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49"/>
          <p:cNvGrpSpPr/>
          <p:nvPr/>
        </p:nvGrpSpPr>
        <p:grpSpPr>
          <a:xfrm>
            <a:off x="2059217" y="3754766"/>
            <a:ext cx="6805390" cy="845069"/>
            <a:chOff x="1289410" y="3776342"/>
            <a:chExt cx="7772400" cy="965149"/>
          </a:xfrm>
        </p:grpSpPr>
        <p:pic>
          <p:nvPicPr>
            <p:cNvPr id="438" name="Google Shape;438;p49"/>
            <p:cNvPicPr preferRelativeResize="0"/>
            <p:nvPr/>
          </p:nvPicPr>
          <p:blipFill rotWithShape="1">
            <a:blip r:embed="rId4">
              <a:alphaModFix/>
            </a:blip>
            <a:srcRect b="63643" l="0" r="0" t="0"/>
            <a:stretch/>
          </p:blipFill>
          <p:spPr>
            <a:xfrm>
              <a:off x="1289410" y="3776342"/>
              <a:ext cx="7772400" cy="5358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49"/>
            <p:cNvPicPr preferRelativeResize="0"/>
            <p:nvPr/>
          </p:nvPicPr>
          <p:blipFill rotWithShape="1">
            <a:blip r:embed="rId4">
              <a:alphaModFix/>
            </a:blip>
            <a:srcRect b="0" l="0" r="0" t="75420"/>
            <a:stretch/>
          </p:blipFill>
          <p:spPr>
            <a:xfrm>
              <a:off x="1289410" y="4379212"/>
              <a:ext cx="7772400" cy="36227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0"/>
          <p:cNvSpPr txBox="1"/>
          <p:nvPr/>
        </p:nvSpPr>
        <p:spPr>
          <a:xfrm>
            <a:off x="192505" y="1763070"/>
            <a:ext cx="86226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an input image of dimension 19 × 15 × 3. It passes through a convolutional layer with 64 kernels of dimension 5 × 5 × 3. The image has been zero padded on both sides with 1 × 1 padding and convolved using 2 × 2 stride.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given data solve the following questions 5, 6 and 7.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/>
          <p:nvPr/>
        </p:nvSpPr>
        <p:spPr>
          <a:xfrm>
            <a:off x="0" y="1243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51"/>
          <p:cNvSpPr txBox="1"/>
          <p:nvPr/>
        </p:nvSpPr>
        <p:spPr>
          <a:xfrm>
            <a:off x="3877876" y="68392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5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51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4" name="Google Shape;454;p5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5" name="Google Shape;455;p51"/>
          <p:cNvSpPr txBox="1"/>
          <p:nvPr/>
        </p:nvSpPr>
        <p:spPr>
          <a:xfrm>
            <a:off x="58100" y="413922"/>
            <a:ext cx="90278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dimension of the activation map?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15 × 11 × 64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15 × 11 × 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9 × 7 × 64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9 × 7 × 3</a:t>
            </a:r>
            <a:endParaRPr/>
          </a:p>
        </p:txBody>
      </p:sp>
      <p:pic>
        <p:nvPicPr>
          <p:cNvPr id="456" name="Google Shape;45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785380"/>
            <a:ext cx="6129866" cy="2978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1"/>
          <p:cNvPicPr preferRelativeResize="0"/>
          <p:nvPr/>
        </p:nvPicPr>
        <p:blipFill rotWithShape="1">
          <a:blip r:embed="rId4">
            <a:alphaModFix/>
          </a:blip>
          <a:srcRect b="0" l="0" r="0" t="18600"/>
          <a:stretch/>
        </p:blipFill>
        <p:spPr>
          <a:xfrm>
            <a:off x="2133599" y="1216864"/>
            <a:ext cx="6760390" cy="631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52"/>
          <p:cNvSpPr txBox="1"/>
          <p:nvPr/>
        </p:nvSpPr>
        <p:spPr>
          <a:xfrm>
            <a:off x="107847" y="99179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5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52"/>
          <p:cNvSpPr txBox="1"/>
          <p:nvPr/>
        </p:nvSpPr>
        <p:spPr>
          <a:xfrm>
            <a:off x="3017815" y="4763840"/>
            <a:ext cx="86636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4864</a:t>
            </a:r>
            <a:endParaRPr/>
          </a:p>
        </p:txBody>
      </p:sp>
      <p:cxnSp>
        <p:nvCxnSpPr>
          <p:cNvPr id="467" name="Google Shape;467;p5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8" name="Google Shape;468;p52"/>
          <p:cNvSpPr txBox="1"/>
          <p:nvPr/>
        </p:nvSpPr>
        <p:spPr>
          <a:xfrm>
            <a:off x="107847" y="450256"/>
            <a:ext cx="810522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number of parameters in the convolutional layer.</a:t>
            </a:r>
            <a:endParaRPr/>
          </a:p>
        </p:txBody>
      </p:sp>
      <p:pic>
        <p:nvPicPr>
          <p:cNvPr id="469" name="Google Shape;46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27" y="1416050"/>
            <a:ext cx="5261949" cy="183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60743"/>
            <a:ext cx="6592711" cy="1289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3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53"/>
          <p:cNvSpPr txBox="1"/>
          <p:nvPr/>
        </p:nvSpPr>
        <p:spPr>
          <a:xfrm>
            <a:off x="55906" y="133819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5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53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0" name="Google Shape;480;p5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1" name="Google Shape;481;p53"/>
          <p:cNvSpPr txBox="1"/>
          <p:nvPr/>
        </p:nvSpPr>
        <p:spPr>
          <a:xfrm>
            <a:off x="0" y="535217"/>
            <a:ext cx="88850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that the convolutional layer is followed by a MaxPool layer with kernel size 2 × 2.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number of parameters in the pooling layer.</a:t>
            </a:r>
            <a:endParaRPr/>
          </a:p>
        </p:txBody>
      </p:sp>
      <p:pic>
        <p:nvPicPr>
          <p:cNvPr id="482" name="Google Shape;48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34" y="2021321"/>
            <a:ext cx="7772400" cy="86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71958" y="98987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5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54"/>
          <p:cNvSpPr txBox="1"/>
          <p:nvPr/>
        </p:nvSpPr>
        <p:spPr>
          <a:xfrm>
            <a:off x="3017817" y="4763840"/>
            <a:ext cx="120125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4640</a:t>
            </a:r>
            <a:endParaRPr/>
          </a:p>
        </p:txBody>
      </p:sp>
      <p:cxnSp>
        <p:nvCxnSpPr>
          <p:cNvPr id="492" name="Google Shape;492;p5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93" name="Google Shape;49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4"/>
          <p:cNvSpPr txBox="1"/>
          <p:nvPr/>
        </p:nvSpPr>
        <p:spPr>
          <a:xfrm>
            <a:off x="9524" y="348673"/>
            <a:ext cx="91344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a convolutional layer with input channel equal to 16. A kernel of size 3 × 3 is used to generate feature maps. The number of kernels used in this layer is 32. Calculate the number of parameters.</a:t>
            </a:r>
            <a:endParaRPr/>
          </a:p>
        </p:txBody>
      </p:sp>
      <p:pic>
        <p:nvPicPr>
          <p:cNvPr id="497" name="Google Shape;49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14" y="1416345"/>
            <a:ext cx="4910467" cy="318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55"/>
          <p:cNvSpPr txBox="1"/>
          <p:nvPr/>
        </p:nvSpPr>
        <p:spPr>
          <a:xfrm>
            <a:off x="93395" y="179121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55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55"/>
          <p:cNvSpPr txBox="1"/>
          <p:nvPr/>
        </p:nvSpPr>
        <p:spPr>
          <a:xfrm>
            <a:off x="3301082" y="4771806"/>
            <a:ext cx="765592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7" name="Google Shape;507;p55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8" name="Google Shape;508;p55"/>
          <p:cNvSpPr txBox="1"/>
          <p:nvPr/>
        </p:nvSpPr>
        <p:spPr>
          <a:xfrm>
            <a:off x="-1" y="378238"/>
            <a:ext cx="878655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are true?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Fast-RCNN selects lesser number of region proposals from a given image compared to RCNN.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In Fast-RCNN, region proposals are prepared from the convolutional feature map of a given image.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RCNN computes CNN features on the whole input image.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Region proposal network (RPN) is trained to produce region proposals directly after the last convolutional layer in Faster-RCNN.</a:t>
            </a:r>
            <a:endParaRPr/>
          </a:p>
        </p:txBody>
      </p:sp>
      <p:pic>
        <p:nvPicPr>
          <p:cNvPr id="509" name="Google Shape;5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2152036"/>
            <a:ext cx="4572000" cy="189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9368" y="3122987"/>
            <a:ext cx="4376908" cy="1813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 txBox="1"/>
          <p:nvPr/>
        </p:nvSpPr>
        <p:spPr>
          <a:xfrm>
            <a:off x="0" y="3344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56"/>
          <p:cNvSpPr txBox="1"/>
          <p:nvPr/>
        </p:nvSpPr>
        <p:spPr>
          <a:xfrm>
            <a:off x="-1" y="131466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56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56"/>
          <p:cNvSpPr txBox="1"/>
          <p:nvPr/>
        </p:nvSpPr>
        <p:spPr>
          <a:xfrm>
            <a:off x="3127729" y="4771822"/>
            <a:ext cx="62962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9.25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0" name="Google Shape;520;p56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1" name="Google Shape;521;p56"/>
          <p:cNvSpPr txBox="1"/>
          <p:nvPr/>
        </p:nvSpPr>
        <p:spPr>
          <a:xfrm>
            <a:off x="-1" y="445515"/>
            <a:ext cx="884423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object detection problem, the time taken to generate all proposals is 0.75. There are 4 number of proposals generated. What is the inference time of a Faster RCNN if the convolution time and the time taken by the fully connected layer are 2.25 and 1.75, respectively? Round off the answer to 2 places of decimals.</a:t>
            </a:r>
            <a:endParaRPr/>
          </a:p>
        </p:txBody>
      </p:sp>
      <p:pic>
        <p:nvPicPr>
          <p:cNvPr id="522" name="Google Shape;52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93" y="1742986"/>
            <a:ext cx="6458464" cy="295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